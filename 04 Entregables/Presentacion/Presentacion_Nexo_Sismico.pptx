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2ba3b445-cfc1-1daa-08a5-737c6751740d}">
          <p14:sldIdLst>
            <p14:sldId id="256"/>
          </p14:sldIdLst>
        </p14:section>
        <p14:section name="Problema y pregunta" id="{fdc3bd7e-c9fe-c632-a352-916d3f5b7b8a}">
          <p14:sldIdLst>
            <p14:sldId id="257"/>
            <p14:sldId id="258"/>
          </p14:sldIdLst>
        </p14:section>
        <p14:section name="Solución" id="{018fefba-ef31-7d08-6133-f68f9035755f}">
          <p14:sldIdLst>
            <p14:sldId id="259"/>
            <p14:sldId id="260"/>
          </p14:sldIdLst>
        </p14:section>
        <p14:section name="Prototipo" id="{6f88d279-cfa5-40f4-643d-82ea538afa13}">
          <p14:sldIdLst>
            <p14:sldId id="261"/>
            <p14:sldId id="262"/>
            <p14:sldId id="263"/>
          </p14:sldIdLst>
        </p14:section>
        <p14:section name="Resultados" id="{07696f50-6680-38a6-7175-a0a37a31d038}">
          <p14:sldIdLst>
            <p14:sldId id="264"/>
            <p14:sldId id="265"/>
            <p14:sldId id="266"/>
            <p14:sldId id="267"/>
          </p14:sldIdLst>
        </p14:section>
        <p14:section name="Cierre" id="{3e3ea4fd-3e79-ea04-86e1-7d8460135ea1}">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4A57"/>
                </a:solidFill>
                <a:latin typeface="+mn-lt"/>
              </a:defRPr>
            </a:pPr>
            <a:r>
              <a:rPr sz="1200" b="0" i="0" u="none" strike="noStrike">
                <a:solidFill>
                  <a:srgbClr val="3A4A57"/>
                </a:solidFill>
                <a:latin typeface="+mn-lt"/>
              </a:rPr>
              <a:t>Error absoluto medio (puntos de % de hpi)</a:t>
            </a:r>
          </a:p>
        </c:rich>
      </c:tx>
      <c:layout/>
      <c:overlay val="0"/>
    </c:title>
    <c:autoTitleDeleted val="0"/>
    <c:plotArea>
      <c:layout/>
      <c:barChart>
        <c:barDir val="col"/>
        <c:grouping val="clustered"/>
        <c:varyColors val="0"/>
        <c:ser>
          <c:idx val="0"/>
          <c:order val="0"/>
          <c:tx>
            <c:strRef>
              <c:f>Sheet1!$B$1</c:f>
              <c:strCache>
                <c:ptCount val="1"/>
                <c:pt idx="0">
                  <c:v>Deriva X</c:v>
                </c:pt>
              </c:strCache>
            </c:strRef>
          </c:tx>
          <c:spPr>
            <a:solidFill>
              <a:srgbClr val="E4572E"/>
            </a:solidFill>
            <a:effectLst/>
          </c:spPr>
          <c:invertIfNegative val="0"/>
          <c:dLbls>
            <c:numFmt formatCode="0.000" sourceLinked="0"/>
            <c:txPr>
              <a:bodyPr/>
              <a:lstStyle/>
              <a:p>
                <a:pPr>
                  <a:defRPr b="0" i="0" strike="noStrike" sz="1000" u="none">
                    <a:solidFill>
                      <a:srgbClr val="3A4A57"/>
                    </a:solidFill>
                    <a:latin typeface="+mn-lt"/>
                  </a:defRPr>
                </a:pPr>
              </a:p>
            </c:txPr>
            <c:showLegendKey val="0"/>
            <c:showVal val="1"/>
            <c:showCatName val="0"/>
            <c:showSerName val="0"/>
            <c:showPercent val="0"/>
            <c:showBubbleSize val="0"/>
            <c:showLeaderLines val="0"/>
          </c:dLbls>
          <c:cat>
            <c:multiLvlStrRef>
              <c:f>Sheet1!$A$2:$A$4</c:f>
              <c:multiLvlStrCache>
                <c:ptCount val="3"/>
                <c:lvl>
                  <c:pt idx="0">
                    <c:v>Random Forest</c:v>
                  </c:pt>
                  <c:pt idx="1">
                    <c:v>Regresión lineal</c:v>
                  </c:pt>
                  <c:pt idx="2">
                    <c:v>Media</c:v>
                  </c:pt>
                </c:lvl>
              </c:multiLvlStrCache>
            </c:multiLvlStrRef>
          </c:cat>
          <c:val>
            <c:numRef>
              <c:f>Sheet1!$B$2:$B$4</c:f>
              <c:numCache>
                <c:formatCode>General</c:formatCode>
                <c:ptCount val="3"/>
                <c:pt idx="0">
                  <c:v>0.086</c:v>
                </c:pt>
                <c:pt idx="1">
                  <c:v>0.094</c:v>
                </c:pt>
                <c:pt idx="2">
                  <c:v>0.142</c:v>
                </c:pt>
              </c:numCache>
            </c:numRef>
          </c:val>
        </c:ser>
        <c:ser>
          <c:idx val="1"/>
          <c:order val="1"/>
          <c:tx>
            <c:strRef>
              <c:f>Sheet1!$C$1</c:f>
              <c:strCache>
                <c:ptCount val="1"/>
                <c:pt idx="0">
                  <c:v>Deriva Y</c:v>
                </c:pt>
              </c:strCache>
            </c:strRef>
          </c:tx>
          <c:spPr>
            <a:solidFill>
              <a:srgbClr val="5B7083"/>
            </a:solidFill>
            <a:effectLst/>
          </c:spPr>
          <c:invertIfNegative val="0"/>
          <c:dLbls>
            <c:numFmt formatCode="0.000" sourceLinked="0"/>
            <c:txPr>
              <a:bodyPr/>
              <a:lstStyle/>
              <a:p>
                <a:pPr>
                  <a:defRPr b="0" i="0" strike="noStrike" sz="1000" u="none">
                    <a:solidFill>
                      <a:srgbClr val="3A4A57"/>
                    </a:solidFill>
                    <a:latin typeface="+mn-lt"/>
                  </a:defRPr>
                </a:pPr>
              </a:p>
            </c:txPr>
            <c:showLegendKey val="0"/>
            <c:showVal val="1"/>
            <c:showCatName val="0"/>
            <c:showSerName val="0"/>
            <c:showPercent val="0"/>
            <c:showBubbleSize val="0"/>
            <c:showLeaderLines val="0"/>
          </c:dLbls>
          <c:cat>
            <c:multiLvlStrRef>
              <c:f>Sheet1!$A$2:$A$4</c:f>
              <c:multiLvlStrCache>
                <c:ptCount val="3"/>
                <c:lvl>
                  <c:pt idx="0">
                    <c:v>Random Forest</c:v>
                  </c:pt>
                  <c:pt idx="1">
                    <c:v>Regresión lineal</c:v>
                  </c:pt>
                  <c:pt idx="2">
                    <c:v>Media</c:v>
                  </c:pt>
                </c:lvl>
              </c:multiLvlStrCache>
            </c:multiLvlStrRef>
          </c:cat>
          <c:val>
            <c:numRef>
              <c:f>Sheet1!$C$2:$C$4</c:f>
              <c:numCache>
                <c:formatCode>General</c:formatCode>
                <c:ptCount val="3"/>
                <c:pt idx="0">
                  <c:v>0.101</c:v>
                </c:pt>
                <c:pt idx="1">
                  <c:v>0.13</c:v>
                </c:pt>
                <c:pt idx="2">
                  <c:v>0.166</c:v>
                </c:pt>
              </c:numCache>
            </c:numRef>
          </c:val>
        </c:ser>
        <c:dLbls>
          <c:numFmt formatCode="0.000" sourceLinked="0"/>
          <c:txPr>
            <a:bodyPr/>
            <a:lstStyle/>
            <a:p>
              <a:pPr>
                <a:defRPr b="0" i="0" strike="noStrike" sz="1000" u="none">
                  <a:solidFill>
                    <a:srgbClr val="3A4A5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A57"/>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4A5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Nexo Sísmico. Nuestro proyecto es una investigación aplicada: estimar de forma preliminar las derivas sísmicas de edificios aporticados de concreto, para comparar alternativas de predimensionamiento sin rehacer un modelo completo cada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en el predimensionamiento cada alternativa obliga a repetir espectro, pesos, fuerzas, modelo y revisión de derivas. En nuestra base paramétrica de 1 500 edificios, el 45 % supera el límite de deriva: es trabajo que se pudo descartar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 pregunta: ¿con qué precisión puede Random Forest estimar las derivas de edificios que no vio al entrenar, y qué ventaja ofrece? Para responderla generamos familias paramétricas, automatizamos la verificación NSR-10 y evaluamos solo con edificios nuevos.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integra los cuatro ejes de la beca: inteligencia artificial con Random Forest, automatización con el módulo NSR-10 y el bot, simulación con OpenSees y SAP2000, y datos con dos bases trazables.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tiene dos rutas que no se mezclan porque las normas difieren: la ruta E.030, con 1 500 edificios paramétricos en OpenSees, y la ruta NSR-10, con el módulo de verificación y los edificios del profesor Rojas Vallejo. Ambas alimentan el mismo método de evaluación.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prototipo es el módulo NSR-10 en Python. Recibe un JSON con el sitio, la geometría, los pesos y los resultados de SAP2000; primero valida y luego calcula espectro, fuerza horizontal equivalente, derivas de doce combinaciones con torsión accidental, estabilidad y R. Todo en menos de un milisegundo.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probamos con tres casos. Con datos completos, el edificio del curso da 23 250 kilonewtons de cortante y 0,99 % de deriva: cumple. Si falta un dato, como Fv, se detiene y dice cuál falta. Si un dato está mal, como una altura en centímetros, lo rechaza.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Validamos contra el cálculo de referencia del curso, hecho con Excel y SAP2000. El prototipo reproduce cortante, fuerzas, derivas, Q, relación torsional y R. La relación torsional de 1,19 queda muy cerca del límite de 1,2: un hallazgo útil para el diseñador.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respuesta principal. Generamos y analizamos 1 500 edificios en OpenSees, entrenamos Random Forest con 1 200 y lo probamos una sola vez con 300 familias que nunca vio. Su error medio en la deriva fue de 0,04 puntos, con R² de 0,99, y detectó 137 de 146 excedencias; las que se le escapan están justo en el límite. Gradient Boosting, como comparación, mejora poco: lo que manda son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ruta colombiana usamos 18 edificios que diseñó el profesor Rojas Vallejo con su algoritmo en OpenSees, más el caso del curso. Varios son teóricos, así que sirven para entrenar y comparar, no como diseños.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plantas NSR-10 que nunca vio, el error de deriva de Random Forest fue de 0,086 puntos en X y 0,101 en Y: un 39 % menos que predecir la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18 edificios, el modelo detectó tres de siete casos cerca del límite y no dio falsas alarmas. Con tan pocos datos solo sirve para ordenar alternativas; por eso el siguiente paso es ampliar la base colombiana con casos verificados.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limitaciones: la base NSR-10 es pequeña y teórica; el modelo E.030 solo vale de 2 a 5 pisos y con sus hipótesis de rigidez; no cronometramos el flujo completo en SAP2000, así que no afirmamos un porcentaje de ahorro; y el bot todavía no está conectado al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conclusión: el módulo NSR-10 reproduce el cálculo de referencia y filtra datos malos; con 1 500 edificios, Random Forest estima la deriva de familias nuevas con R² de 0,99, y con 18 solo sirve para priorizar. Siguientes pasos: ampliar la base NSR-10, conectar el bot y medir el ahorro de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Lucero, Alexis, Nicolás, Jean Piere y Joseph. Agradecemos al profesor Thomas Rojas Vallejo por sus datos.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rgbClr val="1E2A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9144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2240280"/>
            <a:ext cx="731520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rtlCol="0" anchor="ctr"/>
          <a:lstStyle/>
          <a:p>
            <a:pPr indent="0" marL="0">
              <a:buNone/>
            </a:pPr>
            <a:r>
              <a:rPr lang="en-US" sz="900" dirty="0">
                <a:solidFill>
                  <a:schemeClr val="accent2"/>
                </a:solidFill>
              </a:rPr>
              <a:t>Nexo Sísmico · Beca AI Talent (AECODE) · 2026</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rgbClr val="1E2A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77724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INVESTIGACIÓN ACADÉMICA APLICADA · BECA AI TALENT (AECODE)</a:t>
            </a:r>
            <a:endParaRPr lang="en-US" sz="1200" dirty="0"/>
          </a:p>
        </p:txBody>
      </p:sp>
      <p:sp>
        <p:nvSpPr>
          <p:cNvPr id="3" name="Text 0"/>
          <p:cNvSpPr/>
          <p:nvPr>
            <p:ph idx="100" type="title" hasCustomPrompt="1"/>
          </p:nvPr>
        </p:nvSpPr>
        <p:spPr>
          <a:xfrm>
            <a:off x="548640" y="1234440"/>
            <a:ext cx="8046720" cy="91440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Nexo Sísmico</a:t>
            </a:r>
            <a:endParaRPr lang="en-US" sz="4400" dirty="0"/>
          </a:p>
        </p:txBody>
      </p:sp>
      <p:sp>
        <p:nvSpPr>
          <p:cNvPr id="4" name="Text 0"/>
          <p:cNvSpPr/>
          <p:nvPr>
            <p:ph idx="101" type="body" hasCustomPrompt="1"/>
          </p:nvPr>
        </p:nvSpPr>
        <p:spPr>
          <a:xfrm>
            <a:off x="548640" y="2240280"/>
            <a:ext cx="7315200" cy="914400"/>
          </a:xfrm>
          <a:prstGeom prst="rect">
            <a:avLst/>
          </a:prstGeom>
          <a:noFill/>
          <a:ln/>
        </p:spPr>
        <p:txBody>
          <a:bodyPr wrap="square" lIns="0" tIns="0" rIns="0" bIns="0" rtlCol="0" anchor="t"/>
          <a:lstStyle/>
          <a:p>
            <a:pPr algn="l" indent="0" marL="0">
              <a:buNone/>
            </a:pPr>
            <a:r>
              <a:rPr lang="en-US" sz="1800" dirty="0">
                <a:solidFill>
                  <a:schemeClr val="accent6"/>
                </a:solidFill>
              </a:rPr>
              <a:t>Estimación preliminar de derivas sísmicas en edificios aporticados de concreto armado: verificación NSR-10 automatizada y aprendizaje automático</a:t>
            </a:r>
            <a:endParaRPr lang="en-US" sz="1800" dirty="0"/>
          </a:p>
        </p:txBody>
      </p:sp>
      <p:sp>
        <p:nvSpPr>
          <p:cNvPr id="5" name="Text 3"/>
          <p:cNvSpPr txBox="1"/>
          <p:nvPr/>
        </p:nvSpPr>
        <p:spPr>
          <a:xfrm>
            <a:off x="548640" y="3977640"/>
            <a:ext cx="7315200" cy="274320"/>
          </a:xfrm>
          <a:prstGeom prst="rect">
            <a:avLst/>
          </a:prstGeom>
          <a:noFill/>
          <a:ln/>
        </p:spPr>
        <p:txBody>
          <a:bodyPr wrap="square" lIns="0" tIns="0" rIns="0" bIns="0" rtlCol="0" anchor="t"/>
          <a:lstStyle/>
          <a:p>
            <a:pPr indent="0" marL="0">
              <a:buNone/>
            </a:pPr>
            <a:r>
              <a:rPr lang="en-US" sz="1400" dirty="0">
                <a:solidFill>
                  <a:schemeClr val="bg1"/>
                </a:solidFill>
              </a:rPr>
              <a:t>Lucero · Alexis · Nicolás Infante · Jean Piere · Joseph</a:t>
            </a:r>
            <a:endParaRPr lang="en-US" sz="1400" dirty="0"/>
          </a:p>
        </p:txBody>
      </p:sp>
      <p:sp>
        <p:nvSpPr>
          <p:cNvPr id="6" name="Text 4"/>
          <p:cNvSpPr txBox="1"/>
          <p:nvPr/>
        </p:nvSpPr>
        <p:spPr>
          <a:xfrm>
            <a:off x="548640" y="4297680"/>
            <a:ext cx="7315200" cy="274320"/>
          </a:xfrm>
          <a:prstGeom prst="rect">
            <a:avLst/>
          </a:prstGeom>
          <a:noFill/>
          <a:ln/>
        </p:spPr>
        <p:txBody>
          <a:bodyPr wrap="square" lIns="0" tIns="0" rIns="0" bIns="0" rtlCol="0" anchor="t"/>
          <a:lstStyle/>
          <a:p>
            <a:pPr indent="0" marL="0">
              <a:buNone/>
            </a:pPr>
            <a:r>
              <a:rPr lang="en-US" sz="1200" dirty="0">
                <a:solidFill>
                  <a:schemeClr val="accent6"/>
                </a:solidFill>
              </a:rPr>
              <a:t>Demo Day · 24 de octubre de 2026</a:t>
            </a:r>
            <a:endParaRPr lang="en-US" sz="1200" dirty="0"/>
          </a:p>
        </p:txBody>
      </p:sp>
      <p:sp>
        <p:nvSpPr>
          <p:cNvPr id="7" name="badge"/>
          <p:cNvSpPr/>
          <p:nvPr/>
        </p:nvSpPr>
        <p:spPr>
          <a:xfrm>
            <a:off x="7863840" y="3931920"/>
            <a:ext cx="731520" cy="731520"/>
          </a:xfrm>
          <a:prstGeom prst="ellipse">
            <a:avLst/>
          </a:prstGeom>
          <a:solidFill>
            <a:schemeClr val="accent1"/>
          </a:solidFill>
          <a:ln w="12700">
            <a:solidFill>
              <a:schemeClr val="accent1"/>
            </a:solidFill>
            <a:prstDash val="solid"/>
          </a:ln>
        </p:spPr>
      </p:sp>
      <p:pic>
        <p:nvPicPr>
          <p:cNvPr id="8" name="icono" descr="preencoded.png">    </p:cNvPr>
          <p:cNvPicPr>
            <a:picLocks noChangeAspect="1"/>
          </p:cNvPicPr>
          <p:nvPr/>
        </p:nvPicPr>
        <p:blipFill>
          <a:blip r:embed="rId1"/>
          <a:stretch>
            <a:fillRect/>
          </a:stretch>
        </p:blipFill>
        <p:spPr>
          <a:xfrm>
            <a:off x="8024774" y="4092854"/>
            <a:ext cx="409651" cy="4096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Cada alternativa cuesta un modelo completo</a:t>
            </a:r>
            <a:endParaRPr lang="en-US" sz="2800" dirty="0"/>
          </a:p>
        </p:txBody>
      </p:sp>
      <p:sp>
        <p:nvSpPr>
          <p:cNvPr id="3" name="Text 1"/>
          <p:cNvSpPr txBox="1"/>
          <p:nvPr/>
        </p:nvSpPr>
        <p:spPr>
          <a:xfrm>
            <a:off x="457200" y="1234440"/>
            <a:ext cx="4023360" cy="219456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Para saber si una configuración de pórticos cumple la deriva, el ingeniero repite el ciclo completo:</a:t>
            </a:r>
            <a:endParaRPr lang="en-US" sz="1600" dirty="0"/>
          </a:p>
          <a:p>
            <a:pPr indent="0" marL="0">
              <a:spcAft>
                <a:spcPts val="400"/>
              </a:spcAft>
              <a:buNone/>
            </a:pPr>
            <a:r>
              <a:rPr lang="en-US" sz="1600" dirty="0">
                <a:solidFill>
                  <a:schemeClr val="tx1"/>
                </a:solidFill>
              </a:rPr>
              <a:t>espectro, pesos, fuerzas, modelo en SAP2000, derivas y revisión normativa.</a:t>
            </a:r>
            <a:endParaRPr lang="en-US" sz="1600" dirty="0"/>
          </a:p>
          <a:p>
            <a:pPr indent="0" marL="0">
              <a:spcAft>
                <a:spcPts val="400"/>
              </a:spcAft>
              <a:buNone/>
            </a:pPr>
            <a:r>
              <a:rPr lang="en-US" sz="800" dirty="0">
                <a:solidFill>
                  <a:schemeClr val="tx1"/>
                </a:solidFill>
              </a:rPr>
              <a:t> </a:t>
            </a:r>
            <a:endParaRPr lang="en-US" sz="1600" dirty="0"/>
          </a:p>
          <a:p>
            <a:pPr indent="0" marL="0">
              <a:spcAft>
                <a:spcPts val="400"/>
              </a:spcAft>
              <a:buNone/>
            </a:pPr>
            <a:r>
              <a:rPr lang="en-US" sz="1600" b="1" dirty="0">
                <a:solidFill>
                  <a:schemeClr val="tx1"/>
                </a:solidFill>
              </a:rPr>
              <a:t>Muchas alternativas no cumplen y se descartan después de todo ese trabajo.</a:t>
            </a:r>
            <a:endParaRPr lang="en-US" sz="1600" dirty="0"/>
          </a:p>
        </p:txBody>
      </p:sp>
      <p:sp>
        <p:nvSpPr>
          <p:cNvPr id="4" name="stat"/>
          <p:cNvSpPr/>
          <p:nvPr/>
        </p:nvSpPr>
        <p:spPr>
          <a:xfrm>
            <a:off x="4846320" y="1188720"/>
            <a:ext cx="3840480" cy="960120"/>
          </a:xfrm>
          <a:prstGeom prst="roundRect">
            <a:avLst>
              <a:gd name="adj" fmla="val 7619"/>
            </a:avLst>
          </a:prstGeom>
          <a:solidFill>
            <a:schemeClr val="bg2"/>
          </a:solidFill>
          <a:ln w="12700">
            <a:solidFill>
              <a:schemeClr val="bg2"/>
            </a:solidFill>
            <a:prstDash val="solid"/>
          </a:ln>
        </p:spPr>
      </p:sp>
      <p:sp>
        <p:nvSpPr>
          <p:cNvPr id="5" name="Text 3"/>
          <p:cNvSpPr txBox="1"/>
          <p:nvPr/>
        </p:nvSpPr>
        <p:spPr>
          <a:xfrm>
            <a:off x="5029200" y="1298448"/>
            <a:ext cx="14630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1 500</a:t>
            </a:r>
            <a:endParaRPr lang="en-US" sz="3600" dirty="0"/>
          </a:p>
        </p:txBody>
      </p:sp>
      <p:sp>
        <p:nvSpPr>
          <p:cNvPr id="6" name="Text 4"/>
          <p:cNvSpPr txBox="1"/>
          <p:nvPr/>
        </p:nvSpPr>
        <p:spPr>
          <a:xfrm>
            <a:off x="6537960" y="1298448"/>
            <a:ext cx="2011680" cy="731520"/>
          </a:xfrm>
          <a:prstGeom prst="rect">
            <a:avLst/>
          </a:prstGeom>
          <a:noFill/>
          <a:ln/>
        </p:spPr>
        <p:txBody>
          <a:bodyPr wrap="square" lIns="0" tIns="0" rIns="0" bIns="0" rtlCol="0" anchor="ctr"/>
          <a:lstStyle/>
          <a:p>
            <a:pPr indent="0" marL="0">
              <a:buNone/>
            </a:pPr>
            <a:r>
              <a:rPr lang="en-US" sz="1300" dirty="0">
                <a:solidFill>
                  <a:schemeClr val="tx2"/>
                </a:solidFill>
              </a:rPr>
              <a:t>estructuras E.030 generadas y analizadas en OpenSees</a:t>
            </a:r>
            <a:endParaRPr lang="en-US" sz="1300" dirty="0"/>
          </a:p>
        </p:txBody>
      </p:sp>
      <p:sp>
        <p:nvSpPr>
          <p:cNvPr id="7" name="stat"/>
          <p:cNvSpPr/>
          <p:nvPr/>
        </p:nvSpPr>
        <p:spPr>
          <a:xfrm>
            <a:off x="4846320" y="2331720"/>
            <a:ext cx="3840480" cy="960120"/>
          </a:xfrm>
          <a:prstGeom prst="roundRect">
            <a:avLst>
              <a:gd name="adj" fmla="val 7619"/>
            </a:avLst>
          </a:prstGeom>
          <a:solidFill>
            <a:schemeClr val="bg2"/>
          </a:solidFill>
          <a:ln w="12700">
            <a:solidFill>
              <a:schemeClr val="bg2"/>
            </a:solidFill>
            <a:prstDash val="solid"/>
          </a:ln>
        </p:spPr>
      </p:sp>
      <p:sp>
        <p:nvSpPr>
          <p:cNvPr id="8" name="Text 6"/>
          <p:cNvSpPr txBox="1"/>
          <p:nvPr/>
        </p:nvSpPr>
        <p:spPr>
          <a:xfrm>
            <a:off x="5029200" y="2441448"/>
            <a:ext cx="14630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45 %</a:t>
            </a:r>
            <a:endParaRPr lang="en-US" sz="3600" dirty="0"/>
          </a:p>
        </p:txBody>
      </p:sp>
      <p:sp>
        <p:nvSpPr>
          <p:cNvPr id="9" name="Text 7"/>
          <p:cNvSpPr txBox="1"/>
          <p:nvPr/>
        </p:nvSpPr>
        <p:spPr>
          <a:xfrm>
            <a:off x="6537960" y="2441448"/>
            <a:ext cx="2011680" cy="731520"/>
          </a:xfrm>
          <a:prstGeom prst="rect">
            <a:avLst/>
          </a:prstGeom>
          <a:noFill/>
          <a:ln/>
        </p:spPr>
        <p:txBody>
          <a:bodyPr wrap="square" lIns="0" tIns="0" rIns="0" bIns="0" rtlCol="0" anchor="ctr"/>
          <a:lstStyle/>
          <a:p>
            <a:pPr indent="0" marL="0">
              <a:buNone/>
            </a:pPr>
            <a:r>
              <a:rPr lang="en-US" sz="1300" dirty="0">
                <a:solidFill>
                  <a:schemeClr val="tx2"/>
                </a:solidFill>
              </a:rPr>
              <a:t>superan el límite de deriva (668 de 1 500)</a:t>
            </a:r>
            <a:endParaRPr lang="en-US" sz="1300" dirty="0"/>
          </a:p>
        </p:txBody>
      </p:sp>
      <p:sp>
        <p:nvSpPr>
          <p:cNvPr id="10" name="stat"/>
          <p:cNvSpPr/>
          <p:nvPr/>
        </p:nvSpPr>
        <p:spPr>
          <a:xfrm>
            <a:off x="4846320" y="3474720"/>
            <a:ext cx="3840480" cy="960120"/>
          </a:xfrm>
          <a:prstGeom prst="roundRect">
            <a:avLst>
              <a:gd name="adj" fmla="val 7619"/>
            </a:avLst>
          </a:prstGeom>
          <a:solidFill>
            <a:schemeClr val="bg2"/>
          </a:solidFill>
          <a:ln w="12700">
            <a:solidFill>
              <a:schemeClr val="bg2"/>
            </a:solidFill>
            <a:prstDash val="solid"/>
          </a:ln>
        </p:spPr>
      </p:sp>
      <p:sp>
        <p:nvSpPr>
          <p:cNvPr id="11" name="Text 9"/>
          <p:cNvSpPr txBox="1"/>
          <p:nvPr/>
        </p:nvSpPr>
        <p:spPr>
          <a:xfrm>
            <a:off x="5029200" y="3584448"/>
            <a:ext cx="14630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1,0 %</a:t>
            </a:r>
            <a:endParaRPr lang="en-US" sz="3600" dirty="0"/>
          </a:p>
        </p:txBody>
      </p:sp>
      <p:sp>
        <p:nvSpPr>
          <p:cNvPr id="12" name="Text 10"/>
          <p:cNvSpPr txBox="1"/>
          <p:nvPr/>
        </p:nvSpPr>
        <p:spPr>
          <a:xfrm>
            <a:off x="6537960" y="3584448"/>
            <a:ext cx="2011680" cy="731520"/>
          </a:xfrm>
          <a:prstGeom prst="rect">
            <a:avLst/>
          </a:prstGeom>
          <a:noFill/>
          <a:ln/>
        </p:spPr>
        <p:txBody>
          <a:bodyPr wrap="square" lIns="0" tIns="0" rIns="0" bIns="0" rtlCol="0" anchor="ctr"/>
          <a:lstStyle/>
          <a:p>
            <a:pPr indent="0" marL="0">
              <a:buNone/>
            </a:pPr>
            <a:r>
              <a:rPr lang="en-US" sz="1300" dirty="0">
                <a:solidFill>
                  <a:schemeClr val="tx2"/>
                </a:solidFill>
              </a:rPr>
              <a:t>de hpi: límite de deriva NSR-10 (A.6.4)</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Pregunta de investigación</a:t>
            </a:r>
            <a:endParaRPr lang="en-US" sz="2800" dirty="0"/>
          </a:p>
        </p:txBody>
      </p:sp>
      <p:sp>
        <p:nvSpPr>
          <p:cNvPr id="3" name="pregunta"/>
          <p:cNvSpPr/>
          <p:nvPr/>
        </p:nvSpPr>
        <p:spPr>
          <a:xfrm>
            <a:off x="457200" y="1143000"/>
            <a:ext cx="8229600" cy="1143000"/>
          </a:xfrm>
          <a:prstGeom prst="roundRect">
            <a:avLst>
              <a:gd name="adj" fmla="val 6400"/>
            </a:avLst>
          </a:prstGeom>
          <a:solidFill>
            <a:schemeClr val="tx1"/>
          </a:solidFill>
          <a:ln w="12700">
            <a:solidFill>
              <a:schemeClr val="tx1"/>
            </a:solidFill>
            <a:prstDash val="solid"/>
          </a:ln>
        </p:spPr>
      </p:sp>
      <p:sp>
        <p:nvSpPr>
          <p:cNvPr id="4" name="Text 2"/>
          <p:cNvSpPr txBox="1"/>
          <p:nvPr/>
        </p:nvSpPr>
        <p:spPr>
          <a:xfrm>
            <a:off x="731520" y="1234440"/>
            <a:ext cx="7680960" cy="960120"/>
          </a:xfrm>
          <a:prstGeom prst="rect">
            <a:avLst/>
          </a:prstGeom>
          <a:noFill/>
          <a:ln/>
        </p:spPr>
        <p:txBody>
          <a:bodyPr wrap="square" lIns="0" tIns="0" rIns="0" bIns="0" rtlCol="0" anchor="ctr"/>
          <a:lstStyle/>
          <a:p>
            <a:pPr indent="0" marL="0">
              <a:buNone/>
            </a:pPr>
            <a:r>
              <a:rPr lang="en-US" sz="1700" i="1" dirty="0">
                <a:solidFill>
                  <a:schemeClr val="bg1"/>
                </a:solidFill>
                <a:latin typeface="Cambria" pitchFamily="34" charset="0"/>
                <a:ea typeface="Cambria" pitchFamily="34" charset="-122"/>
                <a:cs typeface="Cambria" pitchFamily="34" charset="-120"/>
              </a:rPr>
              <a:t>¿Con qué precisión puede Random Forest estimar las derivas máximas de familias de edificios aporticados no utilizadas en el entrenamiento, y qué ventaja ofrece al comparar alternativas de predimensionamiento?</a:t>
            </a:r>
            <a:endParaRPr lang="en-US" sz="1700" dirty="0"/>
          </a:p>
        </p:txBody>
      </p:sp>
      <p:sp>
        <p:nvSpPr>
          <p:cNvPr id="5" name="objetivo"/>
          <p:cNvSpPr/>
          <p:nvPr/>
        </p:nvSpPr>
        <p:spPr>
          <a:xfrm>
            <a:off x="457200" y="2606040"/>
            <a:ext cx="2560320" cy="1874520"/>
          </a:xfrm>
          <a:prstGeom prst="roundRect">
            <a:avLst>
              <a:gd name="adj" fmla="val 3902"/>
            </a:avLst>
          </a:prstGeom>
          <a:solidFill>
            <a:schemeClr val="bg2"/>
          </a:solidFill>
          <a:ln w="12700">
            <a:solidFill>
              <a:schemeClr val="bg2"/>
            </a:solidFill>
            <a:prstDash val="solid"/>
          </a:ln>
        </p:spPr>
      </p:sp>
      <p:sp>
        <p:nvSpPr>
          <p:cNvPr id="6" name="badge"/>
          <p:cNvSpPr/>
          <p:nvPr/>
        </p:nvSpPr>
        <p:spPr>
          <a:xfrm>
            <a:off x="685800" y="2788920"/>
            <a:ext cx="502920" cy="502920"/>
          </a:xfrm>
          <a:prstGeom prst="ellipse">
            <a:avLst/>
          </a:prstGeom>
          <a:solidFill>
            <a:schemeClr val="accent1"/>
          </a:solidFill>
          <a:ln w="12700">
            <a:solidFill>
              <a:schemeClr val="accent1"/>
            </a:solidFill>
            <a:prstDash val="solid"/>
          </a:ln>
        </p:spPr>
      </p:sp>
      <p:pic>
        <p:nvPicPr>
          <p:cNvPr id="7" name="icono" descr="preencoded.png">    </p:cNvPr>
          <p:cNvPicPr>
            <a:picLocks noChangeAspect="1"/>
          </p:cNvPicPr>
          <p:nvPr/>
        </p:nvPicPr>
        <p:blipFill>
          <a:blip r:embed="rId1"/>
          <a:stretch>
            <a:fillRect/>
          </a:stretch>
        </p:blipFill>
        <p:spPr>
          <a:xfrm>
            <a:off x="796442" y="2899562"/>
            <a:ext cx="281635" cy="281635"/>
          </a:xfrm>
          <a:prstGeom prst="rect">
            <a:avLst/>
          </a:prstGeom>
        </p:spPr>
      </p:pic>
      <p:sp>
        <p:nvSpPr>
          <p:cNvPr id="8" name="Text 5"/>
          <p:cNvSpPr txBox="1"/>
          <p:nvPr/>
        </p:nvSpPr>
        <p:spPr>
          <a:xfrm>
            <a:off x="1325880" y="283464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Generar</a:t>
            </a:r>
            <a:endParaRPr lang="en-US" sz="1800" dirty="0"/>
          </a:p>
        </p:txBody>
      </p:sp>
      <p:sp>
        <p:nvSpPr>
          <p:cNvPr id="9" name="Text 6"/>
          <p:cNvSpPr txBox="1"/>
          <p:nvPr/>
        </p:nvSpPr>
        <p:spPr>
          <a:xfrm>
            <a:off x="685800" y="3474720"/>
            <a:ext cx="2148840" cy="868680"/>
          </a:xfrm>
          <a:prstGeom prst="rect">
            <a:avLst/>
          </a:prstGeom>
          <a:noFill/>
          <a:ln/>
        </p:spPr>
        <p:txBody>
          <a:bodyPr wrap="square" lIns="0" tIns="0" rIns="0" bIns="0" rtlCol="0" anchor="t"/>
          <a:lstStyle/>
          <a:p>
            <a:pPr indent="0" marL="0">
              <a:buNone/>
            </a:pPr>
            <a:r>
              <a:rPr lang="en-US" sz="1400" dirty="0">
                <a:solidFill>
                  <a:schemeClr val="tx2"/>
                </a:solidFill>
              </a:rPr>
              <a:t>familias paramétricas y analizarlas en OpenSees (E.030)</a:t>
            </a:r>
            <a:endParaRPr lang="en-US" sz="1400" dirty="0"/>
          </a:p>
        </p:txBody>
      </p:sp>
      <p:sp>
        <p:nvSpPr>
          <p:cNvPr id="10" name="objetivo"/>
          <p:cNvSpPr/>
          <p:nvPr/>
        </p:nvSpPr>
        <p:spPr>
          <a:xfrm>
            <a:off x="3291840" y="2606040"/>
            <a:ext cx="2560320" cy="1874520"/>
          </a:xfrm>
          <a:prstGeom prst="roundRect">
            <a:avLst>
              <a:gd name="adj" fmla="val 3902"/>
            </a:avLst>
          </a:prstGeom>
          <a:solidFill>
            <a:schemeClr val="bg2"/>
          </a:solidFill>
          <a:ln w="12700">
            <a:solidFill>
              <a:schemeClr val="bg2"/>
            </a:solidFill>
            <a:prstDash val="solid"/>
          </a:ln>
        </p:spPr>
      </p:sp>
      <p:sp>
        <p:nvSpPr>
          <p:cNvPr id="11" name="badge"/>
          <p:cNvSpPr/>
          <p:nvPr/>
        </p:nvSpPr>
        <p:spPr>
          <a:xfrm>
            <a:off x="3520440" y="2788920"/>
            <a:ext cx="502920" cy="502920"/>
          </a:xfrm>
          <a:prstGeom prst="ellipse">
            <a:avLst/>
          </a:prstGeom>
          <a:solidFill>
            <a:schemeClr val="accent1"/>
          </a:solidFill>
          <a:ln w="12700">
            <a:solidFill>
              <a:schemeClr val="accent1"/>
            </a:solidFill>
            <a:prstDash val="solid"/>
          </a:ln>
        </p:spPr>
      </p:sp>
      <p:pic>
        <p:nvPicPr>
          <p:cNvPr id="12" name="icono" descr="preencoded.png">    </p:cNvPr>
          <p:cNvPicPr>
            <a:picLocks noChangeAspect="1"/>
          </p:cNvPicPr>
          <p:nvPr/>
        </p:nvPicPr>
        <p:blipFill>
          <a:blip r:embed="rId2"/>
          <a:stretch>
            <a:fillRect/>
          </a:stretch>
        </p:blipFill>
        <p:spPr>
          <a:xfrm>
            <a:off x="3631082" y="2899562"/>
            <a:ext cx="281635" cy="281635"/>
          </a:xfrm>
          <a:prstGeom prst="rect">
            <a:avLst/>
          </a:prstGeom>
        </p:spPr>
      </p:pic>
      <p:sp>
        <p:nvSpPr>
          <p:cNvPr id="13" name="Text 9"/>
          <p:cNvSpPr txBox="1"/>
          <p:nvPr/>
        </p:nvSpPr>
        <p:spPr>
          <a:xfrm>
            <a:off x="4160520" y="283464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Automatizar</a:t>
            </a:r>
            <a:endParaRPr lang="en-US" sz="1800" dirty="0"/>
          </a:p>
        </p:txBody>
      </p:sp>
      <p:sp>
        <p:nvSpPr>
          <p:cNvPr id="14" name="Text 10"/>
          <p:cNvSpPr txBox="1"/>
          <p:nvPr/>
        </p:nvSpPr>
        <p:spPr>
          <a:xfrm>
            <a:off x="3520440" y="3474720"/>
            <a:ext cx="2148840" cy="868680"/>
          </a:xfrm>
          <a:prstGeom prst="rect">
            <a:avLst/>
          </a:prstGeom>
          <a:noFill/>
          <a:ln/>
        </p:spPr>
        <p:txBody>
          <a:bodyPr wrap="square" lIns="0" tIns="0" rIns="0" bIns="0" rtlCol="0" anchor="t"/>
          <a:lstStyle/>
          <a:p>
            <a:pPr indent="0" marL="0">
              <a:buNone/>
            </a:pPr>
            <a:r>
              <a:rPr lang="en-US" sz="1400" dirty="0">
                <a:solidFill>
                  <a:schemeClr val="tx2"/>
                </a:solidFill>
              </a:rPr>
              <a:t>la verificación NSR-10 con datos de SAP2000</a:t>
            </a:r>
            <a:endParaRPr lang="en-US" sz="1400" dirty="0"/>
          </a:p>
        </p:txBody>
      </p:sp>
      <p:sp>
        <p:nvSpPr>
          <p:cNvPr id="15" name="objetivo"/>
          <p:cNvSpPr/>
          <p:nvPr/>
        </p:nvSpPr>
        <p:spPr>
          <a:xfrm>
            <a:off x="6126480" y="2606040"/>
            <a:ext cx="2560320" cy="1874520"/>
          </a:xfrm>
          <a:prstGeom prst="roundRect">
            <a:avLst>
              <a:gd name="adj" fmla="val 3902"/>
            </a:avLst>
          </a:prstGeom>
          <a:solidFill>
            <a:schemeClr val="bg2"/>
          </a:solidFill>
          <a:ln w="12700">
            <a:solidFill>
              <a:schemeClr val="bg2"/>
            </a:solidFill>
            <a:prstDash val="solid"/>
          </a:ln>
        </p:spPr>
      </p:sp>
      <p:sp>
        <p:nvSpPr>
          <p:cNvPr id="16" name="badge"/>
          <p:cNvSpPr/>
          <p:nvPr/>
        </p:nvSpPr>
        <p:spPr>
          <a:xfrm>
            <a:off x="6355080" y="2788920"/>
            <a:ext cx="502920" cy="502920"/>
          </a:xfrm>
          <a:prstGeom prst="ellipse">
            <a:avLst/>
          </a:prstGeom>
          <a:solidFill>
            <a:schemeClr val="accent1"/>
          </a:solidFill>
          <a:ln w="12700">
            <a:solidFill>
              <a:schemeClr val="accent1"/>
            </a:solidFill>
            <a:prstDash val="solid"/>
          </a:ln>
        </p:spPr>
      </p:sp>
      <p:pic>
        <p:nvPicPr>
          <p:cNvPr id="17" name="icono" descr="preencoded.png">    </p:cNvPr>
          <p:cNvPicPr>
            <a:picLocks noChangeAspect="1"/>
          </p:cNvPicPr>
          <p:nvPr/>
        </p:nvPicPr>
        <p:blipFill>
          <a:blip r:embed="rId3"/>
          <a:stretch>
            <a:fillRect/>
          </a:stretch>
        </p:blipFill>
        <p:spPr>
          <a:xfrm>
            <a:off x="6465722" y="2899562"/>
            <a:ext cx="281635" cy="281635"/>
          </a:xfrm>
          <a:prstGeom prst="rect">
            <a:avLst/>
          </a:prstGeom>
        </p:spPr>
      </p:pic>
      <p:sp>
        <p:nvSpPr>
          <p:cNvPr id="18" name="Text 13"/>
          <p:cNvSpPr txBox="1"/>
          <p:nvPr/>
        </p:nvSpPr>
        <p:spPr>
          <a:xfrm>
            <a:off x="6995160" y="283464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Evaluar</a:t>
            </a:r>
            <a:endParaRPr lang="en-US" sz="1800" dirty="0"/>
          </a:p>
        </p:txBody>
      </p:sp>
      <p:sp>
        <p:nvSpPr>
          <p:cNvPr id="19" name="Text 14"/>
          <p:cNvSpPr txBox="1"/>
          <p:nvPr/>
        </p:nvSpPr>
        <p:spPr>
          <a:xfrm>
            <a:off x="6355080" y="3474720"/>
            <a:ext cx="2148840" cy="868680"/>
          </a:xfrm>
          <a:prstGeom prst="rect">
            <a:avLst/>
          </a:prstGeom>
          <a:noFill/>
          <a:ln/>
        </p:spPr>
        <p:txBody>
          <a:bodyPr wrap="square" lIns="0" tIns="0" rIns="0" bIns="0" rtlCol="0" anchor="t"/>
          <a:lstStyle/>
          <a:p>
            <a:pPr indent="0" marL="0">
              <a:buNone/>
            </a:pPr>
            <a:r>
              <a:rPr lang="en-US" sz="1400" dirty="0">
                <a:solidFill>
                  <a:schemeClr val="tx2"/>
                </a:solidFill>
              </a:rPr>
              <a:t>Random Forest en familias y plantas no vistas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Cuatro ejes de la beca en un mismo flujo</a:t>
            </a:r>
            <a:endParaRPr lang="en-US" sz="2800" dirty="0"/>
          </a:p>
        </p:txBody>
      </p:sp>
      <p:sp>
        <p:nvSpPr>
          <p:cNvPr id="3" name="eje"/>
          <p:cNvSpPr/>
          <p:nvPr/>
        </p:nvSpPr>
        <p:spPr>
          <a:xfrm>
            <a:off x="457200" y="1188720"/>
            <a:ext cx="4023360" cy="1463040"/>
          </a:xfrm>
          <a:prstGeom prst="roundRect">
            <a:avLst>
              <a:gd name="adj" fmla="val 5000"/>
            </a:avLst>
          </a:prstGeom>
          <a:solidFill>
            <a:schemeClr val="bg2"/>
          </a:solidFill>
          <a:ln w="12700">
            <a:solidFill>
              <a:schemeClr val="bg2"/>
            </a:solidFill>
            <a:prstDash val="solid"/>
          </a:ln>
        </p:spPr>
      </p:sp>
      <p:sp>
        <p:nvSpPr>
          <p:cNvPr id="4" name="badge"/>
          <p:cNvSpPr/>
          <p:nvPr/>
        </p:nvSpPr>
        <p:spPr>
          <a:xfrm>
            <a:off x="685800" y="1463040"/>
            <a:ext cx="594360" cy="594360"/>
          </a:xfrm>
          <a:prstGeom prst="ellipse">
            <a:avLst/>
          </a:prstGeom>
          <a:solidFill>
            <a:schemeClr val="accent1"/>
          </a:solidFill>
          <a:ln w="12700">
            <a:solidFill>
              <a:schemeClr val="accent1"/>
            </a:solidFill>
            <a:prstDash val="solid"/>
          </a:ln>
        </p:spPr>
      </p:sp>
      <p:pic>
        <p:nvPicPr>
          <p:cNvPr id="5" name="icono" descr="preencoded.png">    </p:cNvPr>
          <p:cNvPicPr>
            <a:picLocks noChangeAspect="1"/>
          </p:cNvPicPr>
          <p:nvPr/>
        </p:nvPicPr>
        <p:blipFill>
          <a:blip r:embed="rId1"/>
          <a:stretch>
            <a:fillRect/>
          </a:stretch>
        </p:blipFill>
        <p:spPr>
          <a:xfrm>
            <a:off x="816559" y="1593799"/>
            <a:ext cx="332842" cy="332842"/>
          </a:xfrm>
          <a:prstGeom prst="rect">
            <a:avLst/>
          </a:prstGeom>
        </p:spPr>
      </p:pic>
      <p:sp>
        <p:nvSpPr>
          <p:cNvPr id="6" name="Text 3"/>
          <p:cNvSpPr txBox="1"/>
          <p:nvPr/>
        </p:nvSpPr>
        <p:spPr>
          <a:xfrm>
            <a:off x="1508760" y="1389888"/>
            <a:ext cx="2834640" cy="365760"/>
          </a:xfrm>
          <a:prstGeom prst="rect">
            <a:avLst/>
          </a:prstGeom>
          <a:noFill/>
          <a:ln/>
        </p:spPr>
        <p:txBody>
          <a:bodyPr wrap="square" lIns="0" tIns="0" rIns="0" bIns="0" rtlCol="0" anchor="t"/>
          <a:lstStyle/>
          <a:p>
            <a:pPr indent="0" marL="0">
              <a:buNone/>
            </a:pPr>
            <a:r>
              <a:rPr lang="en-US" sz="1700" b="1" dirty="0">
                <a:solidFill>
                  <a:schemeClr val="tx1"/>
                </a:solidFill>
              </a:rPr>
              <a:t>Inteligencia artificial</a:t>
            </a:r>
            <a:endParaRPr lang="en-US" sz="1700" dirty="0"/>
          </a:p>
        </p:txBody>
      </p:sp>
      <p:sp>
        <p:nvSpPr>
          <p:cNvPr id="7" name="Text 4"/>
          <p:cNvSpPr txBox="1"/>
          <p:nvPr/>
        </p:nvSpPr>
        <p:spPr>
          <a:xfrm>
            <a:off x="1508760" y="1783080"/>
            <a:ext cx="2834640" cy="777240"/>
          </a:xfrm>
          <a:prstGeom prst="rect">
            <a:avLst/>
          </a:prstGeom>
          <a:noFill/>
          <a:ln/>
        </p:spPr>
        <p:txBody>
          <a:bodyPr wrap="square" lIns="0" tIns="0" rIns="0" bIns="0" rtlCol="0" anchor="t"/>
          <a:lstStyle/>
          <a:p>
            <a:pPr indent="0" marL="0">
              <a:buNone/>
            </a:pPr>
            <a:r>
              <a:rPr lang="en-US" sz="1300" dirty="0">
                <a:solidFill>
                  <a:schemeClr val="tx2"/>
                </a:solidFill>
              </a:rPr>
              <a:t>Random Forest en familias no vistas; Gradient Boosting y referencias como comparación</a:t>
            </a:r>
            <a:endParaRPr lang="en-US" sz="1300" dirty="0"/>
          </a:p>
        </p:txBody>
      </p:sp>
      <p:sp>
        <p:nvSpPr>
          <p:cNvPr id="8" name="eje"/>
          <p:cNvSpPr/>
          <p:nvPr/>
        </p:nvSpPr>
        <p:spPr>
          <a:xfrm>
            <a:off x="4663440" y="1188720"/>
            <a:ext cx="4023360" cy="1463040"/>
          </a:xfrm>
          <a:prstGeom prst="roundRect">
            <a:avLst>
              <a:gd name="adj" fmla="val 5000"/>
            </a:avLst>
          </a:prstGeom>
          <a:solidFill>
            <a:schemeClr val="bg2"/>
          </a:solidFill>
          <a:ln w="12700">
            <a:solidFill>
              <a:schemeClr val="bg2"/>
            </a:solidFill>
            <a:prstDash val="solid"/>
          </a:ln>
        </p:spPr>
      </p:sp>
      <p:sp>
        <p:nvSpPr>
          <p:cNvPr id="9" name="badge"/>
          <p:cNvSpPr/>
          <p:nvPr/>
        </p:nvSpPr>
        <p:spPr>
          <a:xfrm>
            <a:off x="4892040" y="1463040"/>
            <a:ext cx="594360" cy="594360"/>
          </a:xfrm>
          <a:prstGeom prst="ellipse">
            <a:avLst/>
          </a:prstGeom>
          <a:solidFill>
            <a:schemeClr val="accent1"/>
          </a:solidFill>
          <a:ln w="12700">
            <a:solidFill>
              <a:schemeClr val="accent1"/>
            </a:solidFill>
            <a:prstDash val="solid"/>
          </a:ln>
        </p:spPr>
      </p:sp>
      <p:pic>
        <p:nvPicPr>
          <p:cNvPr id="10" name="icono" descr="preencoded.png">    </p:cNvPr>
          <p:cNvPicPr>
            <a:picLocks noChangeAspect="1"/>
          </p:cNvPicPr>
          <p:nvPr/>
        </p:nvPicPr>
        <p:blipFill>
          <a:blip r:embed="rId2"/>
          <a:stretch>
            <a:fillRect/>
          </a:stretch>
        </p:blipFill>
        <p:spPr>
          <a:xfrm>
            <a:off x="5022799" y="1593799"/>
            <a:ext cx="332842" cy="332842"/>
          </a:xfrm>
          <a:prstGeom prst="rect">
            <a:avLst/>
          </a:prstGeom>
        </p:spPr>
      </p:pic>
      <p:sp>
        <p:nvSpPr>
          <p:cNvPr id="11" name="Text 7"/>
          <p:cNvSpPr txBox="1"/>
          <p:nvPr/>
        </p:nvSpPr>
        <p:spPr>
          <a:xfrm>
            <a:off x="5715000" y="1389888"/>
            <a:ext cx="2834640" cy="365760"/>
          </a:xfrm>
          <a:prstGeom prst="rect">
            <a:avLst/>
          </a:prstGeom>
          <a:noFill/>
          <a:ln/>
        </p:spPr>
        <p:txBody>
          <a:bodyPr wrap="square" lIns="0" tIns="0" rIns="0" bIns="0" rtlCol="0" anchor="t"/>
          <a:lstStyle/>
          <a:p>
            <a:pPr indent="0" marL="0">
              <a:buNone/>
            </a:pPr>
            <a:r>
              <a:rPr lang="en-US" sz="1700" b="1" dirty="0">
                <a:solidFill>
                  <a:schemeClr val="tx1"/>
                </a:solidFill>
              </a:rPr>
              <a:t>Automatización</a:t>
            </a:r>
            <a:endParaRPr lang="en-US" sz="1700" dirty="0"/>
          </a:p>
        </p:txBody>
      </p:sp>
      <p:sp>
        <p:nvSpPr>
          <p:cNvPr id="12" name="Text 8"/>
          <p:cNvSpPr txBox="1"/>
          <p:nvPr/>
        </p:nvSpPr>
        <p:spPr>
          <a:xfrm>
            <a:off x="5715000" y="1783080"/>
            <a:ext cx="2834640" cy="777240"/>
          </a:xfrm>
          <a:prstGeom prst="rect">
            <a:avLst/>
          </a:prstGeom>
          <a:noFill/>
          <a:ln/>
        </p:spPr>
        <p:txBody>
          <a:bodyPr wrap="square" lIns="0" tIns="0" rIns="0" bIns="0" rtlCol="0" anchor="t"/>
          <a:lstStyle/>
          <a:p>
            <a:pPr indent="0" marL="0">
              <a:buNone/>
            </a:pPr>
            <a:r>
              <a:rPr lang="en-US" sz="1300" dirty="0">
                <a:solidFill>
                  <a:schemeClr val="tx2"/>
                </a:solidFill>
              </a:rPr>
              <a:t>Módulo NSR-10 en Python; bot de Telegram en n8n como interfaz propuesta</a:t>
            </a:r>
            <a:endParaRPr lang="en-US" sz="1300" dirty="0"/>
          </a:p>
        </p:txBody>
      </p:sp>
      <p:sp>
        <p:nvSpPr>
          <p:cNvPr id="13" name="eje"/>
          <p:cNvSpPr/>
          <p:nvPr/>
        </p:nvSpPr>
        <p:spPr>
          <a:xfrm>
            <a:off x="457200" y="2880360"/>
            <a:ext cx="4023360" cy="1463040"/>
          </a:xfrm>
          <a:prstGeom prst="roundRect">
            <a:avLst>
              <a:gd name="adj" fmla="val 5000"/>
            </a:avLst>
          </a:prstGeom>
          <a:solidFill>
            <a:schemeClr val="bg2"/>
          </a:solidFill>
          <a:ln w="12700">
            <a:solidFill>
              <a:schemeClr val="bg2"/>
            </a:solidFill>
            <a:prstDash val="solid"/>
          </a:ln>
        </p:spPr>
      </p:sp>
      <p:sp>
        <p:nvSpPr>
          <p:cNvPr id="14" name="badge"/>
          <p:cNvSpPr/>
          <p:nvPr/>
        </p:nvSpPr>
        <p:spPr>
          <a:xfrm>
            <a:off x="685800" y="3154680"/>
            <a:ext cx="594360" cy="594360"/>
          </a:xfrm>
          <a:prstGeom prst="ellipse">
            <a:avLst/>
          </a:prstGeom>
          <a:solidFill>
            <a:schemeClr val="accent1"/>
          </a:solidFill>
          <a:ln w="12700">
            <a:solidFill>
              <a:schemeClr val="accent1"/>
            </a:solidFill>
            <a:prstDash val="solid"/>
          </a:ln>
        </p:spPr>
      </p:sp>
      <p:pic>
        <p:nvPicPr>
          <p:cNvPr id="15" name="icono" descr="preencoded.png">    </p:cNvPr>
          <p:cNvPicPr>
            <a:picLocks noChangeAspect="1"/>
          </p:cNvPicPr>
          <p:nvPr/>
        </p:nvPicPr>
        <p:blipFill>
          <a:blip r:embed="rId3"/>
          <a:stretch>
            <a:fillRect/>
          </a:stretch>
        </p:blipFill>
        <p:spPr>
          <a:xfrm>
            <a:off x="816559" y="3285439"/>
            <a:ext cx="332842" cy="332842"/>
          </a:xfrm>
          <a:prstGeom prst="rect">
            <a:avLst/>
          </a:prstGeom>
        </p:spPr>
      </p:pic>
      <p:sp>
        <p:nvSpPr>
          <p:cNvPr id="16" name="Text 11"/>
          <p:cNvSpPr txBox="1"/>
          <p:nvPr/>
        </p:nvSpPr>
        <p:spPr>
          <a:xfrm>
            <a:off x="1508760" y="3081528"/>
            <a:ext cx="2834640" cy="365760"/>
          </a:xfrm>
          <a:prstGeom prst="rect">
            <a:avLst/>
          </a:prstGeom>
          <a:noFill/>
          <a:ln/>
        </p:spPr>
        <p:txBody>
          <a:bodyPr wrap="square" lIns="0" tIns="0" rIns="0" bIns="0" rtlCol="0" anchor="t"/>
          <a:lstStyle/>
          <a:p>
            <a:pPr indent="0" marL="0">
              <a:buNone/>
            </a:pPr>
            <a:r>
              <a:rPr lang="en-US" sz="1700" b="1" dirty="0">
                <a:solidFill>
                  <a:schemeClr val="tx1"/>
                </a:solidFill>
              </a:rPr>
              <a:t>Simulación</a:t>
            </a:r>
            <a:endParaRPr lang="en-US" sz="1700" dirty="0"/>
          </a:p>
        </p:txBody>
      </p:sp>
      <p:sp>
        <p:nvSpPr>
          <p:cNvPr id="17" name="Text 12"/>
          <p:cNvSpPr txBox="1"/>
          <p:nvPr/>
        </p:nvSpPr>
        <p:spPr>
          <a:xfrm>
            <a:off x="1508760" y="3474720"/>
            <a:ext cx="2834640" cy="777240"/>
          </a:xfrm>
          <a:prstGeom prst="rect">
            <a:avLst/>
          </a:prstGeom>
          <a:noFill/>
          <a:ln/>
        </p:spPr>
        <p:txBody>
          <a:bodyPr wrap="square" lIns="0" tIns="0" rIns="0" bIns="0" rtlCol="0" anchor="t"/>
          <a:lstStyle/>
          <a:p>
            <a:pPr indent="0" marL="0">
              <a:buNone/>
            </a:pPr>
            <a:r>
              <a:rPr lang="en-US" sz="1300" dirty="0">
                <a:solidFill>
                  <a:schemeClr val="tx2"/>
                </a:solidFill>
              </a:rPr>
              <a:t>OpenSees para la base E.030; SAP2000 y algoritmo OpenSees del profesor para NSR-10</a:t>
            </a:r>
            <a:endParaRPr lang="en-US" sz="1300" dirty="0"/>
          </a:p>
        </p:txBody>
      </p:sp>
      <p:sp>
        <p:nvSpPr>
          <p:cNvPr id="18" name="eje"/>
          <p:cNvSpPr/>
          <p:nvPr/>
        </p:nvSpPr>
        <p:spPr>
          <a:xfrm>
            <a:off x="4663440" y="2880360"/>
            <a:ext cx="4023360" cy="1463040"/>
          </a:xfrm>
          <a:prstGeom prst="roundRect">
            <a:avLst>
              <a:gd name="adj" fmla="val 5000"/>
            </a:avLst>
          </a:prstGeom>
          <a:solidFill>
            <a:schemeClr val="bg2"/>
          </a:solidFill>
          <a:ln w="12700">
            <a:solidFill>
              <a:schemeClr val="bg2"/>
            </a:solidFill>
            <a:prstDash val="solid"/>
          </a:ln>
        </p:spPr>
      </p:sp>
      <p:sp>
        <p:nvSpPr>
          <p:cNvPr id="19" name="badge"/>
          <p:cNvSpPr/>
          <p:nvPr/>
        </p:nvSpPr>
        <p:spPr>
          <a:xfrm>
            <a:off x="4892040" y="3154680"/>
            <a:ext cx="594360" cy="594360"/>
          </a:xfrm>
          <a:prstGeom prst="ellipse">
            <a:avLst/>
          </a:prstGeom>
          <a:solidFill>
            <a:schemeClr val="accent1"/>
          </a:solidFill>
          <a:ln w="12700">
            <a:solidFill>
              <a:schemeClr val="accent1"/>
            </a:solidFill>
            <a:prstDash val="solid"/>
          </a:ln>
        </p:spPr>
      </p:sp>
      <p:pic>
        <p:nvPicPr>
          <p:cNvPr id="20" name="icono" descr="preencoded.png">    </p:cNvPr>
          <p:cNvPicPr>
            <a:picLocks noChangeAspect="1"/>
          </p:cNvPicPr>
          <p:nvPr/>
        </p:nvPicPr>
        <p:blipFill>
          <a:blip r:embed="rId4"/>
          <a:stretch>
            <a:fillRect/>
          </a:stretch>
        </p:blipFill>
        <p:spPr>
          <a:xfrm>
            <a:off x="5022799" y="3285439"/>
            <a:ext cx="332842" cy="332842"/>
          </a:xfrm>
          <a:prstGeom prst="rect">
            <a:avLst/>
          </a:prstGeom>
        </p:spPr>
      </p:pic>
      <p:sp>
        <p:nvSpPr>
          <p:cNvPr id="21" name="Text 15"/>
          <p:cNvSpPr txBox="1"/>
          <p:nvPr/>
        </p:nvSpPr>
        <p:spPr>
          <a:xfrm>
            <a:off x="5715000" y="3081528"/>
            <a:ext cx="2834640" cy="365760"/>
          </a:xfrm>
          <a:prstGeom prst="rect">
            <a:avLst/>
          </a:prstGeom>
          <a:noFill/>
          <a:ln/>
        </p:spPr>
        <p:txBody>
          <a:bodyPr wrap="square" lIns="0" tIns="0" rIns="0" bIns="0" rtlCol="0" anchor="t"/>
          <a:lstStyle/>
          <a:p>
            <a:pPr indent="0" marL="0">
              <a:buNone/>
            </a:pPr>
            <a:r>
              <a:rPr lang="en-US" sz="1700" b="1" dirty="0">
                <a:solidFill>
                  <a:schemeClr val="tx1"/>
                </a:solidFill>
              </a:rPr>
              <a:t>Datos</a:t>
            </a:r>
            <a:endParaRPr lang="en-US" sz="1700" dirty="0"/>
          </a:p>
        </p:txBody>
      </p:sp>
      <p:sp>
        <p:nvSpPr>
          <p:cNvPr id="22" name="Text 16"/>
          <p:cNvSpPr txBox="1"/>
          <p:nvPr/>
        </p:nvSpPr>
        <p:spPr>
          <a:xfrm>
            <a:off x="5715000" y="3474720"/>
            <a:ext cx="2834640" cy="777240"/>
          </a:xfrm>
          <a:prstGeom prst="rect">
            <a:avLst/>
          </a:prstGeom>
          <a:noFill/>
          <a:ln/>
        </p:spPr>
        <p:txBody>
          <a:bodyPr wrap="square" lIns="0" tIns="0" rIns="0" bIns="0" rtlCol="0" anchor="t"/>
          <a:lstStyle/>
          <a:p>
            <a:pPr indent="0" marL="0">
              <a:buNone/>
            </a:pPr>
            <a:r>
              <a:rPr lang="en-US" sz="1300" dirty="0">
                <a:solidFill>
                  <a:schemeClr val="tx2"/>
                </a:solidFill>
              </a:rPr>
              <a:t>Base E.030 (1 500 estructuras) y base NSR-10 (18 + 1 casos) con trazabilidad del origen</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Arquitectura: una pregunta, dos rutas de evidencia</a:t>
            </a:r>
            <a:endParaRPr lang="en-US" sz="2800" dirty="0"/>
          </a:p>
        </p:txBody>
      </p:sp>
      <p:pic>
        <p:nvPicPr>
          <p:cNvPr id="3" name="flujo" descr="C:\Users\nicoi\Documents\AECODE Nexo Sismico\07 Outputs\Prototipo NSR-10\figuras\fig_flujo_integrado.png">    </p:cNvPr>
          <p:cNvPicPr>
            <a:picLocks noChangeAspect="1"/>
          </p:cNvPicPr>
          <p:nvPr/>
        </p:nvPicPr>
        <p:blipFill>
          <a:blip r:embed="rId1"/>
          <a:stretch>
            <a:fillRect/>
          </a:stretch>
        </p:blipFill>
        <p:spPr>
          <a:xfrm>
            <a:off x="457200" y="1051560"/>
            <a:ext cx="8229600" cy="3182112"/>
          </a:xfrm>
          <a:prstGeom prst="rect">
            <a:avLst/>
          </a:prstGeom>
        </p:spPr>
      </p:pic>
      <p:sp>
        <p:nvSpPr>
          <p:cNvPr id="4" name="Text 1"/>
          <p:cNvSpPr txBox="1"/>
          <p:nvPr/>
        </p:nvSpPr>
        <p:spPr>
          <a:xfrm>
            <a:off x="457200" y="4279392"/>
            <a:ext cx="8229600" cy="411480"/>
          </a:xfrm>
          <a:prstGeom prst="rect">
            <a:avLst/>
          </a:prstGeom>
          <a:noFill/>
          <a:ln/>
        </p:spPr>
        <p:txBody>
          <a:bodyPr wrap="square" lIns="0" tIns="0" rIns="0" bIns="0" rtlCol="0" anchor="t"/>
          <a:lstStyle/>
          <a:p>
            <a:pPr indent="0" marL="0">
              <a:buNone/>
            </a:pPr>
            <a:r>
              <a:rPr lang="en-US" sz="1200" i="1" dirty="0">
                <a:solidFill>
                  <a:schemeClr val="tx2"/>
                </a:solidFill>
              </a:rPr>
              <a:t>Las rutas no se mezclan: E.030 (Perú) y NSR-10 (Colombia) difieren en espectro, límite de deriva e hipótesis. Comparten el método de aprendizaje y evaluación.</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Módulo NSR-10: del JSON al dictamen</a:t>
            </a:r>
            <a:endParaRPr lang="en-US" sz="2800" dirty="0"/>
          </a:p>
        </p:txBody>
      </p:sp>
      <p:sp>
        <p:nvSpPr>
          <p:cNvPr id="3" name="paso"/>
          <p:cNvSpPr/>
          <p:nvPr/>
        </p:nvSpPr>
        <p:spPr>
          <a:xfrm>
            <a:off x="457200" y="1417320"/>
            <a:ext cx="1261872" cy="2103120"/>
          </a:xfrm>
          <a:prstGeom prst="roundRect">
            <a:avLst>
              <a:gd name="adj" fmla="val 5797"/>
            </a:avLst>
          </a:prstGeom>
          <a:solidFill>
            <a:srgbClr val="EDF0F3"/>
          </a:solidFill>
          <a:ln w="12700">
            <a:solidFill>
              <a:srgbClr val="EDF0F3"/>
            </a:solidFill>
            <a:prstDash val="solid"/>
          </a:ln>
        </p:spPr>
      </p:sp>
      <p:sp>
        <p:nvSpPr>
          <p:cNvPr id="4" name="numero"/>
          <p:cNvSpPr/>
          <p:nvPr/>
        </p:nvSpPr>
        <p:spPr>
          <a:xfrm>
            <a:off x="896112" y="1572768"/>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896112"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530352" y="2103120"/>
            <a:ext cx="1115568" cy="365760"/>
          </a:xfrm>
          <a:prstGeom prst="rect">
            <a:avLst/>
          </a:prstGeom>
          <a:noFill/>
          <a:ln/>
        </p:spPr>
        <p:txBody>
          <a:bodyPr wrap="square" lIns="0" tIns="0" rIns="0" bIns="0" rtlCol="0" anchor="t"/>
          <a:lstStyle/>
          <a:p>
            <a:pPr algn="ctr" indent="0" marL="0">
              <a:buNone/>
            </a:pPr>
            <a:r>
              <a:rPr lang="en-US" sz="1500" b="1" dirty="0">
                <a:solidFill>
                  <a:schemeClr val="tx1"/>
                </a:solidFill>
              </a:rPr>
              <a:t>Validar</a:t>
            </a:r>
            <a:endParaRPr lang="en-US" sz="1500" dirty="0"/>
          </a:p>
        </p:txBody>
      </p:sp>
      <p:sp>
        <p:nvSpPr>
          <p:cNvPr id="7" name="Text 5"/>
          <p:cNvSpPr txBox="1"/>
          <p:nvPr/>
        </p:nvSpPr>
        <p:spPr>
          <a:xfrm>
            <a:off x="548640" y="2514600"/>
            <a:ext cx="1078992" cy="914400"/>
          </a:xfrm>
          <a:prstGeom prst="rect">
            <a:avLst/>
          </a:prstGeom>
          <a:noFill/>
          <a:ln/>
        </p:spPr>
        <p:txBody>
          <a:bodyPr wrap="square" lIns="0" tIns="0" rIns="0" bIns="0" rtlCol="0" anchor="t"/>
          <a:lstStyle/>
          <a:p>
            <a:pPr algn="ctr" indent="0" marL="0">
              <a:buNone/>
            </a:pPr>
            <a:r>
              <a:rPr lang="en-US" sz="1200" dirty="0">
                <a:solidFill>
                  <a:schemeClr val="tx2"/>
                </a:solidFill>
              </a:rPr>
              <a:t>campos, rangos y 12 combinaciones</a:t>
            </a:r>
            <a:endParaRPr lang="en-US" sz="1200" dirty="0"/>
          </a:p>
        </p:txBody>
      </p:sp>
      <p:sp>
        <p:nvSpPr>
          <p:cNvPr id="8" name="paso"/>
          <p:cNvSpPr/>
          <p:nvPr/>
        </p:nvSpPr>
        <p:spPr>
          <a:xfrm>
            <a:off x="1856232" y="1417320"/>
            <a:ext cx="1261872" cy="2103120"/>
          </a:xfrm>
          <a:prstGeom prst="roundRect">
            <a:avLst>
              <a:gd name="adj" fmla="val 5797"/>
            </a:avLst>
          </a:prstGeom>
          <a:solidFill>
            <a:schemeClr val="bg2"/>
          </a:solidFill>
          <a:ln w="12700">
            <a:solidFill>
              <a:schemeClr val="bg2"/>
            </a:solidFill>
            <a:prstDash val="solid"/>
          </a:ln>
        </p:spPr>
      </p:sp>
      <p:sp>
        <p:nvSpPr>
          <p:cNvPr id="9" name="numero"/>
          <p:cNvSpPr/>
          <p:nvPr/>
        </p:nvSpPr>
        <p:spPr>
          <a:xfrm>
            <a:off x="2295144" y="1572768"/>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2295144"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1929384" y="2103120"/>
            <a:ext cx="1115568" cy="365760"/>
          </a:xfrm>
          <a:prstGeom prst="rect">
            <a:avLst/>
          </a:prstGeom>
          <a:noFill/>
          <a:ln/>
        </p:spPr>
        <p:txBody>
          <a:bodyPr wrap="square" lIns="0" tIns="0" rIns="0" bIns="0" rtlCol="0" anchor="t"/>
          <a:lstStyle/>
          <a:p>
            <a:pPr algn="ctr" indent="0" marL="0">
              <a:buNone/>
            </a:pPr>
            <a:r>
              <a:rPr lang="en-US" sz="1500" b="1" dirty="0">
                <a:solidFill>
                  <a:schemeClr val="tx1"/>
                </a:solidFill>
              </a:rPr>
              <a:t>Espectro</a:t>
            </a:r>
            <a:endParaRPr lang="en-US" sz="1500" dirty="0"/>
          </a:p>
        </p:txBody>
      </p:sp>
      <p:sp>
        <p:nvSpPr>
          <p:cNvPr id="12" name="Text 10"/>
          <p:cNvSpPr txBox="1"/>
          <p:nvPr/>
        </p:nvSpPr>
        <p:spPr>
          <a:xfrm>
            <a:off x="1947672" y="2514600"/>
            <a:ext cx="1078992" cy="914400"/>
          </a:xfrm>
          <a:prstGeom prst="rect">
            <a:avLst/>
          </a:prstGeom>
          <a:noFill/>
          <a:ln/>
        </p:spPr>
        <p:txBody>
          <a:bodyPr wrap="square" lIns="0" tIns="0" rIns="0" bIns="0" rtlCol="0" anchor="t"/>
          <a:lstStyle/>
          <a:p>
            <a:pPr algn="ctr" indent="0" marL="0">
              <a:buNone/>
            </a:pPr>
            <a:r>
              <a:rPr lang="en-US" sz="1200" dirty="0">
                <a:solidFill>
                  <a:schemeClr val="tx2"/>
                </a:solidFill>
              </a:rPr>
              <a:t>Sa(T), Ta, Cu·Ta (A.2, A.4.2)</a:t>
            </a:r>
            <a:endParaRPr lang="en-US" sz="1200" dirty="0"/>
          </a:p>
        </p:txBody>
      </p:sp>
      <p:sp>
        <p:nvSpPr>
          <p:cNvPr id="13" name="paso"/>
          <p:cNvSpPr/>
          <p:nvPr/>
        </p:nvSpPr>
        <p:spPr>
          <a:xfrm>
            <a:off x="3255264" y="1417320"/>
            <a:ext cx="1261872" cy="2103120"/>
          </a:xfrm>
          <a:prstGeom prst="roundRect">
            <a:avLst>
              <a:gd name="adj" fmla="val 5797"/>
            </a:avLst>
          </a:prstGeom>
          <a:solidFill>
            <a:schemeClr val="bg2"/>
          </a:solidFill>
          <a:ln w="12700">
            <a:solidFill>
              <a:schemeClr val="bg2"/>
            </a:solidFill>
            <a:prstDash val="solid"/>
          </a:ln>
        </p:spPr>
      </p:sp>
      <p:sp>
        <p:nvSpPr>
          <p:cNvPr id="14" name="numero"/>
          <p:cNvSpPr/>
          <p:nvPr/>
        </p:nvSpPr>
        <p:spPr>
          <a:xfrm>
            <a:off x="3694176" y="1572768"/>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3694176"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3328416" y="2103120"/>
            <a:ext cx="1115568" cy="365760"/>
          </a:xfrm>
          <a:prstGeom prst="rect">
            <a:avLst/>
          </a:prstGeom>
          <a:noFill/>
          <a:ln/>
        </p:spPr>
        <p:txBody>
          <a:bodyPr wrap="square" lIns="0" tIns="0" rIns="0" bIns="0" rtlCol="0" anchor="t"/>
          <a:lstStyle/>
          <a:p>
            <a:pPr algn="ctr" indent="0" marL="0">
              <a:buNone/>
            </a:pPr>
            <a:r>
              <a:rPr lang="en-US" sz="1500" b="1" dirty="0">
                <a:solidFill>
                  <a:schemeClr val="tx1"/>
                </a:solidFill>
              </a:rPr>
              <a:t>FHE</a:t>
            </a:r>
            <a:endParaRPr lang="en-US" sz="1500" dirty="0"/>
          </a:p>
        </p:txBody>
      </p:sp>
      <p:sp>
        <p:nvSpPr>
          <p:cNvPr id="17" name="Text 15"/>
          <p:cNvSpPr txBox="1"/>
          <p:nvPr/>
        </p:nvSpPr>
        <p:spPr>
          <a:xfrm>
            <a:off x="3346704" y="2514600"/>
            <a:ext cx="1078992" cy="914400"/>
          </a:xfrm>
          <a:prstGeom prst="rect">
            <a:avLst/>
          </a:prstGeom>
          <a:noFill/>
          <a:ln/>
        </p:spPr>
        <p:txBody>
          <a:bodyPr wrap="square" lIns="0" tIns="0" rIns="0" bIns="0" rtlCol="0" anchor="t"/>
          <a:lstStyle/>
          <a:p>
            <a:pPr algn="ctr" indent="0" marL="0">
              <a:buNone/>
            </a:pPr>
            <a:r>
              <a:rPr lang="en-US" sz="1200" dirty="0">
                <a:solidFill>
                  <a:schemeClr val="tx2"/>
                </a:solidFill>
              </a:rPr>
              <a:t>Vs, k, fuerzas por piso (A.4.3)</a:t>
            </a:r>
            <a:endParaRPr lang="en-US" sz="1200" dirty="0"/>
          </a:p>
        </p:txBody>
      </p:sp>
      <p:sp>
        <p:nvSpPr>
          <p:cNvPr id="18" name="paso"/>
          <p:cNvSpPr/>
          <p:nvPr/>
        </p:nvSpPr>
        <p:spPr>
          <a:xfrm>
            <a:off x="4654296" y="1417320"/>
            <a:ext cx="1261872" cy="2103120"/>
          </a:xfrm>
          <a:prstGeom prst="roundRect">
            <a:avLst>
              <a:gd name="adj" fmla="val 5797"/>
            </a:avLst>
          </a:prstGeom>
          <a:solidFill>
            <a:schemeClr val="bg2"/>
          </a:solidFill>
          <a:ln w="12700">
            <a:solidFill>
              <a:schemeClr val="bg2"/>
            </a:solidFill>
            <a:prstDash val="solid"/>
          </a:ln>
        </p:spPr>
      </p:sp>
      <p:sp>
        <p:nvSpPr>
          <p:cNvPr id="19" name="numero"/>
          <p:cNvSpPr/>
          <p:nvPr/>
        </p:nvSpPr>
        <p:spPr>
          <a:xfrm>
            <a:off x="5093208" y="1572768"/>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5093208"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4727448" y="2103120"/>
            <a:ext cx="1115568" cy="365760"/>
          </a:xfrm>
          <a:prstGeom prst="rect">
            <a:avLst/>
          </a:prstGeom>
          <a:noFill/>
          <a:ln/>
        </p:spPr>
        <p:txBody>
          <a:bodyPr wrap="square" lIns="0" tIns="0" rIns="0" bIns="0" rtlCol="0" anchor="t"/>
          <a:lstStyle/>
          <a:p>
            <a:pPr algn="ctr" indent="0" marL="0">
              <a:buNone/>
            </a:pPr>
            <a:r>
              <a:rPr lang="en-US" sz="1500" b="1" dirty="0">
                <a:solidFill>
                  <a:schemeClr val="tx1"/>
                </a:solidFill>
              </a:rPr>
              <a:t>Derivas</a:t>
            </a:r>
            <a:endParaRPr lang="en-US" sz="1500" dirty="0"/>
          </a:p>
        </p:txBody>
      </p:sp>
      <p:sp>
        <p:nvSpPr>
          <p:cNvPr id="22" name="Text 20"/>
          <p:cNvSpPr txBox="1"/>
          <p:nvPr/>
        </p:nvSpPr>
        <p:spPr>
          <a:xfrm>
            <a:off x="4745736" y="2514600"/>
            <a:ext cx="1078992" cy="914400"/>
          </a:xfrm>
          <a:prstGeom prst="rect">
            <a:avLst/>
          </a:prstGeom>
          <a:noFill/>
          <a:ln/>
        </p:spPr>
        <p:txBody>
          <a:bodyPr wrap="square" lIns="0" tIns="0" rIns="0" bIns="0" rtlCol="0" anchor="t"/>
          <a:lstStyle/>
          <a:p>
            <a:pPr algn="ctr" indent="0" marL="0">
              <a:buNone/>
            </a:pPr>
            <a:r>
              <a:rPr lang="en-US" sz="1200" dirty="0">
                <a:solidFill>
                  <a:schemeClr val="tx2"/>
                </a:solidFill>
              </a:rPr>
              <a:t>12 combinaciones + torsión accidental 5 %</a:t>
            </a:r>
            <a:endParaRPr lang="en-US" sz="1200" dirty="0"/>
          </a:p>
        </p:txBody>
      </p:sp>
      <p:sp>
        <p:nvSpPr>
          <p:cNvPr id="23" name="paso"/>
          <p:cNvSpPr/>
          <p:nvPr/>
        </p:nvSpPr>
        <p:spPr>
          <a:xfrm>
            <a:off x="6053328" y="1417320"/>
            <a:ext cx="1261872" cy="2103120"/>
          </a:xfrm>
          <a:prstGeom prst="roundRect">
            <a:avLst>
              <a:gd name="adj" fmla="val 5797"/>
            </a:avLst>
          </a:prstGeom>
          <a:solidFill>
            <a:schemeClr val="bg2"/>
          </a:solidFill>
          <a:ln w="12700">
            <a:solidFill>
              <a:schemeClr val="bg2"/>
            </a:solidFill>
            <a:prstDash val="solid"/>
          </a:ln>
        </p:spPr>
      </p:sp>
      <p:sp>
        <p:nvSpPr>
          <p:cNvPr id="24" name="numero"/>
          <p:cNvSpPr/>
          <p:nvPr/>
        </p:nvSpPr>
        <p:spPr>
          <a:xfrm>
            <a:off x="6492240" y="1572768"/>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6492240"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6126480" y="2103120"/>
            <a:ext cx="1115568" cy="365760"/>
          </a:xfrm>
          <a:prstGeom prst="rect">
            <a:avLst/>
          </a:prstGeom>
          <a:noFill/>
          <a:ln/>
        </p:spPr>
        <p:txBody>
          <a:bodyPr wrap="square" lIns="0" tIns="0" rIns="0" bIns="0" rtlCol="0" anchor="t"/>
          <a:lstStyle/>
          <a:p>
            <a:pPr algn="ctr" indent="0" marL="0">
              <a:buNone/>
            </a:pPr>
            <a:r>
              <a:rPr lang="en-US" sz="1500" b="1" dirty="0">
                <a:solidFill>
                  <a:schemeClr val="tx1"/>
                </a:solidFill>
              </a:rPr>
              <a:t>Estabilidad</a:t>
            </a:r>
            <a:endParaRPr lang="en-US" sz="1500" dirty="0"/>
          </a:p>
        </p:txBody>
      </p:sp>
      <p:sp>
        <p:nvSpPr>
          <p:cNvPr id="27" name="Text 25"/>
          <p:cNvSpPr txBox="1"/>
          <p:nvPr/>
        </p:nvSpPr>
        <p:spPr>
          <a:xfrm>
            <a:off x="6144768" y="2514600"/>
            <a:ext cx="1078992" cy="914400"/>
          </a:xfrm>
          <a:prstGeom prst="rect">
            <a:avLst/>
          </a:prstGeom>
          <a:noFill/>
          <a:ln/>
        </p:spPr>
        <p:txBody>
          <a:bodyPr wrap="square" lIns="0" tIns="0" rIns="0" bIns="0" rtlCol="0" anchor="t"/>
          <a:lstStyle/>
          <a:p>
            <a:pPr algn="ctr" indent="0" marL="0">
              <a:buNone/>
            </a:pPr>
            <a:r>
              <a:rPr lang="en-US" sz="1200" dirty="0">
                <a:solidFill>
                  <a:schemeClr val="tx2"/>
                </a:solidFill>
              </a:rPr>
              <a:t>Q (P-Δ), torsión 1aP, R (A.3.3)</a:t>
            </a:r>
            <a:endParaRPr lang="en-US" sz="1200" dirty="0"/>
          </a:p>
        </p:txBody>
      </p:sp>
      <p:sp>
        <p:nvSpPr>
          <p:cNvPr id="28" name="paso"/>
          <p:cNvSpPr/>
          <p:nvPr/>
        </p:nvSpPr>
        <p:spPr>
          <a:xfrm>
            <a:off x="7452360" y="1417320"/>
            <a:ext cx="1261872" cy="2103120"/>
          </a:xfrm>
          <a:prstGeom prst="roundRect">
            <a:avLst>
              <a:gd name="adj" fmla="val 5797"/>
            </a:avLst>
          </a:prstGeom>
          <a:solidFill>
            <a:schemeClr val="bg2"/>
          </a:solidFill>
          <a:ln w="12700">
            <a:solidFill>
              <a:schemeClr val="bg2"/>
            </a:solidFill>
            <a:prstDash val="solid"/>
          </a:ln>
        </p:spPr>
      </p:sp>
      <p:sp>
        <p:nvSpPr>
          <p:cNvPr id="29" name="numero"/>
          <p:cNvSpPr/>
          <p:nvPr/>
        </p:nvSpPr>
        <p:spPr>
          <a:xfrm>
            <a:off x="7891272" y="1572768"/>
            <a:ext cx="384048" cy="384048"/>
          </a:xfrm>
          <a:prstGeom prst="ellipse">
            <a:avLst/>
          </a:prstGeom>
          <a:solidFill>
            <a:schemeClr val="accent1"/>
          </a:solidFill>
          <a:ln w="12700">
            <a:solidFill>
              <a:schemeClr val="accent1"/>
            </a:solidFill>
            <a:prstDash val="solid"/>
          </a:ln>
        </p:spPr>
      </p:sp>
      <p:sp>
        <p:nvSpPr>
          <p:cNvPr id="30" name="Text 28"/>
          <p:cNvSpPr txBox="1"/>
          <p:nvPr/>
        </p:nvSpPr>
        <p:spPr>
          <a:xfrm>
            <a:off x="7891272"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 29"/>
          <p:cNvSpPr txBox="1"/>
          <p:nvPr/>
        </p:nvSpPr>
        <p:spPr>
          <a:xfrm>
            <a:off x="7525512" y="2103120"/>
            <a:ext cx="1115568" cy="365760"/>
          </a:xfrm>
          <a:prstGeom prst="rect">
            <a:avLst/>
          </a:prstGeom>
          <a:noFill/>
          <a:ln/>
        </p:spPr>
        <p:txBody>
          <a:bodyPr wrap="square" lIns="0" tIns="0" rIns="0" bIns="0" rtlCol="0" anchor="t"/>
          <a:lstStyle/>
          <a:p>
            <a:pPr algn="ctr" indent="0" marL="0">
              <a:buNone/>
            </a:pPr>
            <a:r>
              <a:rPr lang="en-US" sz="1500" b="1" dirty="0">
                <a:solidFill>
                  <a:schemeClr val="tx1"/>
                </a:solidFill>
              </a:rPr>
              <a:t>Registro</a:t>
            </a:r>
            <a:endParaRPr lang="en-US" sz="1500" dirty="0"/>
          </a:p>
        </p:txBody>
      </p:sp>
      <p:sp>
        <p:nvSpPr>
          <p:cNvPr id="32" name="Text 30"/>
          <p:cNvSpPr txBox="1"/>
          <p:nvPr/>
        </p:nvSpPr>
        <p:spPr>
          <a:xfrm>
            <a:off x="7543800" y="2514600"/>
            <a:ext cx="1078992" cy="914400"/>
          </a:xfrm>
          <a:prstGeom prst="rect">
            <a:avLst/>
          </a:prstGeom>
          <a:noFill/>
          <a:ln/>
        </p:spPr>
        <p:txBody>
          <a:bodyPr wrap="square" lIns="0" tIns="0" rIns="0" bIns="0" rtlCol="0" anchor="t"/>
          <a:lstStyle/>
          <a:p>
            <a:pPr algn="ctr" indent="0" marL="0">
              <a:buNone/>
            </a:pPr>
            <a:r>
              <a:rPr lang="en-US" sz="1200" dirty="0">
                <a:solidFill>
                  <a:schemeClr val="tx2"/>
                </a:solidFill>
              </a:rPr>
              <a:t>reporte y fila para la base de datos</a:t>
            </a:r>
            <a:endParaRPr lang="en-US" sz="1200" dirty="0"/>
          </a:p>
        </p:txBody>
      </p:sp>
      <p:sp>
        <p:nvSpPr>
          <p:cNvPr id="33" name="Text 31"/>
          <p:cNvSpPr txBox="1"/>
          <p:nvPr/>
        </p:nvSpPr>
        <p:spPr>
          <a:xfrm>
            <a:off x="457200" y="3794760"/>
            <a:ext cx="8229600" cy="548640"/>
          </a:xfrm>
          <a:prstGeom prst="rect">
            <a:avLst/>
          </a:prstGeom>
          <a:noFill/>
          <a:ln/>
        </p:spPr>
        <p:txBody>
          <a:bodyPr wrap="square" lIns="0" tIns="0" rIns="0" bIns="0" rtlCol="0" anchor="t"/>
          <a:lstStyle/>
          <a:p>
            <a:pPr indent="0" marL="0">
              <a:buNone/>
            </a:pPr>
            <a:r>
              <a:rPr lang="en-US" sz="1300" b="1" dirty="0">
                <a:solidFill>
                  <a:schemeClr val="tx2"/>
                </a:solidFill>
              </a:rPr>
              <a:t>Entrada: </a:t>
            </a:r>
            <a:pPr indent="0" marL="0">
              <a:buNone/>
            </a:pPr>
            <a:r>
              <a:rPr lang="en-US" sz="1300" dirty="0">
                <a:solidFill>
                  <a:schemeClr val="tx2"/>
                </a:solidFill>
              </a:rPr>
              <a:t>sitio (Aa, Av, Fa, Fv, TL), grupo de uso, R0, geometría, pesos por piso, periodos de SAP2000 y desplazamientos en dos esquinas opuestas. Tiempo de cálculo: menos de 1 ms por caso.</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Tres pruebas: completa, incompleta y errónea</a:t>
            </a:r>
            <a:endParaRPr lang="en-US" sz="2800" dirty="0"/>
          </a:p>
        </p:txBody>
      </p:sp>
      <p:sp>
        <p:nvSpPr>
          <p:cNvPr id="3" name="caso"/>
          <p:cNvSpPr/>
          <p:nvPr/>
        </p:nvSpPr>
        <p:spPr>
          <a:xfrm>
            <a:off x="457200" y="1188720"/>
            <a:ext cx="2560320" cy="3291840"/>
          </a:xfrm>
          <a:prstGeom prst="roundRect">
            <a:avLst>
              <a:gd name="adj" fmla="val 2857"/>
            </a:avLst>
          </a:prstGeom>
          <a:solidFill>
            <a:schemeClr val="bg2"/>
          </a:solidFill>
          <a:ln w="12700">
            <a:solidFill>
              <a:schemeClr val="bg2"/>
            </a:solidFill>
            <a:prstDash val="solid"/>
          </a:ln>
        </p:spPr>
      </p:sp>
      <p:sp>
        <p:nvSpPr>
          <p:cNvPr id="4" name="badge"/>
          <p:cNvSpPr/>
          <p:nvPr/>
        </p:nvSpPr>
        <p:spPr>
          <a:xfrm>
            <a:off x="685800" y="1371600"/>
            <a:ext cx="548640" cy="548640"/>
          </a:xfrm>
          <a:prstGeom prst="ellipse">
            <a:avLst/>
          </a:prstGeom>
          <a:solidFill>
            <a:schemeClr val="accent3"/>
          </a:solidFill>
          <a:ln w="12700">
            <a:solidFill>
              <a:schemeClr val="accent3"/>
            </a:solidFill>
            <a:prstDash val="solid"/>
          </a:ln>
        </p:spPr>
      </p:sp>
      <p:pic>
        <p:nvPicPr>
          <p:cNvPr id="5" name="icono" descr="preencoded.png">    </p:cNvPr>
          <p:cNvPicPr>
            <a:picLocks noChangeAspect="1"/>
          </p:cNvPicPr>
          <p:nvPr/>
        </p:nvPicPr>
        <p:blipFill>
          <a:blip r:embed="rId1"/>
          <a:stretch>
            <a:fillRect/>
          </a:stretch>
        </p:blipFill>
        <p:spPr>
          <a:xfrm>
            <a:off x="806501" y="1492301"/>
            <a:ext cx="307238" cy="307238"/>
          </a:xfrm>
          <a:prstGeom prst="rect">
            <a:avLst/>
          </a:prstGeom>
        </p:spPr>
      </p:pic>
      <p:sp>
        <p:nvSpPr>
          <p:cNvPr id="6" name="Text 3"/>
          <p:cNvSpPr txBox="1"/>
          <p:nvPr/>
        </p:nvSpPr>
        <p:spPr>
          <a:xfrm>
            <a:off x="685800" y="2057400"/>
            <a:ext cx="2194560" cy="365760"/>
          </a:xfrm>
          <a:prstGeom prst="rect">
            <a:avLst/>
          </a:prstGeom>
          <a:noFill/>
          <a:ln/>
        </p:spPr>
        <p:txBody>
          <a:bodyPr wrap="square" lIns="0" tIns="0" rIns="0" bIns="0" rtlCol="0" anchor="t"/>
          <a:lstStyle/>
          <a:p>
            <a:pPr indent="0" marL="0">
              <a:buNone/>
            </a:pPr>
            <a:r>
              <a:rPr lang="en-US" sz="1700" b="1" dirty="0">
                <a:solidFill>
                  <a:schemeClr val="tx1"/>
                </a:solidFill>
              </a:rPr>
              <a:t>1 · Datos completos</a:t>
            </a:r>
            <a:endParaRPr lang="en-US" sz="1700" dirty="0"/>
          </a:p>
        </p:txBody>
      </p:sp>
      <p:sp>
        <p:nvSpPr>
          <p:cNvPr id="7" name="Text 4"/>
          <p:cNvSpPr txBox="1"/>
          <p:nvPr/>
        </p:nvSpPr>
        <p:spPr>
          <a:xfrm>
            <a:off x="685800" y="2468880"/>
            <a:ext cx="2194560" cy="594360"/>
          </a:xfrm>
          <a:prstGeom prst="rect">
            <a:avLst/>
          </a:prstGeom>
          <a:noFill/>
          <a:ln/>
        </p:spPr>
        <p:txBody>
          <a:bodyPr wrap="square" lIns="0" tIns="0" rIns="0" bIns="0" rtlCol="0" anchor="t"/>
          <a:lstStyle/>
          <a:p>
            <a:pPr indent="0" marL="0">
              <a:buNone/>
            </a:pPr>
            <a:r>
              <a:rPr lang="en-US" sz="1300" dirty="0">
                <a:solidFill>
                  <a:schemeClr val="tx2"/>
                </a:solidFill>
              </a:rPr>
              <a:t>Edificio del curso, grupo 1, Piedemonte A (Bogotá)</a:t>
            </a:r>
            <a:endParaRPr lang="en-US" sz="1300" dirty="0"/>
          </a:p>
        </p:txBody>
      </p:sp>
      <p:sp>
        <p:nvSpPr>
          <p:cNvPr id="8" name="Text 5"/>
          <p:cNvSpPr txBox="1"/>
          <p:nvPr/>
        </p:nvSpPr>
        <p:spPr>
          <a:xfrm>
            <a:off x="685800" y="3154680"/>
            <a:ext cx="2194560" cy="1188720"/>
          </a:xfrm>
          <a:prstGeom prst="rect">
            <a:avLst/>
          </a:prstGeom>
          <a:noFill/>
          <a:ln/>
        </p:spPr>
        <p:txBody>
          <a:bodyPr wrap="square" lIns="0" tIns="0" rIns="0" bIns="0" rtlCol="0" anchor="t"/>
          <a:lstStyle/>
          <a:p>
            <a:pPr indent="0" marL="0">
              <a:buNone/>
            </a:pPr>
            <a:r>
              <a:rPr lang="en-US" sz="1400" b="1" dirty="0">
                <a:solidFill>
                  <a:schemeClr val="tx1"/>
                </a:solidFill>
              </a:rPr>
              <a:t>Vs = 23 250 kN</a:t>
            </a:r>
            <a:endParaRPr lang="en-US" sz="1400" dirty="0"/>
          </a:p>
          <a:p>
            <a:pPr indent="0" marL="0">
              <a:buNone/>
            </a:pPr>
            <a:r>
              <a:rPr lang="en-US" sz="1400" b="1" dirty="0">
                <a:solidFill>
                  <a:schemeClr val="tx1"/>
                </a:solidFill>
              </a:rPr>
              <a:t>Deriva máx. 0,991 % ≤ 1,0 %</a:t>
            </a:r>
            <a:endParaRPr lang="en-US" sz="1400" dirty="0"/>
          </a:p>
          <a:p>
            <a:pPr indent="0" marL="0">
              <a:buNone/>
            </a:pPr>
            <a:r>
              <a:rPr lang="en-US" sz="1400" b="1" dirty="0">
                <a:solidFill>
                  <a:schemeClr val="tx1"/>
                </a:solidFill>
              </a:rPr>
              <a:t>CUMPLE · 0,6 ms</a:t>
            </a:r>
            <a:endParaRPr lang="en-US" sz="1400" dirty="0"/>
          </a:p>
        </p:txBody>
      </p:sp>
      <p:sp>
        <p:nvSpPr>
          <p:cNvPr id="9" name="caso"/>
          <p:cNvSpPr/>
          <p:nvPr/>
        </p:nvSpPr>
        <p:spPr>
          <a:xfrm>
            <a:off x="3291840" y="1188720"/>
            <a:ext cx="2560320" cy="3291840"/>
          </a:xfrm>
          <a:prstGeom prst="roundRect">
            <a:avLst>
              <a:gd name="adj" fmla="val 2857"/>
            </a:avLst>
          </a:prstGeom>
          <a:solidFill>
            <a:schemeClr val="bg2"/>
          </a:solidFill>
          <a:ln w="12700">
            <a:solidFill>
              <a:schemeClr val="bg2"/>
            </a:solidFill>
            <a:prstDash val="solid"/>
          </a:ln>
        </p:spPr>
      </p:sp>
      <p:sp>
        <p:nvSpPr>
          <p:cNvPr id="10" name="badge"/>
          <p:cNvSpPr/>
          <p:nvPr/>
        </p:nvSpPr>
        <p:spPr>
          <a:xfrm>
            <a:off x="3520440" y="1371600"/>
            <a:ext cx="548640" cy="548640"/>
          </a:xfrm>
          <a:prstGeom prst="ellipse">
            <a:avLst/>
          </a:prstGeom>
          <a:solidFill>
            <a:schemeClr val="accent5"/>
          </a:solidFill>
          <a:ln w="12700">
            <a:solidFill>
              <a:schemeClr val="accent5"/>
            </a:solidFill>
            <a:prstDash val="solid"/>
          </a:ln>
        </p:spPr>
      </p:sp>
      <p:pic>
        <p:nvPicPr>
          <p:cNvPr id="11" name="icono" descr="preencoded.png">    </p:cNvPr>
          <p:cNvPicPr>
            <a:picLocks noChangeAspect="1"/>
          </p:cNvPicPr>
          <p:nvPr/>
        </p:nvPicPr>
        <p:blipFill>
          <a:blip r:embed="rId2"/>
          <a:stretch>
            <a:fillRect/>
          </a:stretch>
        </p:blipFill>
        <p:spPr>
          <a:xfrm>
            <a:off x="3641141" y="1492301"/>
            <a:ext cx="307238" cy="307238"/>
          </a:xfrm>
          <a:prstGeom prst="rect">
            <a:avLst/>
          </a:prstGeom>
        </p:spPr>
      </p:pic>
      <p:sp>
        <p:nvSpPr>
          <p:cNvPr id="12" name="Text 8"/>
          <p:cNvSpPr txBox="1"/>
          <p:nvPr/>
        </p:nvSpPr>
        <p:spPr>
          <a:xfrm>
            <a:off x="3520440" y="2057400"/>
            <a:ext cx="2194560" cy="365760"/>
          </a:xfrm>
          <a:prstGeom prst="rect">
            <a:avLst/>
          </a:prstGeom>
          <a:noFill/>
          <a:ln/>
        </p:spPr>
        <p:txBody>
          <a:bodyPr wrap="square" lIns="0" tIns="0" rIns="0" bIns="0" rtlCol="0" anchor="t"/>
          <a:lstStyle/>
          <a:p>
            <a:pPr indent="0" marL="0">
              <a:buNone/>
            </a:pPr>
            <a:r>
              <a:rPr lang="en-US" sz="1700" b="1" dirty="0">
                <a:solidFill>
                  <a:schemeClr val="tx1"/>
                </a:solidFill>
              </a:rPr>
              <a:t>2 · Falta un dato</a:t>
            </a:r>
            <a:endParaRPr lang="en-US" sz="1700" dirty="0"/>
          </a:p>
        </p:txBody>
      </p:sp>
      <p:sp>
        <p:nvSpPr>
          <p:cNvPr id="13" name="Text 9"/>
          <p:cNvSpPr txBox="1"/>
          <p:nvPr/>
        </p:nvSpPr>
        <p:spPr>
          <a:xfrm>
            <a:off x="3520440" y="2468880"/>
            <a:ext cx="2194560" cy="594360"/>
          </a:xfrm>
          <a:prstGeom prst="rect">
            <a:avLst/>
          </a:prstGeom>
          <a:noFill/>
          <a:ln/>
        </p:spPr>
        <p:txBody>
          <a:bodyPr wrap="square" lIns="0" tIns="0" rIns="0" bIns="0" rtlCol="0" anchor="t"/>
          <a:lstStyle/>
          <a:p>
            <a:pPr indent="0" marL="0">
              <a:buNone/>
            </a:pPr>
            <a:r>
              <a:rPr lang="en-US" sz="1300" dirty="0">
                <a:solidFill>
                  <a:schemeClr val="tx2"/>
                </a:solidFill>
              </a:rPr>
              <a:t>Se eliminó el coeficiente Fv</a:t>
            </a:r>
            <a:endParaRPr lang="en-US" sz="1300" dirty="0"/>
          </a:p>
        </p:txBody>
      </p:sp>
      <p:sp>
        <p:nvSpPr>
          <p:cNvPr id="14" name="Text 10"/>
          <p:cNvSpPr txBox="1"/>
          <p:nvPr/>
        </p:nvSpPr>
        <p:spPr>
          <a:xfrm>
            <a:off x="3520440" y="3154680"/>
            <a:ext cx="2194560" cy="1188720"/>
          </a:xfrm>
          <a:prstGeom prst="rect">
            <a:avLst/>
          </a:prstGeom>
          <a:noFill/>
          <a:ln/>
        </p:spPr>
        <p:txBody>
          <a:bodyPr wrap="square" lIns="0" tIns="0" rIns="0" bIns="0" rtlCol="0" anchor="t"/>
          <a:lstStyle/>
          <a:p>
            <a:pPr indent="0" marL="0">
              <a:buNone/>
            </a:pPr>
            <a:r>
              <a:rPr lang="en-US" sz="1400" b="1" dirty="0">
                <a:solidFill>
                  <a:schemeClr val="tx1"/>
                </a:solidFill>
              </a:rPr>
              <a:t>Se detiene antes de calcular</a:t>
            </a:r>
            <a:endParaRPr lang="en-US" sz="1400" dirty="0"/>
          </a:p>
          <a:p>
            <a:pPr indent="0" marL="0">
              <a:buNone/>
            </a:pPr>
            <a:r>
              <a:rPr lang="en-US" sz="1400" b="1" dirty="0">
                <a:solidFill>
                  <a:schemeClr val="tx1"/>
                </a:solidFill>
              </a:rPr>
              <a:t>«FALTA: sitio.Fv»</a:t>
            </a:r>
            <a:endParaRPr lang="en-US" sz="1400" dirty="0"/>
          </a:p>
        </p:txBody>
      </p:sp>
      <p:sp>
        <p:nvSpPr>
          <p:cNvPr id="15" name="caso"/>
          <p:cNvSpPr/>
          <p:nvPr/>
        </p:nvSpPr>
        <p:spPr>
          <a:xfrm>
            <a:off x="6126480" y="1188720"/>
            <a:ext cx="2560320" cy="3291840"/>
          </a:xfrm>
          <a:prstGeom prst="roundRect">
            <a:avLst>
              <a:gd name="adj" fmla="val 2857"/>
            </a:avLst>
          </a:prstGeom>
          <a:solidFill>
            <a:schemeClr val="bg2"/>
          </a:solidFill>
          <a:ln w="12700">
            <a:solidFill>
              <a:schemeClr val="bg2"/>
            </a:solidFill>
            <a:prstDash val="solid"/>
          </a:ln>
        </p:spPr>
      </p:sp>
      <p:sp>
        <p:nvSpPr>
          <p:cNvPr id="16" name="badge"/>
          <p:cNvSpPr/>
          <p:nvPr/>
        </p:nvSpPr>
        <p:spPr>
          <a:xfrm>
            <a:off x="6355080" y="1371600"/>
            <a:ext cx="548640" cy="548640"/>
          </a:xfrm>
          <a:prstGeom prst="ellipse">
            <a:avLst/>
          </a:prstGeom>
          <a:solidFill>
            <a:schemeClr val="accent4"/>
          </a:solidFill>
          <a:ln w="12700">
            <a:solidFill>
              <a:schemeClr val="accent4"/>
            </a:solidFill>
            <a:prstDash val="solid"/>
          </a:ln>
        </p:spPr>
      </p:sp>
      <p:pic>
        <p:nvPicPr>
          <p:cNvPr id="17" name="icono" descr="preencoded.png">    </p:cNvPr>
          <p:cNvPicPr>
            <a:picLocks noChangeAspect="1"/>
          </p:cNvPicPr>
          <p:nvPr/>
        </p:nvPicPr>
        <p:blipFill>
          <a:blip r:embed="rId3"/>
          <a:stretch>
            <a:fillRect/>
          </a:stretch>
        </p:blipFill>
        <p:spPr>
          <a:xfrm>
            <a:off x="6475781" y="1492301"/>
            <a:ext cx="307238" cy="307238"/>
          </a:xfrm>
          <a:prstGeom prst="rect">
            <a:avLst/>
          </a:prstGeom>
        </p:spPr>
      </p:pic>
      <p:sp>
        <p:nvSpPr>
          <p:cNvPr id="18" name="Text 13"/>
          <p:cNvSpPr txBox="1"/>
          <p:nvPr/>
        </p:nvSpPr>
        <p:spPr>
          <a:xfrm>
            <a:off x="6355080" y="2057400"/>
            <a:ext cx="2194560" cy="365760"/>
          </a:xfrm>
          <a:prstGeom prst="rect">
            <a:avLst/>
          </a:prstGeom>
          <a:noFill/>
          <a:ln/>
        </p:spPr>
        <p:txBody>
          <a:bodyPr wrap="square" lIns="0" tIns="0" rIns="0" bIns="0" rtlCol="0" anchor="t"/>
          <a:lstStyle/>
          <a:p>
            <a:pPr indent="0" marL="0">
              <a:buNone/>
            </a:pPr>
            <a:r>
              <a:rPr lang="en-US" sz="1700" b="1" dirty="0">
                <a:solidFill>
                  <a:schemeClr val="tx1"/>
                </a:solidFill>
              </a:rPr>
              <a:t>3 · Dato erróneo</a:t>
            </a:r>
            <a:endParaRPr lang="en-US" sz="1700" dirty="0"/>
          </a:p>
        </p:txBody>
      </p:sp>
      <p:sp>
        <p:nvSpPr>
          <p:cNvPr id="19" name="Text 14"/>
          <p:cNvSpPr txBox="1"/>
          <p:nvPr/>
        </p:nvSpPr>
        <p:spPr>
          <a:xfrm>
            <a:off x="6355080" y="2468880"/>
            <a:ext cx="2194560" cy="594360"/>
          </a:xfrm>
          <a:prstGeom prst="rect">
            <a:avLst/>
          </a:prstGeom>
          <a:noFill/>
          <a:ln/>
        </p:spPr>
        <p:txBody>
          <a:bodyPr wrap="square" lIns="0" tIns="0" rIns="0" bIns="0" rtlCol="0" anchor="t"/>
          <a:lstStyle/>
          <a:p>
            <a:pPr indent="0" marL="0">
              <a:buNone/>
            </a:pPr>
            <a:r>
              <a:rPr lang="en-US" sz="1300" dirty="0">
                <a:solidFill>
                  <a:schemeClr val="tx2"/>
                </a:solidFill>
              </a:rPr>
              <a:t>Altura libre del piso 1 = 350</a:t>
            </a:r>
            <a:endParaRPr lang="en-US" sz="1300" dirty="0"/>
          </a:p>
        </p:txBody>
      </p:sp>
      <p:sp>
        <p:nvSpPr>
          <p:cNvPr id="20" name="Text 15"/>
          <p:cNvSpPr txBox="1"/>
          <p:nvPr/>
        </p:nvSpPr>
        <p:spPr>
          <a:xfrm>
            <a:off x="6355080" y="3154680"/>
            <a:ext cx="2194560" cy="1188720"/>
          </a:xfrm>
          <a:prstGeom prst="rect">
            <a:avLst/>
          </a:prstGeom>
          <a:noFill/>
          <a:ln/>
        </p:spPr>
        <p:txBody>
          <a:bodyPr wrap="square" lIns="0" tIns="0" rIns="0" bIns="0" rtlCol="0" anchor="t"/>
          <a:lstStyle/>
          <a:p>
            <a:pPr indent="0" marL="0">
              <a:buNone/>
            </a:pPr>
            <a:r>
              <a:rPr lang="en-US" sz="1400" b="1" dirty="0">
                <a:solidFill>
                  <a:schemeClr val="tx1"/>
                </a:solidFill>
              </a:rPr>
              <a:t>Rechazado: fuera de [1,8; 6,0] m</a:t>
            </a:r>
            <a:endParaRPr lang="en-US" sz="1400" dirty="0"/>
          </a:p>
          <a:p>
            <a:pPr indent="0" marL="0">
              <a:buNone/>
            </a:pPr>
            <a:r>
              <a:rPr lang="en-US" sz="1400" b="1" dirty="0">
                <a:solidFill>
                  <a:schemeClr val="tx1"/>
                </a:solidFill>
              </a:rPr>
              <a:t>«¿está en centímetros?»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Reproduce el cálculo de referencia del curso</a:t>
            </a:r>
            <a:endParaRPr lang="en-US" sz="2800" dirty="0"/>
          </a:p>
        </p:txBody>
      </p:sp>
      <p:graphicFrame>
        <p:nvGraphicFramePr>
          <p:cNvPr id="9" name="tabla_validacion"/>
          <p:cNvGraphicFramePr>
            <a:graphicFrameLocks noGrp="1"/>
          </p:cNvGraphicFramePr>
          <p:nvPr>
            <p:extLst>
              <p:ext uri="{D42A27DB-BD31-4B8C-83A1-F6EECF244321}">
                <p14:modId xmlns:p14="http://schemas.microsoft.com/office/powerpoint/2010/main" val="1579011935"/>
              </p:ext>
            </p:extLst>
          </p:nvPr>
        </p:nvGraphicFramePr>
        <p:xfrm>
          <a:off x="457200" y="1188720"/>
          <a:ext cx="4297680" cy="914400"/>
        </p:xfrm>
        <a:graphic>
          <a:graphicData uri="http://schemas.openxmlformats.org/drawingml/2006/table">
            <a:tbl>
              <a:tblPr/>
              <a:tblGrid>
                <a:gridCol w="1920240"/>
                <a:gridCol w="1188720"/>
                <a:gridCol w="11887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Magnitud</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E2A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Excel + SAP2000</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E2A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Prototipo</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E2A33"/>
                    </a:solidFill>
                  </a:tcPr>
                </a:tc>
              </a:tr>
              <a:tr h="384048">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Cortante basal Vs (kN)</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EDF0F3"/>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23 250</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EDF0F3"/>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23 250</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EDF0F3"/>
                    </a:solidFill>
                  </a:tcPr>
                </a:tc>
              </a:tr>
              <a:tr h="384048">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Fuerza en cubierta Fx (kN)</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7 361</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7 361</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Deriva máx. X / Y (% hpi)</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EDF0F3"/>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0,985 / 0,991</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EDF0F3"/>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0,985 / 0,991</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EDF0F3"/>
                    </a:solidFill>
                  </a:tcPr>
                </a:tc>
              </a:tr>
              <a:tr h="384048">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Índice de estabilidad Q</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0,0165</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0,0165</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Relación torsional (1aP)</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EDF0F3"/>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1,193</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EDF0F3"/>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1,193</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EDF0F3"/>
                    </a:solidFill>
                  </a:tcPr>
                </a:tc>
              </a:tr>
              <a:tr h="384048">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Coeficiente R</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E2A33"/>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pic>
        <p:nvPicPr>
          <p:cNvPr id="4" name="derivas" descr="C:\Users\nicoi\Documents\AECODE Nexo Sismico\07 Outputs\Prototipo NSR-10\figuras\fig_derivas_caso_curso.png">    </p:cNvPr>
          <p:cNvPicPr>
            <a:picLocks noChangeAspect="1"/>
          </p:cNvPicPr>
          <p:nvPr/>
        </p:nvPicPr>
        <p:blipFill>
          <a:blip r:embed="rId1"/>
          <a:srcRect l="0" r="0" t="0" b="0"/>
          <a:stretch/>
        </p:blipFill>
        <p:spPr>
          <a:xfrm>
            <a:off x="4983480" y="1097280"/>
            <a:ext cx="3703320" cy="2743200"/>
          </a:xfrm>
          <a:prstGeom prst="rect">
            <a:avLst/>
          </a:prstGeom>
        </p:spPr>
      </p:pic>
      <p:sp>
        <p:nvSpPr>
          <p:cNvPr id="5" name="Text 1"/>
          <p:cNvSpPr txBox="1"/>
          <p:nvPr/>
        </p:nvSpPr>
        <p:spPr>
          <a:xfrm>
            <a:off x="4983480" y="3931920"/>
            <a:ext cx="3703320" cy="640080"/>
          </a:xfrm>
          <a:prstGeom prst="rect">
            <a:avLst/>
          </a:prstGeom>
          <a:noFill/>
          <a:ln/>
        </p:spPr>
        <p:txBody>
          <a:bodyPr wrap="square" lIns="0" tIns="0" rIns="0" bIns="0" rtlCol="0" anchor="t"/>
          <a:lstStyle/>
          <a:p>
            <a:pPr indent="0" marL="0">
              <a:buNone/>
            </a:pPr>
            <a:r>
              <a:rPr lang="en-US" sz="1100" i="1" dirty="0">
                <a:solidFill>
                  <a:schemeClr val="tx2"/>
                </a:solidFill>
              </a:rPr>
              <a:t>Envolvente de 12 combinaciones en las esquinas E5 y A1. La relación torsional (1,193) queda cerca del umbral 1,2 de irregularidad.</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E.030: Random Forest acierta la deriva con R² 0,99</a:t>
            </a:r>
            <a:endParaRPr lang="en-US" sz="2800" dirty="0"/>
          </a:p>
        </p:txBody>
      </p:sp>
      <p:pic>
        <p:nvPicPr>
          <p:cNvPr id="3" name="e030_calc_pred" descr="C:\Users\nicoi\Documents\AECODE Nexo Sismico\07 Outputs\E030\fig_e030_calculado_vs_predicho.png">    </p:cNvPr>
          <p:cNvPicPr>
            <a:picLocks noChangeAspect="1"/>
          </p:cNvPicPr>
          <p:nvPr/>
        </p:nvPicPr>
        <p:blipFill>
          <a:blip r:embed="rId1"/>
          <a:stretch>
            <a:fillRect/>
          </a:stretch>
        </p:blipFill>
        <p:spPr>
          <a:xfrm>
            <a:off x="457200" y="1097280"/>
            <a:ext cx="5120640" cy="2276856"/>
          </a:xfrm>
          <a:prstGeom prst="rect">
            <a:avLst/>
          </a:prstGeom>
        </p:spPr>
      </p:pic>
      <p:sp>
        <p:nvSpPr>
          <p:cNvPr id="4" name="Text 1"/>
          <p:cNvSpPr txBox="1"/>
          <p:nvPr/>
        </p:nvSpPr>
        <p:spPr>
          <a:xfrm>
            <a:off x="457200" y="3520440"/>
            <a:ext cx="5120640" cy="685800"/>
          </a:xfrm>
          <a:prstGeom prst="rect">
            <a:avLst/>
          </a:prstGeom>
          <a:noFill/>
          <a:ln/>
        </p:spPr>
        <p:txBody>
          <a:bodyPr wrap="square" lIns="0" tIns="0" rIns="0" bIns="0" rtlCol="0" anchor="t"/>
          <a:lstStyle/>
          <a:p>
            <a:pPr indent="0" marL="0">
              <a:buNone/>
            </a:pPr>
            <a:r>
              <a:rPr lang="en-US" sz="1100" i="1" dirty="0">
                <a:solidFill>
                  <a:schemeClr val="tx2"/>
                </a:solidFill>
              </a:rPr>
              <a:t>Prueba única en 300 familias nunca vistas (1 200 para entrenar). Gradient Boosting, como comparación: R² 0,995, MAE 0,026 %, 139 de 146 excedencias.</a:t>
            </a:r>
            <a:endParaRPr lang="en-US" sz="1100" dirty="0"/>
          </a:p>
        </p:txBody>
      </p:sp>
      <p:sp>
        <p:nvSpPr>
          <p:cNvPr id="5" name="stat"/>
          <p:cNvSpPr/>
          <p:nvPr/>
        </p:nvSpPr>
        <p:spPr>
          <a:xfrm>
            <a:off x="5852160" y="1097280"/>
            <a:ext cx="2834640" cy="1463040"/>
          </a:xfrm>
          <a:prstGeom prst="roundRect">
            <a:avLst>
              <a:gd name="adj" fmla="val 5000"/>
            </a:avLst>
          </a:prstGeom>
          <a:solidFill>
            <a:schemeClr val="bg2"/>
          </a:solidFill>
          <a:ln w="12700">
            <a:solidFill>
              <a:schemeClr val="bg2"/>
            </a:solidFill>
            <a:prstDash val="solid"/>
          </a:ln>
        </p:spPr>
      </p:sp>
      <p:sp>
        <p:nvSpPr>
          <p:cNvPr id="6" name="Text 3"/>
          <p:cNvSpPr txBox="1"/>
          <p:nvPr/>
        </p:nvSpPr>
        <p:spPr>
          <a:xfrm>
            <a:off x="6035040" y="1188720"/>
            <a:ext cx="2560320" cy="73152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0,040 %</a:t>
            </a:r>
            <a:endParaRPr lang="en-US" sz="3600" dirty="0"/>
          </a:p>
        </p:txBody>
      </p:sp>
      <p:sp>
        <p:nvSpPr>
          <p:cNvPr id="7" name="Text 4"/>
          <p:cNvSpPr txBox="1"/>
          <p:nvPr/>
        </p:nvSpPr>
        <p:spPr>
          <a:xfrm>
            <a:off x="6035040" y="1920240"/>
            <a:ext cx="2560320" cy="548640"/>
          </a:xfrm>
          <a:prstGeom prst="rect">
            <a:avLst/>
          </a:prstGeom>
          <a:noFill/>
          <a:ln/>
        </p:spPr>
        <p:txBody>
          <a:bodyPr wrap="square" lIns="0" tIns="0" rIns="0" bIns="0" rtlCol="0" anchor="t"/>
          <a:lstStyle/>
          <a:p>
            <a:pPr indent="0" marL="0">
              <a:buNone/>
            </a:pPr>
            <a:r>
              <a:rPr lang="en-US" sz="1300" dirty="0">
                <a:solidFill>
                  <a:schemeClr val="tx2"/>
                </a:solidFill>
              </a:rPr>
              <a:t>error medio de deriva (X e Y), en % de la altura de piso</a:t>
            </a:r>
            <a:endParaRPr lang="en-US" sz="1300" dirty="0"/>
          </a:p>
        </p:txBody>
      </p:sp>
      <p:sp>
        <p:nvSpPr>
          <p:cNvPr id="8" name="stat"/>
          <p:cNvSpPr/>
          <p:nvPr/>
        </p:nvSpPr>
        <p:spPr>
          <a:xfrm>
            <a:off x="5852160" y="2743200"/>
            <a:ext cx="2834640" cy="1463040"/>
          </a:xfrm>
          <a:prstGeom prst="roundRect">
            <a:avLst>
              <a:gd name="adj" fmla="val 5000"/>
            </a:avLst>
          </a:prstGeom>
          <a:solidFill>
            <a:schemeClr val="bg2"/>
          </a:solidFill>
          <a:ln w="12700">
            <a:solidFill>
              <a:schemeClr val="bg2"/>
            </a:solidFill>
            <a:prstDash val="solid"/>
          </a:ln>
        </p:spPr>
      </p:sp>
      <p:sp>
        <p:nvSpPr>
          <p:cNvPr id="9" name="Text 6"/>
          <p:cNvSpPr txBox="1"/>
          <p:nvPr/>
        </p:nvSpPr>
        <p:spPr>
          <a:xfrm>
            <a:off x="6035040" y="2834640"/>
            <a:ext cx="2560320" cy="73152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137 de 146</a:t>
            </a:r>
            <a:endParaRPr lang="en-US" sz="3600" dirty="0"/>
          </a:p>
        </p:txBody>
      </p:sp>
      <p:sp>
        <p:nvSpPr>
          <p:cNvPr id="10" name="Text 7"/>
          <p:cNvSpPr txBox="1"/>
          <p:nvPr/>
        </p:nvSpPr>
        <p:spPr>
          <a:xfrm>
            <a:off x="6035040" y="3566160"/>
            <a:ext cx="2560320" cy="548640"/>
          </a:xfrm>
          <a:prstGeom prst="rect">
            <a:avLst/>
          </a:prstGeom>
          <a:noFill/>
          <a:ln/>
        </p:spPr>
        <p:txBody>
          <a:bodyPr wrap="square" lIns="0" tIns="0" rIns="0" bIns="0" rtlCol="0" anchor="t"/>
          <a:lstStyle/>
          <a:p>
            <a:pPr indent="0" marL="0">
              <a:buNone/>
            </a:pPr>
            <a:r>
              <a:rPr lang="en-US" sz="1300" dirty="0">
                <a:solidFill>
                  <a:schemeClr val="tx2"/>
                </a:solidFill>
              </a:rPr>
              <a:t>edificios que exceden 0,7 % detectados; 2 falsas alarmas</a:t>
            </a:r>
            <a:endParaRPr lang="en-US" sz="1300" dirty="0"/>
          </a:p>
        </p:txBody>
      </p:sp>
      <p:sp>
        <p:nvSpPr>
          <p:cNvPr id="11" name="Text 8"/>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100" i="1" dirty="0">
                <a:solidFill>
                  <a:schemeClr val="accent2"/>
                </a:solidFill>
              </a:rPr>
              <a:t>Los no detectados tienen derivas reales de 0,70 % a 0,76 %: justo en el límite.</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Base NSR-10: 18 edificios teóricos + 1 verificado</a:t>
            </a:r>
            <a:endParaRPr lang="en-US" sz="2800" dirty="0"/>
          </a:p>
        </p:txBody>
      </p:sp>
      <p:sp>
        <p:nvSpPr>
          <p:cNvPr id="3" name="Text 1"/>
          <p:cNvSpPr txBox="1"/>
          <p:nvPr/>
        </p:nvSpPr>
        <p:spPr>
          <a:xfrm>
            <a:off x="457200" y="1188720"/>
            <a:ext cx="2560320" cy="77724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18</a:t>
            </a:r>
            <a:endParaRPr lang="en-US" sz="4800" dirty="0"/>
          </a:p>
        </p:txBody>
      </p:sp>
      <p:sp>
        <p:nvSpPr>
          <p:cNvPr id="4" name="Text 2"/>
          <p:cNvSpPr txBox="1"/>
          <p:nvPr/>
        </p:nvSpPr>
        <p:spPr>
          <a:xfrm>
            <a:off x="457200" y="1965960"/>
            <a:ext cx="2560320" cy="548640"/>
          </a:xfrm>
          <a:prstGeom prst="rect">
            <a:avLst/>
          </a:prstGeom>
          <a:noFill/>
          <a:ln/>
        </p:spPr>
        <p:txBody>
          <a:bodyPr wrap="square" lIns="0" tIns="0" rIns="0" bIns="0" rtlCol="0" anchor="t"/>
          <a:lstStyle/>
          <a:p>
            <a:pPr indent="0" marL="0">
              <a:buNone/>
            </a:pPr>
            <a:r>
              <a:rPr lang="en-US" sz="1400" dirty="0">
                <a:solidFill>
                  <a:schemeClr val="tx2"/>
                </a:solidFill>
              </a:rPr>
              <a:t>edificios del Prof. T. F. Rojas Vallejo (OpenSees)</a:t>
            </a:r>
            <a:endParaRPr lang="en-US" sz="1400" dirty="0"/>
          </a:p>
        </p:txBody>
      </p:sp>
      <p:sp>
        <p:nvSpPr>
          <p:cNvPr id="5" name="Text 3"/>
          <p:cNvSpPr txBox="1"/>
          <p:nvPr/>
        </p:nvSpPr>
        <p:spPr>
          <a:xfrm>
            <a:off x="3291840" y="1188720"/>
            <a:ext cx="2560320" cy="77724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9</a:t>
            </a:r>
            <a:endParaRPr lang="en-US" sz="4800" dirty="0"/>
          </a:p>
        </p:txBody>
      </p:sp>
      <p:sp>
        <p:nvSpPr>
          <p:cNvPr id="6" name="Text 4"/>
          <p:cNvSpPr txBox="1"/>
          <p:nvPr/>
        </p:nvSpPr>
        <p:spPr>
          <a:xfrm>
            <a:off x="3291840" y="1965960"/>
            <a:ext cx="2560320" cy="548640"/>
          </a:xfrm>
          <a:prstGeom prst="rect">
            <a:avLst/>
          </a:prstGeom>
          <a:noFill/>
          <a:ln/>
        </p:spPr>
        <p:txBody>
          <a:bodyPr wrap="square" lIns="0" tIns="0" rIns="0" bIns="0" rtlCol="0" anchor="t"/>
          <a:lstStyle/>
          <a:p>
            <a:pPr indent="0" marL="0">
              <a:buNone/>
            </a:pPr>
            <a:r>
              <a:rPr lang="en-US" sz="1400" dirty="0">
                <a:solidFill>
                  <a:schemeClr val="tx2"/>
                </a:solidFill>
              </a:rPr>
              <a:t>plantas, 4 a 10 pisos, Bogotá, DES</a:t>
            </a:r>
            <a:endParaRPr lang="en-US" sz="1400" dirty="0"/>
          </a:p>
        </p:txBody>
      </p:sp>
      <p:sp>
        <p:nvSpPr>
          <p:cNvPr id="7" name="Text 5"/>
          <p:cNvSpPr txBox="1"/>
          <p:nvPr/>
        </p:nvSpPr>
        <p:spPr>
          <a:xfrm>
            <a:off x="6126480" y="1188720"/>
            <a:ext cx="2560320" cy="77724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a:t>
            </a:r>
            <a:endParaRPr lang="en-US" sz="4800" dirty="0"/>
          </a:p>
        </p:txBody>
      </p:sp>
      <p:sp>
        <p:nvSpPr>
          <p:cNvPr id="8" name="Text 6"/>
          <p:cNvSpPr txBox="1"/>
          <p:nvPr/>
        </p:nvSpPr>
        <p:spPr>
          <a:xfrm>
            <a:off x="6126480" y="1965960"/>
            <a:ext cx="2560320" cy="548640"/>
          </a:xfrm>
          <a:prstGeom prst="rect">
            <a:avLst/>
          </a:prstGeom>
          <a:noFill/>
          <a:ln/>
        </p:spPr>
        <p:txBody>
          <a:bodyPr wrap="square" lIns="0" tIns="0" rIns="0" bIns="0" rtlCol="0" anchor="t"/>
          <a:lstStyle/>
          <a:p>
            <a:pPr indent="0" marL="0">
              <a:buNone/>
            </a:pPr>
            <a:r>
              <a:rPr lang="en-US" sz="1400" dirty="0">
                <a:solidFill>
                  <a:schemeClr val="tx2"/>
                </a:solidFill>
              </a:rPr>
              <a:t>caso del curso verificado con SAP2000</a:t>
            </a:r>
            <a:endParaRPr lang="en-US" sz="1400" dirty="0"/>
          </a:p>
        </p:txBody>
      </p:sp>
      <p:sp>
        <p:nvSpPr>
          <p:cNvPr id="9" name="nota_profesor"/>
          <p:cNvSpPr/>
          <p:nvPr/>
        </p:nvSpPr>
        <p:spPr>
          <a:xfrm>
            <a:off x="457200" y="2788920"/>
            <a:ext cx="8229600" cy="1691640"/>
          </a:xfrm>
          <a:prstGeom prst="roundRect">
            <a:avLst>
              <a:gd name="adj" fmla="val 4324"/>
            </a:avLst>
          </a:prstGeom>
          <a:solidFill>
            <a:srgbClr val="EDF0F3"/>
          </a:solidFill>
          <a:ln w="12700">
            <a:solidFill>
              <a:srgbClr val="EDF0F3"/>
            </a:solidFill>
            <a:prstDash val="solid"/>
          </a:ln>
        </p:spPr>
      </p:sp>
      <p:sp>
        <p:nvSpPr>
          <p:cNvPr id="10" name="badge"/>
          <p:cNvSpPr/>
          <p:nvPr/>
        </p:nvSpPr>
        <p:spPr>
          <a:xfrm>
            <a:off x="685800" y="3017520"/>
            <a:ext cx="502920" cy="502920"/>
          </a:xfrm>
          <a:prstGeom prst="ellipse">
            <a:avLst/>
          </a:prstGeom>
          <a:solidFill>
            <a:schemeClr val="accent5"/>
          </a:solidFill>
          <a:ln w="12700">
            <a:solidFill>
              <a:schemeClr val="accent5"/>
            </a:solidFill>
            <a:prstDash val="solid"/>
          </a:ln>
        </p:spPr>
      </p:sp>
      <p:pic>
        <p:nvPicPr>
          <p:cNvPr id="11" name="icono" descr="preencoded.png">    </p:cNvPr>
          <p:cNvPicPr>
            <a:picLocks noChangeAspect="1"/>
          </p:cNvPicPr>
          <p:nvPr/>
        </p:nvPicPr>
        <p:blipFill>
          <a:blip r:embed="rId1"/>
          <a:stretch>
            <a:fillRect/>
          </a:stretch>
        </p:blipFill>
        <p:spPr>
          <a:xfrm>
            <a:off x="796442" y="3128162"/>
            <a:ext cx="281635" cy="281635"/>
          </a:xfrm>
          <a:prstGeom prst="rect">
            <a:avLst/>
          </a:prstGeom>
        </p:spPr>
      </p:pic>
      <p:sp>
        <p:nvSpPr>
          <p:cNvPr id="12" name="Text 9"/>
          <p:cNvSpPr txBox="1"/>
          <p:nvPr/>
        </p:nvSpPr>
        <p:spPr>
          <a:xfrm>
            <a:off x="1371600" y="3017520"/>
            <a:ext cx="7132320" cy="320040"/>
          </a:xfrm>
          <a:prstGeom prst="rect">
            <a:avLst/>
          </a:prstGeom>
          <a:noFill/>
          <a:ln/>
        </p:spPr>
        <p:txBody>
          <a:bodyPr wrap="square" lIns="0" tIns="0" rIns="0" bIns="0" rtlCol="0" anchor="t"/>
          <a:lstStyle/>
          <a:p>
            <a:pPr indent="0" marL="0">
              <a:buNone/>
            </a:pPr>
            <a:r>
              <a:rPr lang="en-US" sz="1500" b="1" dirty="0">
                <a:solidFill>
                  <a:schemeClr val="tx1"/>
                </a:solidFill>
              </a:rPr>
              <a:t>Nota del profesor</a:t>
            </a:r>
            <a:endParaRPr lang="en-US" sz="1500" dirty="0"/>
          </a:p>
        </p:txBody>
      </p:sp>
      <p:sp>
        <p:nvSpPr>
          <p:cNvPr id="13" name="Text 10"/>
          <p:cNvSpPr txBox="1"/>
          <p:nvPr/>
        </p:nvSpPr>
        <p:spPr>
          <a:xfrm>
            <a:off x="1371600" y="3383280"/>
            <a:ext cx="7132320" cy="1005840"/>
          </a:xfrm>
          <a:prstGeom prst="rect">
            <a:avLst/>
          </a:prstGeom>
          <a:noFill/>
          <a:ln/>
        </p:spPr>
        <p:txBody>
          <a:bodyPr wrap="square" lIns="0" tIns="0" rIns="0" bIns="0" rtlCol="0" anchor="t"/>
          <a:lstStyle/>
          <a:p>
            <a:pPr indent="0" marL="0">
              <a:buNone/>
            </a:pPr>
            <a:r>
              <a:rPr lang="en-US" sz="1300" dirty="0">
                <a:solidFill>
                  <a:schemeClr val="tx2"/>
                </a:solidFill>
              </a:rPr>
              <a:t>Varios resultados son teóricos: algunas plantas y luces no se resolverían con pórticos resistentes a momento en la práctica. Las plantas ausentes fallaron en el dimensionamiento del algoritmo de OpenSees. Por eso estos datos sirven para entrenar y comparar, no como diseños.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NSR-10: con 18 edificios, −39 % de error de deriva</a:t>
            </a:r>
            <a:endParaRPr lang="en-US" sz="2800" dirty="0"/>
          </a:p>
        </p:txBody>
      </p:sp>
      <p:graphicFrame>
        <p:nvGraphicFramePr>
          <p:cNvPr id="3" name="grafico_mae" descr=""/>
          <p:cNvGraphicFramePr/>
          <p:nvPr/>
        </p:nvGraphicFramePr>
        <p:xfrm>
          <a:off x="45720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stat"/>
          <p:cNvSpPr/>
          <p:nvPr/>
        </p:nvSpPr>
        <p:spPr>
          <a:xfrm>
            <a:off x="5852160" y="1188720"/>
            <a:ext cx="2834640" cy="146304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6035040" y="1280160"/>
            <a:ext cx="256032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−39 %</a:t>
            </a:r>
            <a:endParaRPr lang="en-US" sz="4000" dirty="0"/>
          </a:p>
        </p:txBody>
      </p:sp>
      <p:sp>
        <p:nvSpPr>
          <p:cNvPr id="6" name="Text 3"/>
          <p:cNvSpPr txBox="1"/>
          <p:nvPr/>
        </p:nvSpPr>
        <p:spPr>
          <a:xfrm>
            <a:off x="6035040" y="2011680"/>
            <a:ext cx="2560320" cy="548640"/>
          </a:xfrm>
          <a:prstGeom prst="rect">
            <a:avLst/>
          </a:prstGeom>
          <a:noFill/>
          <a:ln/>
        </p:spPr>
        <p:txBody>
          <a:bodyPr wrap="square" lIns="0" tIns="0" rIns="0" bIns="0" rtlCol="0" anchor="t"/>
          <a:lstStyle/>
          <a:p>
            <a:pPr indent="0" marL="0">
              <a:buNone/>
            </a:pPr>
            <a:r>
              <a:rPr lang="en-US" sz="1300" dirty="0">
                <a:solidFill>
                  <a:schemeClr val="tx2"/>
                </a:solidFill>
              </a:rPr>
              <a:t>error de deriva frente a predecir la media</a:t>
            </a:r>
            <a:endParaRPr lang="en-US" sz="1300" dirty="0"/>
          </a:p>
        </p:txBody>
      </p:sp>
      <p:sp>
        <p:nvSpPr>
          <p:cNvPr id="7" name="stat"/>
          <p:cNvSpPr/>
          <p:nvPr/>
        </p:nvSpPr>
        <p:spPr>
          <a:xfrm>
            <a:off x="5852160" y="2926080"/>
            <a:ext cx="2834640" cy="1463040"/>
          </a:xfrm>
          <a:prstGeom prst="roundRect">
            <a:avLst>
              <a:gd name="adj" fmla="val 5000"/>
            </a:avLst>
          </a:prstGeom>
          <a:solidFill>
            <a:schemeClr val="bg2"/>
          </a:solidFill>
          <a:ln w="12700">
            <a:solidFill>
              <a:schemeClr val="bg2"/>
            </a:solidFill>
            <a:prstDash val="solid"/>
          </a:ln>
        </p:spPr>
      </p:sp>
      <p:sp>
        <p:nvSpPr>
          <p:cNvPr id="8" name="Text 5"/>
          <p:cNvSpPr txBox="1"/>
          <p:nvPr/>
        </p:nvSpPr>
        <p:spPr>
          <a:xfrm>
            <a:off x="6035040" y="3017520"/>
            <a:ext cx="256032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32 ms</a:t>
            </a:r>
            <a:endParaRPr lang="en-US" sz="4000" dirty="0"/>
          </a:p>
        </p:txBody>
      </p:sp>
      <p:sp>
        <p:nvSpPr>
          <p:cNvPr id="9" name="Text 6"/>
          <p:cNvSpPr txBox="1"/>
          <p:nvPr/>
        </p:nvSpPr>
        <p:spPr>
          <a:xfrm>
            <a:off x="6035040" y="3749040"/>
            <a:ext cx="2560320" cy="548640"/>
          </a:xfrm>
          <a:prstGeom prst="rect">
            <a:avLst/>
          </a:prstGeom>
          <a:noFill/>
          <a:ln/>
        </p:spPr>
        <p:txBody>
          <a:bodyPr wrap="square" lIns="0" tIns="0" rIns="0" bIns="0" rtlCol="0" anchor="t"/>
          <a:lstStyle/>
          <a:p>
            <a:pPr indent="0" marL="0">
              <a:buNone/>
            </a:pPr>
            <a:r>
              <a:rPr lang="en-US" sz="1300" dirty="0">
                <a:solidFill>
                  <a:schemeClr val="tx2"/>
                </a:solidFill>
              </a:rPr>
              <a:t>por predicción; entrenar toma 0,4 s</a:t>
            </a:r>
            <a:endParaRPr lang="en-US" sz="1300" dirty="0"/>
          </a:p>
        </p:txBody>
      </p:sp>
      <p:sp>
        <p:nvSpPr>
          <p:cNvPr id="10" name="Text 7"/>
          <p:cNvSpPr txBox="1"/>
          <p:nvPr/>
        </p:nvSpPr>
        <p:spPr>
          <a:xfrm>
            <a:off x="457200" y="4526280"/>
            <a:ext cx="5120640" cy="228600"/>
          </a:xfrm>
          <a:prstGeom prst="rect">
            <a:avLst/>
          </a:prstGeom>
          <a:noFill/>
          <a:ln/>
        </p:spPr>
        <p:txBody>
          <a:bodyPr wrap="square" lIns="0" tIns="0" rIns="0" bIns="0" rtlCol="0" anchor="t"/>
          <a:lstStyle/>
          <a:p>
            <a:pPr indent="0" marL="0">
              <a:buNone/>
            </a:pPr>
            <a:r>
              <a:rPr lang="en-US" sz="1000" i="1" dirty="0">
                <a:solidFill>
                  <a:schemeClr val="accent2"/>
                </a:solidFill>
              </a:rPr>
              <a:t>Validación dejando una planta completa fuera (9 pliegues).</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NSR-10: con pocos datos, útil solo para priorizar</a:t>
            </a:r>
            <a:endParaRPr lang="en-US" sz="2800" dirty="0"/>
          </a:p>
        </p:txBody>
      </p:sp>
      <p:pic>
        <p:nvPicPr>
          <p:cNvPr id="3" name="calc_pred" descr="C:\Users\nicoi\Documents\AECODE Nexo Sismico\07 Outputs\Prototipo NSR-10\figuras\fig_calculado_vs_predicho.png">    </p:cNvPr>
          <p:cNvPicPr>
            <a:picLocks noChangeAspect="1"/>
          </p:cNvPicPr>
          <p:nvPr/>
        </p:nvPicPr>
        <p:blipFill>
          <a:blip r:embed="rId1"/>
          <a:srcRect l="0" r="0" t="0" b="0"/>
          <a:stretch/>
        </p:blipFill>
        <p:spPr>
          <a:xfrm>
            <a:off x="457200" y="1097280"/>
            <a:ext cx="5120640" cy="2743200"/>
          </a:xfrm>
          <a:prstGeom prst="rect">
            <a:avLst/>
          </a:prstGeom>
        </p:spPr>
      </p:pic>
      <p:sp>
        <p:nvSpPr>
          <p:cNvPr id="4" name="Text 1"/>
          <p:cNvSpPr txBox="1"/>
          <p:nvPr/>
        </p:nvSpPr>
        <p:spPr>
          <a:xfrm>
            <a:off x="457200" y="3931920"/>
            <a:ext cx="5120640" cy="457200"/>
          </a:xfrm>
          <a:prstGeom prst="rect">
            <a:avLst/>
          </a:prstGeom>
          <a:noFill/>
          <a:ln/>
        </p:spPr>
        <p:txBody>
          <a:bodyPr wrap="square" lIns="0" tIns="0" rIns="0" bIns="0" rtlCol="0" anchor="t"/>
          <a:lstStyle/>
          <a:p>
            <a:pPr indent="0" marL="0">
              <a:buNone/>
            </a:pPr>
            <a:r>
              <a:rPr lang="en-US" sz="1100" i="1" dirty="0">
                <a:solidFill>
                  <a:schemeClr val="tx2"/>
                </a:solidFill>
              </a:rPr>
              <a:t>Deriva calculada (OpenSees, profesor) frente a predicha por Random Forest en plantas no vistas.</a:t>
            </a:r>
            <a:endParaRPr lang="en-US" sz="1100" dirty="0"/>
          </a:p>
        </p:txBody>
      </p:sp>
      <p:sp>
        <p:nvSpPr>
          <p:cNvPr id="5" name="Text 2"/>
          <p:cNvSpPr txBox="1"/>
          <p:nvPr/>
        </p:nvSpPr>
        <p:spPr>
          <a:xfrm>
            <a:off x="5852160" y="1188720"/>
            <a:ext cx="2834640" cy="77724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3 de 7</a:t>
            </a:r>
            <a:endParaRPr lang="en-US" sz="4800" dirty="0"/>
          </a:p>
        </p:txBody>
      </p:sp>
      <p:sp>
        <p:nvSpPr>
          <p:cNvPr id="6" name="Text 3"/>
          <p:cNvSpPr txBox="1"/>
          <p:nvPr/>
        </p:nvSpPr>
        <p:spPr>
          <a:xfrm>
            <a:off x="5852160" y="1965960"/>
            <a:ext cx="2834640" cy="548640"/>
          </a:xfrm>
          <a:prstGeom prst="rect">
            <a:avLst/>
          </a:prstGeom>
          <a:noFill/>
          <a:ln/>
        </p:spPr>
        <p:txBody>
          <a:bodyPr wrap="square" lIns="0" tIns="0" rIns="0" bIns="0" rtlCol="0" anchor="t"/>
          <a:lstStyle/>
          <a:p>
            <a:pPr indent="0" marL="0">
              <a:buNone/>
            </a:pPr>
            <a:r>
              <a:rPr lang="en-US" sz="1400" dirty="0">
                <a:solidFill>
                  <a:schemeClr val="tx2"/>
                </a:solidFill>
              </a:rPr>
              <a:t>edificios con deriva ≥ 0,90 % detectados por el modelo</a:t>
            </a:r>
            <a:endParaRPr lang="en-US" sz="1400" dirty="0"/>
          </a:p>
        </p:txBody>
      </p:sp>
      <p:sp>
        <p:nvSpPr>
          <p:cNvPr id="7" name="Text 4"/>
          <p:cNvSpPr txBox="1"/>
          <p:nvPr/>
        </p:nvSpPr>
        <p:spPr>
          <a:xfrm>
            <a:off x="5852160" y="2697480"/>
            <a:ext cx="2834640" cy="77724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0</a:t>
            </a:r>
            <a:endParaRPr lang="en-US" sz="4800" dirty="0"/>
          </a:p>
        </p:txBody>
      </p:sp>
      <p:sp>
        <p:nvSpPr>
          <p:cNvPr id="8" name="Text 5"/>
          <p:cNvSpPr txBox="1"/>
          <p:nvPr/>
        </p:nvSpPr>
        <p:spPr>
          <a:xfrm>
            <a:off x="5852160" y="3474720"/>
            <a:ext cx="2834640" cy="731520"/>
          </a:xfrm>
          <a:prstGeom prst="rect">
            <a:avLst/>
          </a:prstGeom>
          <a:noFill/>
          <a:ln/>
        </p:spPr>
        <p:txBody>
          <a:bodyPr wrap="square" lIns="0" tIns="0" rIns="0" bIns="0" rtlCol="0" anchor="t"/>
          <a:lstStyle/>
          <a:p>
            <a:pPr indent="0" marL="0">
              <a:buNone/>
            </a:pPr>
            <a:r>
              <a:rPr lang="en-US" sz="1400" dirty="0">
                <a:solidFill>
                  <a:schemeClr val="tx2"/>
                </a:solidFill>
              </a:rPr>
              <a:t>falsas alarmas; el modelo subestima los casos más cercanos al límite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Limitaciones que condicionan los resultados</a:t>
            </a:r>
            <a:endParaRPr lang="en-US" sz="2800" dirty="0"/>
          </a:p>
        </p:txBody>
      </p:sp>
      <p:sp>
        <p:nvSpPr>
          <p:cNvPr id="3" name="badge"/>
          <p:cNvSpPr/>
          <p:nvPr/>
        </p:nvSpPr>
        <p:spPr>
          <a:xfrm>
            <a:off x="457200" y="1280160"/>
            <a:ext cx="548640" cy="548640"/>
          </a:xfrm>
          <a:prstGeom prst="ellipse">
            <a:avLst/>
          </a:prstGeom>
          <a:solidFill>
            <a:schemeClr val="accent2"/>
          </a:solidFill>
          <a:ln w="12700">
            <a:solidFill>
              <a:schemeClr val="accent2"/>
            </a:solidFill>
            <a:prstDash val="solid"/>
          </a:ln>
        </p:spPr>
      </p:sp>
      <p:pic>
        <p:nvPicPr>
          <p:cNvPr id="4" name="icono" descr="preencoded.png">    </p:cNvPr>
          <p:cNvPicPr>
            <a:picLocks noChangeAspect="1"/>
          </p:cNvPicPr>
          <p:nvPr/>
        </p:nvPicPr>
        <p:blipFill>
          <a:blip r:embed="rId1"/>
          <a:stretch>
            <a:fillRect/>
          </a:stretch>
        </p:blipFill>
        <p:spPr>
          <a:xfrm>
            <a:off x="577901" y="1400861"/>
            <a:ext cx="307238" cy="307238"/>
          </a:xfrm>
          <a:prstGeom prst="rect">
            <a:avLst/>
          </a:prstGeom>
        </p:spPr>
      </p:pic>
      <p:sp>
        <p:nvSpPr>
          <p:cNvPr id="5" name="Text 2"/>
          <p:cNvSpPr txBox="1"/>
          <p:nvPr/>
        </p:nvSpPr>
        <p:spPr>
          <a:xfrm>
            <a:off x="1188720" y="1234440"/>
            <a:ext cx="3200400" cy="365760"/>
          </a:xfrm>
          <a:prstGeom prst="rect">
            <a:avLst/>
          </a:prstGeom>
          <a:noFill/>
          <a:ln/>
        </p:spPr>
        <p:txBody>
          <a:bodyPr wrap="square" lIns="0" tIns="0" rIns="0" bIns="0" rtlCol="0" anchor="t"/>
          <a:lstStyle/>
          <a:p>
            <a:pPr indent="0" marL="0">
              <a:buNone/>
            </a:pPr>
            <a:r>
              <a:rPr lang="en-US" sz="1600" b="1" dirty="0">
                <a:solidFill>
                  <a:schemeClr val="tx1"/>
                </a:solidFill>
              </a:rPr>
              <a:t>Base NSR-10 pequeña y teórica</a:t>
            </a:r>
            <a:endParaRPr lang="en-US" sz="1600" dirty="0"/>
          </a:p>
        </p:txBody>
      </p:sp>
      <p:sp>
        <p:nvSpPr>
          <p:cNvPr id="6" name="Text 3"/>
          <p:cNvSpPr txBox="1"/>
          <p:nvPr/>
        </p:nvSpPr>
        <p:spPr>
          <a:xfrm>
            <a:off x="1188720" y="1645920"/>
            <a:ext cx="3200400" cy="822960"/>
          </a:xfrm>
          <a:prstGeom prst="rect">
            <a:avLst/>
          </a:prstGeom>
          <a:noFill/>
          <a:ln/>
        </p:spPr>
        <p:txBody>
          <a:bodyPr wrap="square" lIns="0" tIns="0" rIns="0" bIns="0" rtlCol="0" anchor="t"/>
          <a:lstStyle/>
          <a:p>
            <a:pPr indent="0" marL="0">
              <a:buNone/>
            </a:pPr>
            <a:r>
              <a:rPr lang="en-US" sz="1400" dirty="0">
                <a:solidFill>
                  <a:schemeClr val="tx2"/>
                </a:solidFill>
              </a:rPr>
              <a:t>18 edificios; varias configuraciones no serían viables en pórticos reales</a:t>
            </a:r>
            <a:endParaRPr lang="en-US" sz="1400" dirty="0"/>
          </a:p>
        </p:txBody>
      </p:sp>
      <p:sp>
        <p:nvSpPr>
          <p:cNvPr id="7" name="badge"/>
          <p:cNvSpPr/>
          <p:nvPr/>
        </p:nvSpPr>
        <p:spPr>
          <a:xfrm>
            <a:off x="4663440" y="1280160"/>
            <a:ext cx="548640" cy="548640"/>
          </a:xfrm>
          <a:prstGeom prst="ellipse">
            <a:avLst/>
          </a:prstGeom>
          <a:solidFill>
            <a:schemeClr val="accent2"/>
          </a:solidFill>
          <a:ln w="12700">
            <a:solidFill>
              <a:schemeClr val="accent2"/>
            </a:solidFill>
            <a:prstDash val="solid"/>
          </a:ln>
        </p:spPr>
      </p:sp>
      <p:pic>
        <p:nvPicPr>
          <p:cNvPr id="8" name="icono" descr="preencoded.png">    </p:cNvPr>
          <p:cNvPicPr>
            <a:picLocks noChangeAspect="1"/>
          </p:cNvPicPr>
          <p:nvPr/>
        </p:nvPicPr>
        <p:blipFill>
          <a:blip r:embed="rId2"/>
          <a:stretch>
            <a:fillRect/>
          </a:stretch>
        </p:blipFill>
        <p:spPr>
          <a:xfrm>
            <a:off x="4784141" y="1400861"/>
            <a:ext cx="307238" cy="307238"/>
          </a:xfrm>
          <a:prstGeom prst="rect">
            <a:avLst/>
          </a:prstGeom>
        </p:spPr>
      </p:pic>
      <p:sp>
        <p:nvSpPr>
          <p:cNvPr id="9" name="Text 5"/>
          <p:cNvSpPr txBox="1"/>
          <p:nvPr/>
        </p:nvSpPr>
        <p:spPr>
          <a:xfrm>
            <a:off x="5394960" y="1234440"/>
            <a:ext cx="3200400" cy="365760"/>
          </a:xfrm>
          <a:prstGeom prst="rect">
            <a:avLst/>
          </a:prstGeom>
          <a:noFill/>
          <a:ln/>
        </p:spPr>
        <p:txBody>
          <a:bodyPr wrap="square" lIns="0" tIns="0" rIns="0" bIns="0" rtlCol="0" anchor="t"/>
          <a:lstStyle/>
          <a:p>
            <a:pPr indent="0" marL="0">
              <a:buNone/>
            </a:pPr>
            <a:r>
              <a:rPr lang="en-US" sz="1600" b="1" dirty="0">
                <a:solidFill>
                  <a:schemeClr val="tx1"/>
                </a:solidFill>
              </a:rPr>
              <a:t>Dominio E.030 acotado</a:t>
            </a:r>
            <a:endParaRPr lang="en-US" sz="1600" dirty="0"/>
          </a:p>
        </p:txBody>
      </p:sp>
      <p:sp>
        <p:nvSpPr>
          <p:cNvPr id="10" name="Text 6"/>
          <p:cNvSpPr txBox="1"/>
          <p:nvPr/>
        </p:nvSpPr>
        <p:spPr>
          <a:xfrm>
            <a:off x="5394960" y="1645920"/>
            <a:ext cx="3200400" cy="822960"/>
          </a:xfrm>
          <a:prstGeom prst="rect">
            <a:avLst/>
          </a:prstGeom>
          <a:noFill/>
          <a:ln/>
        </p:spPr>
        <p:txBody>
          <a:bodyPr wrap="square" lIns="0" tIns="0" rIns="0" bIns="0" rtlCol="0" anchor="t"/>
          <a:lstStyle/>
          <a:p>
            <a:pPr indent="0" marL="0">
              <a:buNone/>
            </a:pPr>
            <a:r>
              <a:rPr lang="en-US" sz="1400" dirty="0">
                <a:solidFill>
                  <a:schemeClr val="tx2"/>
                </a:solidFill>
              </a:rPr>
              <a:t>2 a 5 pisos, secciones brutas, sin P-Delta; el modelo no extrapola fuera de ese rango</a:t>
            </a:r>
            <a:endParaRPr lang="en-US" sz="1400" dirty="0"/>
          </a:p>
        </p:txBody>
      </p:sp>
      <p:sp>
        <p:nvSpPr>
          <p:cNvPr id="11" name="badge"/>
          <p:cNvSpPr/>
          <p:nvPr/>
        </p:nvSpPr>
        <p:spPr>
          <a:xfrm>
            <a:off x="457200" y="2926080"/>
            <a:ext cx="548640" cy="548640"/>
          </a:xfrm>
          <a:prstGeom prst="ellipse">
            <a:avLst/>
          </a:prstGeom>
          <a:solidFill>
            <a:schemeClr val="accent2"/>
          </a:solidFill>
          <a:ln w="12700">
            <a:solidFill>
              <a:schemeClr val="accent2"/>
            </a:solidFill>
            <a:prstDash val="solid"/>
          </a:ln>
        </p:spPr>
      </p:sp>
      <p:pic>
        <p:nvPicPr>
          <p:cNvPr id="12" name="icono" descr="preencoded.png">    </p:cNvPr>
          <p:cNvPicPr>
            <a:picLocks noChangeAspect="1"/>
          </p:cNvPicPr>
          <p:nvPr/>
        </p:nvPicPr>
        <p:blipFill>
          <a:blip r:embed="rId3"/>
          <a:stretch>
            <a:fillRect/>
          </a:stretch>
        </p:blipFill>
        <p:spPr>
          <a:xfrm>
            <a:off x="577901" y="3046781"/>
            <a:ext cx="307238" cy="307238"/>
          </a:xfrm>
          <a:prstGeom prst="rect">
            <a:avLst/>
          </a:prstGeom>
        </p:spPr>
      </p:pic>
      <p:sp>
        <p:nvSpPr>
          <p:cNvPr id="13" name="Text 8"/>
          <p:cNvSpPr txBox="1"/>
          <p:nvPr/>
        </p:nvSpPr>
        <p:spPr>
          <a:xfrm>
            <a:off x="1188720" y="2880360"/>
            <a:ext cx="3200400" cy="365760"/>
          </a:xfrm>
          <a:prstGeom prst="rect">
            <a:avLst/>
          </a:prstGeom>
          <a:noFill/>
          <a:ln/>
        </p:spPr>
        <p:txBody>
          <a:bodyPr wrap="square" lIns="0" tIns="0" rIns="0" bIns="0" rtlCol="0" anchor="t"/>
          <a:lstStyle/>
          <a:p>
            <a:pPr indent="0" marL="0">
              <a:buNone/>
            </a:pPr>
            <a:r>
              <a:rPr lang="en-US" sz="1600" b="1" dirty="0">
                <a:solidFill>
                  <a:schemeClr val="tx1"/>
                </a:solidFill>
              </a:rPr>
              <a:t>Ahorro de tiempo no cronometrado</a:t>
            </a:r>
            <a:endParaRPr lang="en-US" sz="1600" dirty="0"/>
          </a:p>
        </p:txBody>
      </p:sp>
      <p:sp>
        <p:nvSpPr>
          <p:cNvPr id="14" name="Text 9"/>
          <p:cNvSpPr txBox="1"/>
          <p:nvPr/>
        </p:nvSpPr>
        <p:spPr>
          <a:xfrm>
            <a:off x="1188720" y="3291840"/>
            <a:ext cx="3200400" cy="822960"/>
          </a:xfrm>
          <a:prstGeom prst="rect">
            <a:avLst/>
          </a:prstGeom>
          <a:noFill/>
          <a:ln/>
        </p:spPr>
        <p:txBody>
          <a:bodyPr wrap="square" lIns="0" tIns="0" rIns="0" bIns="0" rtlCol="0" anchor="t"/>
          <a:lstStyle/>
          <a:p>
            <a:pPr indent="0" marL="0">
              <a:buNone/>
            </a:pPr>
            <a:r>
              <a:rPr lang="en-US" sz="1400" dirty="0">
                <a:solidFill>
                  <a:schemeClr val="tx2"/>
                </a:solidFill>
              </a:rPr>
              <a:t>Se midió el cálculo (ms), no el flujo completo en SAP2000</a:t>
            </a:r>
            <a:endParaRPr lang="en-US" sz="1400" dirty="0"/>
          </a:p>
        </p:txBody>
      </p:sp>
      <p:sp>
        <p:nvSpPr>
          <p:cNvPr id="15" name="badge"/>
          <p:cNvSpPr/>
          <p:nvPr/>
        </p:nvSpPr>
        <p:spPr>
          <a:xfrm>
            <a:off x="4663440" y="2926080"/>
            <a:ext cx="548640" cy="548640"/>
          </a:xfrm>
          <a:prstGeom prst="ellipse">
            <a:avLst/>
          </a:prstGeom>
          <a:solidFill>
            <a:schemeClr val="accent2"/>
          </a:solidFill>
          <a:ln w="12700">
            <a:solidFill>
              <a:schemeClr val="accent2"/>
            </a:solidFill>
            <a:prstDash val="solid"/>
          </a:ln>
        </p:spPr>
      </p:sp>
      <p:pic>
        <p:nvPicPr>
          <p:cNvPr id="16" name="icono" descr="preencoded.png">    </p:cNvPr>
          <p:cNvPicPr>
            <a:picLocks noChangeAspect="1"/>
          </p:cNvPicPr>
          <p:nvPr/>
        </p:nvPicPr>
        <p:blipFill>
          <a:blip r:embed="rId4"/>
          <a:stretch>
            <a:fillRect/>
          </a:stretch>
        </p:blipFill>
        <p:spPr>
          <a:xfrm>
            <a:off x="4784141" y="3046781"/>
            <a:ext cx="307238" cy="307238"/>
          </a:xfrm>
          <a:prstGeom prst="rect">
            <a:avLst/>
          </a:prstGeom>
        </p:spPr>
      </p:pic>
      <p:sp>
        <p:nvSpPr>
          <p:cNvPr id="17" name="Text 11"/>
          <p:cNvSpPr txBox="1"/>
          <p:nvPr/>
        </p:nvSpPr>
        <p:spPr>
          <a:xfrm>
            <a:off x="5394960" y="2880360"/>
            <a:ext cx="3200400" cy="365760"/>
          </a:xfrm>
          <a:prstGeom prst="rect">
            <a:avLst/>
          </a:prstGeom>
          <a:noFill/>
          <a:ln/>
        </p:spPr>
        <p:txBody>
          <a:bodyPr wrap="square" lIns="0" tIns="0" rIns="0" bIns="0" rtlCol="0" anchor="t"/>
          <a:lstStyle/>
          <a:p>
            <a:pPr indent="0" marL="0">
              <a:buNone/>
            </a:pPr>
            <a:r>
              <a:rPr lang="en-US" sz="1600" b="1" dirty="0">
                <a:solidFill>
                  <a:schemeClr val="tx1"/>
                </a:solidFill>
              </a:rPr>
              <a:t>Bot sin backend conectado</a:t>
            </a:r>
            <a:endParaRPr lang="en-US" sz="1600" dirty="0"/>
          </a:p>
        </p:txBody>
      </p:sp>
      <p:sp>
        <p:nvSpPr>
          <p:cNvPr id="18" name="Text 12"/>
          <p:cNvSpPr txBox="1"/>
          <p:nvPr/>
        </p:nvSpPr>
        <p:spPr>
          <a:xfrm>
            <a:off x="5394960" y="3291840"/>
            <a:ext cx="3200400" cy="822960"/>
          </a:xfrm>
          <a:prstGeom prst="rect">
            <a:avLst/>
          </a:prstGeom>
          <a:noFill/>
          <a:ln/>
        </p:spPr>
        <p:txBody>
          <a:bodyPr wrap="square" lIns="0" tIns="0" rIns="0" bIns="0" rtlCol="0" anchor="t"/>
          <a:lstStyle/>
          <a:p>
            <a:pPr indent="0" marL="0">
              <a:buNone/>
            </a:pPr>
            <a:r>
              <a:rPr lang="en-US" sz="1400" dirty="0">
                <a:solidFill>
                  <a:schemeClr val="tx2"/>
                </a:solidFill>
              </a:rPr>
              <a:t>Los flujos de n8n esperan el servicio Python con el predictor</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Conclusiones y siguientes pasos</a:t>
            </a:r>
            <a:endParaRPr lang="en-US" sz="2800" dirty="0"/>
          </a:p>
        </p:txBody>
      </p:sp>
      <p:sp>
        <p:nvSpPr>
          <p:cNvPr id="3" name="numero"/>
          <p:cNvSpPr/>
          <p:nvPr/>
        </p:nvSpPr>
        <p:spPr>
          <a:xfrm>
            <a:off x="457200" y="118872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05840" y="1161288"/>
            <a:ext cx="3931920" cy="777240"/>
          </a:xfrm>
          <a:prstGeom prst="rect">
            <a:avLst/>
          </a:prstGeom>
          <a:noFill/>
          <a:ln/>
        </p:spPr>
        <p:txBody>
          <a:bodyPr wrap="square" lIns="0" tIns="0" rIns="0" bIns="0" rtlCol="0" anchor="t"/>
          <a:lstStyle/>
          <a:p>
            <a:pPr indent="0" marL="0">
              <a:buNone/>
            </a:pPr>
            <a:r>
              <a:rPr lang="en-US" sz="1400" dirty="0">
                <a:solidFill>
                  <a:schemeClr val="bg1"/>
                </a:solidFill>
              </a:rPr>
              <a:t>El módulo NSR-10 reproduce el cálculo de referencia y bloquea datos incompletos o erróneos antes de calcular.</a:t>
            </a:r>
            <a:endParaRPr lang="en-US" sz="1400" dirty="0"/>
          </a:p>
        </p:txBody>
      </p:sp>
      <p:sp>
        <p:nvSpPr>
          <p:cNvPr id="6" name="numero"/>
          <p:cNvSpPr/>
          <p:nvPr/>
        </p:nvSpPr>
        <p:spPr>
          <a:xfrm>
            <a:off x="457200" y="2057400"/>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457200" y="2057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05840" y="2029968"/>
            <a:ext cx="3931920" cy="777240"/>
          </a:xfrm>
          <a:prstGeom prst="rect">
            <a:avLst/>
          </a:prstGeom>
          <a:noFill/>
          <a:ln/>
        </p:spPr>
        <p:txBody>
          <a:bodyPr wrap="square" lIns="0" tIns="0" rIns="0" bIns="0" rtlCol="0" anchor="t"/>
          <a:lstStyle/>
          <a:p>
            <a:pPr indent="0" marL="0">
              <a:buNone/>
            </a:pPr>
            <a:r>
              <a:rPr lang="en-US" sz="1400" dirty="0">
                <a:solidFill>
                  <a:schemeClr val="bg1"/>
                </a:solidFill>
              </a:rPr>
              <a:t>En 300 familias E.030 no vistas, Random Forest estimó la deriva con R² 0,99 y detectó 137 de 146 excedencias.</a:t>
            </a:r>
            <a:endParaRPr lang="en-US" sz="1400" dirty="0"/>
          </a:p>
        </p:txBody>
      </p:sp>
      <p:sp>
        <p:nvSpPr>
          <p:cNvPr id="9" name="numero"/>
          <p:cNvSpPr/>
          <p:nvPr/>
        </p:nvSpPr>
        <p:spPr>
          <a:xfrm>
            <a:off x="457200" y="29260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57200" y="2926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05840" y="2898648"/>
            <a:ext cx="3931920" cy="777240"/>
          </a:xfrm>
          <a:prstGeom prst="rect">
            <a:avLst/>
          </a:prstGeom>
          <a:noFill/>
          <a:ln/>
        </p:spPr>
        <p:txBody>
          <a:bodyPr wrap="square" lIns="0" tIns="0" rIns="0" bIns="0" rtlCol="0" anchor="t"/>
          <a:lstStyle/>
          <a:p>
            <a:pPr indent="0" marL="0">
              <a:buNone/>
            </a:pPr>
            <a:r>
              <a:rPr lang="en-US" sz="1400" dirty="0">
                <a:solidFill>
                  <a:schemeClr val="bg1"/>
                </a:solidFill>
              </a:rPr>
              <a:t>Con 18 edificios NSR-10 el error baja 39 %, pero solo detecta 3 de 7 casos al límite: los datos mandan más que el algoritmo.</a:t>
            </a:r>
            <a:endParaRPr lang="en-US" sz="1400" dirty="0"/>
          </a:p>
        </p:txBody>
      </p:sp>
      <p:sp>
        <p:nvSpPr>
          <p:cNvPr id="12" name="siguientes"/>
          <p:cNvSpPr/>
          <p:nvPr/>
        </p:nvSpPr>
        <p:spPr>
          <a:xfrm>
            <a:off x="5303520" y="1143000"/>
            <a:ext cx="3383280" cy="3291840"/>
          </a:xfrm>
          <a:prstGeom prst="roundRect">
            <a:avLst>
              <a:gd name="adj" fmla="val 2222"/>
            </a:avLst>
          </a:prstGeom>
          <a:solidFill>
            <a:srgbClr val="3A4A57"/>
          </a:solidFill>
          <a:ln w="12700">
            <a:solidFill>
              <a:srgbClr val="3A4A57"/>
            </a:solidFill>
            <a:prstDash val="solid"/>
          </a:ln>
        </p:spPr>
      </p:sp>
      <p:sp>
        <p:nvSpPr>
          <p:cNvPr id="13" name="Text 11"/>
          <p:cNvSpPr txBox="1"/>
          <p:nvPr/>
        </p:nvSpPr>
        <p:spPr>
          <a:xfrm>
            <a:off x="5532120" y="1280160"/>
            <a:ext cx="3017520" cy="365760"/>
          </a:xfrm>
          <a:prstGeom prst="rect">
            <a:avLst/>
          </a:prstGeom>
          <a:noFill/>
          <a:ln/>
        </p:spPr>
        <p:txBody>
          <a:bodyPr wrap="square" lIns="0" tIns="0" rIns="0" bIns="0" rtlCol="0" anchor="t"/>
          <a:lstStyle/>
          <a:p>
            <a:pPr indent="0" marL="0">
              <a:buNone/>
            </a:pPr>
            <a:r>
              <a:rPr lang="en-US" sz="1700" b="1" dirty="0">
                <a:solidFill>
                  <a:schemeClr val="accent1"/>
                </a:solidFill>
              </a:rPr>
              <a:t>Siguientes pasos</a:t>
            </a:r>
            <a:endParaRPr lang="en-US" sz="1700" dirty="0"/>
          </a:p>
        </p:txBody>
      </p:sp>
      <p:sp>
        <p:nvSpPr>
          <p:cNvPr id="14" name="Text 12"/>
          <p:cNvSpPr txBox="1"/>
          <p:nvPr/>
        </p:nvSpPr>
        <p:spPr>
          <a:xfrm>
            <a:off x="5532120" y="1737360"/>
            <a:ext cx="301752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Ampliar la base NSR-10 con casos verificados</a:t>
            </a:r>
            <a:endParaRPr lang="en-US" sz="1400" dirty="0"/>
          </a:p>
          <a:p>
            <a:pPr marL="342900" indent="-342900">
              <a:spcAft>
                <a:spcPts val="600"/>
              </a:spcAft>
              <a:buSzPct val="100000"/>
              <a:buChar char="•"/>
            </a:pPr>
            <a:r>
              <a:rPr lang="en-US" sz="1400" dirty="0">
                <a:solidFill>
                  <a:schemeClr val="bg1"/>
                </a:solidFill>
              </a:rPr>
              <a:t>Conectar módulo y predictor al bot de Telegram</a:t>
            </a:r>
            <a:endParaRPr lang="en-US" sz="1400" dirty="0"/>
          </a:p>
          <a:p>
            <a:pPr marL="342900" indent="-342900">
              <a:spcAft>
                <a:spcPts val="600"/>
              </a:spcAft>
              <a:buSzPct val="100000"/>
              <a:buChar char="•"/>
            </a:pPr>
            <a:r>
              <a:rPr lang="en-US" sz="1400" dirty="0">
                <a:solidFill>
                  <a:schemeClr val="bg1"/>
                </a:solidFill>
              </a:rPr>
              <a:t>Cronometrar el flujo completo para medir el ahorro</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Equipo y herramientas</a:t>
            </a:r>
            <a:endParaRPr lang="en-US" sz="2800" dirty="0"/>
          </a:p>
        </p:txBody>
      </p:sp>
      <p:sp>
        <p:nvSpPr>
          <p:cNvPr id="3" name="integrante"/>
          <p:cNvSpPr/>
          <p:nvPr/>
        </p:nvSpPr>
        <p:spPr>
          <a:xfrm>
            <a:off x="457200" y="1188720"/>
            <a:ext cx="1536192" cy="1737360"/>
          </a:xfrm>
          <a:prstGeom prst="roundRect">
            <a:avLst>
              <a:gd name="adj" fmla="val 4762"/>
            </a:avLst>
          </a:prstGeom>
          <a:solidFill>
            <a:schemeClr val="bg2"/>
          </a:solidFill>
          <a:ln w="12700">
            <a:solidFill>
              <a:schemeClr val="bg2"/>
            </a:solidFill>
            <a:prstDash val="solid"/>
          </a:ln>
        </p:spPr>
      </p:sp>
      <p:sp>
        <p:nvSpPr>
          <p:cNvPr id="4" name="badge"/>
          <p:cNvSpPr/>
          <p:nvPr/>
        </p:nvSpPr>
        <p:spPr>
          <a:xfrm>
            <a:off x="950976" y="1325880"/>
            <a:ext cx="548640" cy="548640"/>
          </a:xfrm>
          <a:prstGeom prst="ellipse">
            <a:avLst/>
          </a:prstGeom>
          <a:solidFill>
            <a:schemeClr val="accent2"/>
          </a:solidFill>
          <a:ln w="12700">
            <a:solidFill>
              <a:schemeClr val="accent2"/>
            </a:solidFill>
            <a:prstDash val="solid"/>
          </a:ln>
        </p:spPr>
      </p:sp>
      <p:pic>
        <p:nvPicPr>
          <p:cNvPr id="5" name="icono" descr="preencoded.png">    </p:cNvPr>
          <p:cNvPicPr>
            <a:picLocks noChangeAspect="1"/>
          </p:cNvPicPr>
          <p:nvPr/>
        </p:nvPicPr>
        <p:blipFill>
          <a:blip r:embed="rId1"/>
          <a:stretch>
            <a:fillRect/>
          </a:stretch>
        </p:blipFill>
        <p:spPr>
          <a:xfrm>
            <a:off x="1071677" y="1446581"/>
            <a:ext cx="307238" cy="307238"/>
          </a:xfrm>
          <a:prstGeom prst="rect">
            <a:avLst/>
          </a:prstGeom>
        </p:spPr>
      </p:pic>
      <p:sp>
        <p:nvSpPr>
          <p:cNvPr id="6" name="Text 3"/>
          <p:cNvSpPr txBox="1"/>
          <p:nvPr/>
        </p:nvSpPr>
        <p:spPr>
          <a:xfrm>
            <a:off x="530352" y="1965960"/>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Lucero</a:t>
            </a:r>
            <a:endParaRPr lang="en-US" sz="1400" dirty="0"/>
          </a:p>
        </p:txBody>
      </p:sp>
      <p:sp>
        <p:nvSpPr>
          <p:cNvPr id="7" name="Text 4"/>
          <p:cNvSpPr txBox="1"/>
          <p:nvPr/>
        </p:nvSpPr>
        <p:spPr>
          <a:xfrm>
            <a:off x="530352" y="2286000"/>
            <a:ext cx="1389888" cy="594360"/>
          </a:xfrm>
          <a:prstGeom prst="rect">
            <a:avLst/>
          </a:prstGeom>
          <a:noFill/>
          <a:ln/>
        </p:spPr>
        <p:txBody>
          <a:bodyPr wrap="square" lIns="0" tIns="0" rIns="0" bIns="0" rtlCol="0" anchor="t"/>
          <a:lstStyle/>
          <a:p>
            <a:pPr algn="ctr" indent="0" marL="0">
              <a:buNone/>
            </a:pPr>
            <a:r>
              <a:rPr lang="en-US" sz="1100" dirty="0">
                <a:solidFill>
                  <a:schemeClr val="tx2"/>
                </a:solidFill>
              </a:rPr>
              <a:t>Planteamiento académico</a:t>
            </a:r>
            <a:endParaRPr lang="en-US" sz="1100" dirty="0"/>
          </a:p>
        </p:txBody>
      </p:sp>
      <p:sp>
        <p:nvSpPr>
          <p:cNvPr id="8" name="integrante"/>
          <p:cNvSpPr/>
          <p:nvPr/>
        </p:nvSpPr>
        <p:spPr>
          <a:xfrm>
            <a:off x="2139696" y="1188720"/>
            <a:ext cx="1536192" cy="1737360"/>
          </a:xfrm>
          <a:prstGeom prst="roundRect">
            <a:avLst>
              <a:gd name="adj" fmla="val 4762"/>
            </a:avLst>
          </a:prstGeom>
          <a:solidFill>
            <a:schemeClr val="bg2"/>
          </a:solidFill>
          <a:ln w="12700">
            <a:solidFill>
              <a:schemeClr val="bg2"/>
            </a:solidFill>
            <a:prstDash val="solid"/>
          </a:ln>
        </p:spPr>
      </p:sp>
      <p:sp>
        <p:nvSpPr>
          <p:cNvPr id="9" name="badge"/>
          <p:cNvSpPr/>
          <p:nvPr/>
        </p:nvSpPr>
        <p:spPr>
          <a:xfrm>
            <a:off x="2633472" y="1325880"/>
            <a:ext cx="548640" cy="548640"/>
          </a:xfrm>
          <a:prstGeom prst="ellipse">
            <a:avLst/>
          </a:prstGeom>
          <a:solidFill>
            <a:schemeClr val="accent2"/>
          </a:solidFill>
          <a:ln w="12700">
            <a:solidFill>
              <a:schemeClr val="accent2"/>
            </a:solidFill>
            <a:prstDash val="solid"/>
          </a:ln>
        </p:spPr>
      </p:sp>
      <p:pic>
        <p:nvPicPr>
          <p:cNvPr id="10" name="icono" descr="preencoded.png">    </p:cNvPr>
          <p:cNvPicPr>
            <a:picLocks noChangeAspect="1"/>
          </p:cNvPicPr>
          <p:nvPr/>
        </p:nvPicPr>
        <p:blipFill>
          <a:blip r:embed="rId2"/>
          <a:stretch>
            <a:fillRect/>
          </a:stretch>
        </p:blipFill>
        <p:spPr>
          <a:xfrm>
            <a:off x="2754173" y="1446581"/>
            <a:ext cx="307238" cy="307238"/>
          </a:xfrm>
          <a:prstGeom prst="rect">
            <a:avLst/>
          </a:prstGeom>
        </p:spPr>
      </p:pic>
      <p:sp>
        <p:nvSpPr>
          <p:cNvPr id="11" name="Text 7"/>
          <p:cNvSpPr txBox="1"/>
          <p:nvPr/>
        </p:nvSpPr>
        <p:spPr>
          <a:xfrm>
            <a:off x="2212848" y="1965960"/>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Alexis</a:t>
            </a:r>
            <a:endParaRPr lang="en-US" sz="1400" dirty="0"/>
          </a:p>
        </p:txBody>
      </p:sp>
      <p:sp>
        <p:nvSpPr>
          <p:cNvPr id="12" name="Text 8"/>
          <p:cNvSpPr txBox="1"/>
          <p:nvPr/>
        </p:nvSpPr>
        <p:spPr>
          <a:xfrm>
            <a:off x="2212848" y="2286000"/>
            <a:ext cx="1389888" cy="594360"/>
          </a:xfrm>
          <a:prstGeom prst="rect">
            <a:avLst/>
          </a:prstGeom>
          <a:noFill/>
          <a:ln/>
        </p:spPr>
        <p:txBody>
          <a:bodyPr wrap="square" lIns="0" tIns="0" rIns="0" bIns="0" rtlCol="0" anchor="t"/>
          <a:lstStyle/>
          <a:p>
            <a:pPr algn="ctr" indent="0" marL="0">
              <a:buNone/>
            </a:pPr>
            <a:r>
              <a:rPr lang="en-US" sz="1100" dirty="0">
                <a:solidFill>
                  <a:schemeClr val="tx2"/>
                </a:solidFill>
              </a:rPr>
              <a:t>Generación paramétrica y OpenSees</a:t>
            </a:r>
            <a:endParaRPr lang="en-US" sz="1100" dirty="0"/>
          </a:p>
        </p:txBody>
      </p:sp>
      <p:sp>
        <p:nvSpPr>
          <p:cNvPr id="13" name="integrante"/>
          <p:cNvSpPr/>
          <p:nvPr/>
        </p:nvSpPr>
        <p:spPr>
          <a:xfrm>
            <a:off x="3822192" y="1188720"/>
            <a:ext cx="1536192" cy="1737360"/>
          </a:xfrm>
          <a:prstGeom prst="roundRect">
            <a:avLst>
              <a:gd name="adj" fmla="val 4762"/>
            </a:avLst>
          </a:prstGeom>
          <a:solidFill>
            <a:schemeClr val="bg2"/>
          </a:solidFill>
          <a:ln w="12700">
            <a:solidFill>
              <a:schemeClr val="bg2"/>
            </a:solidFill>
            <a:prstDash val="solid"/>
          </a:ln>
        </p:spPr>
      </p:sp>
      <p:sp>
        <p:nvSpPr>
          <p:cNvPr id="14" name="badge"/>
          <p:cNvSpPr/>
          <p:nvPr/>
        </p:nvSpPr>
        <p:spPr>
          <a:xfrm>
            <a:off x="4315968" y="1325880"/>
            <a:ext cx="548640" cy="548640"/>
          </a:xfrm>
          <a:prstGeom prst="ellipse">
            <a:avLst/>
          </a:prstGeom>
          <a:solidFill>
            <a:schemeClr val="accent2"/>
          </a:solidFill>
          <a:ln w="12700">
            <a:solidFill>
              <a:schemeClr val="accent2"/>
            </a:solidFill>
            <a:prstDash val="solid"/>
          </a:ln>
        </p:spPr>
      </p:sp>
      <p:pic>
        <p:nvPicPr>
          <p:cNvPr id="15" name="icono" descr="preencoded.png">    </p:cNvPr>
          <p:cNvPicPr>
            <a:picLocks noChangeAspect="1"/>
          </p:cNvPicPr>
          <p:nvPr/>
        </p:nvPicPr>
        <p:blipFill>
          <a:blip r:embed="rId3"/>
          <a:stretch>
            <a:fillRect/>
          </a:stretch>
        </p:blipFill>
        <p:spPr>
          <a:xfrm>
            <a:off x="4436669" y="1446581"/>
            <a:ext cx="307238" cy="307238"/>
          </a:xfrm>
          <a:prstGeom prst="rect">
            <a:avLst/>
          </a:prstGeom>
        </p:spPr>
      </p:pic>
      <p:sp>
        <p:nvSpPr>
          <p:cNvPr id="16" name="Text 11"/>
          <p:cNvSpPr txBox="1"/>
          <p:nvPr/>
        </p:nvSpPr>
        <p:spPr>
          <a:xfrm>
            <a:off x="3895344" y="1965960"/>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Nicolás Infante</a:t>
            </a:r>
            <a:endParaRPr lang="en-US" sz="1400" dirty="0"/>
          </a:p>
        </p:txBody>
      </p:sp>
      <p:sp>
        <p:nvSpPr>
          <p:cNvPr id="17" name="Text 12"/>
          <p:cNvSpPr txBox="1"/>
          <p:nvPr/>
        </p:nvSpPr>
        <p:spPr>
          <a:xfrm>
            <a:off x="3895344" y="2286000"/>
            <a:ext cx="1389888" cy="594360"/>
          </a:xfrm>
          <a:prstGeom prst="rect">
            <a:avLst/>
          </a:prstGeom>
          <a:noFill/>
          <a:ln/>
        </p:spPr>
        <p:txBody>
          <a:bodyPr wrap="square" lIns="0" tIns="0" rIns="0" bIns="0" rtlCol="0" anchor="t"/>
          <a:lstStyle/>
          <a:p>
            <a:pPr algn="ctr" indent="0" marL="0">
              <a:buNone/>
            </a:pPr>
            <a:r>
              <a:rPr lang="en-US" sz="1100" dirty="0">
                <a:solidFill>
                  <a:schemeClr val="tx2"/>
                </a:solidFill>
              </a:rPr>
              <a:t>Módulo NSR-10 y SAP2000</a:t>
            </a:r>
            <a:endParaRPr lang="en-US" sz="1100" dirty="0"/>
          </a:p>
        </p:txBody>
      </p:sp>
      <p:sp>
        <p:nvSpPr>
          <p:cNvPr id="18" name="integrante"/>
          <p:cNvSpPr/>
          <p:nvPr/>
        </p:nvSpPr>
        <p:spPr>
          <a:xfrm>
            <a:off x="5504688" y="1188720"/>
            <a:ext cx="1536192" cy="1737360"/>
          </a:xfrm>
          <a:prstGeom prst="roundRect">
            <a:avLst>
              <a:gd name="adj" fmla="val 4762"/>
            </a:avLst>
          </a:prstGeom>
          <a:solidFill>
            <a:schemeClr val="bg2"/>
          </a:solidFill>
          <a:ln w="12700">
            <a:solidFill>
              <a:schemeClr val="bg2"/>
            </a:solidFill>
            <a:prstDash val="solid"/>
          </a:ln>
        </p:spPr>
      </p:sp>
      <p:sp>
        <p:nvSpPr>
          <p:cNvPr id="19" name="badge"/>
          <p:cNvSpPr/>
          <p:nvPr/>
        </p:nvSpPr>
        <p:spPr>
          <a:xfrm>
            <a:off x="5998464" y="1325880"/>
            <a:ext cx="548640" cy="548640"/>
          </a:xfrm>
          <a:prstGeom prst="ellipse">
            <a:avLst/>
          </a:prstGeom>
          <a:solidFill>
            <a:schemeClr val="accent2"/>
          </a:solidFill>
          <a:ln w="12700">
            <a:solidFill>
              <a:schemeClr val="accent2"/>
            </a:solidFill>
            <a:prstDash val="solid"/>
          </a:ln>
        </p:spPr>
      </p:sp>
      <p:pic>
        <p:nvPicPr>
          <p:cNvPr id="20" name="icono" descr="preencoded.png">    </p:cNvPr>
          <p:cNvPicPr>
            <a:picLocks noChangeAspect="1"/>
          </p:cNvPicPr>
          <p:nvPr/>
        </p:nvPicPr>
        <p:blipFill>
          <a:blip r:embed="rId4"/>
          <a:stretch>
            <a:fillRect/>
          </a:stretch>
        </p:blipFill>
        <p:spPr>
          <a:xfrm>
            <a:off x="6119165" y="1446581"/>
            <a:ext cx="307238" cy="307238"/>
          </a:xfrm>
          <a:prstGeom prst="rect">
            <a:avLst/>
          </a:prstGeom>
        </p:spPr>
      </p:pic>
      <p:sp>
        <p:nvSpPr>
          <p:cNvPr id="21" name="Text 15"/>
          <p:cNvSpPr txBox="1"/>
          <p:nvPr/>
        </p:nvSpPr>
        <p:spPr>
          <a:xfrm>
            <a:off x="5577840" y="1965960"/>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Jean Piere</a:t>
            </a:r>
            <a:endParaRPr lang="en-US" sz="1400" dirty="0"/>
          </a:p>
        </p:txBody>
      </p:sp>
      <p:sp>
        <p:nvSpPr>
          <p:cNvPr id="22" name="Text 16"/>
          <p:cNvSpPr txBox="1"/>
          <p:nvPr/>
        </p:nvSpPr>
        <p:spPr>
          <a:xfrm>
            <a:off x="5577840" y="2286000"/>
            <a:ext cx="1389888" cy="594360"/>
          </a:xfrm>
          <a:prstGeom prst="rect">
            <a:avLst/>
          </a:prstGeom>
          <a:noFill/>
          <a:ln/>
        </p:spPr>
        <p:txBody>
          <a:bodyPr wrap="square" lIns="0" tIns="0" rIns="0" bIns="0" rtlCol="0" anchor="t"/>
          <a:lstStyle/>
          <a:p>
            <a:pPr algn="ctr" indent="0" marL="0">
              <a:buNone/>
            </a:pPr>
            <a:r>
              <a:rPr lang="en-US" sz="1100" dirty="0">
                <a:solidFill>
                  <a:schemeClr val="tx2"/>
                </a:solidFill>
              </a:rPr>
              <a:t>Datos, modelos E.030 y bot n8n</a:t>
            </a:r>
            <a:endParaRPr lang="en-US" sz="1100" dirty="0"/>
          </a:p>
        </p:txBody>
      </p:sp>
      <p:sp>
        <p:nvSpPr>
          <p:cNvPr id="23" name="integrante"/>
          <p:cNvSpPr/>
          <p:nvPr/>
        </p:nvSpPr>
        <p:spPr>
          <a:xfrm>
            <a:off x="7187184" y="1188720"/>
            <a:ext cx="1536192" cy="1737360"/>
          </a:xfrm>
          <a:prstGeom prst="roundRect">
            <a:avLst>
              <a:gd name="adj" fmla="val 4762"/>
            </a:avLst>
          </a:prstGeom>
          <a:solidFill>
            <a:schemeClr val="bg2"/>
          </a:solidFill>
          <a:ln w="12700">
            <a:solidFill>
              <a:schemeClr val="bg2"/>
            </a:solidFill>
            <a:prstDash val="solid"/>
          </a:ln>
        </p:spPr>
      </p:sp>
      <p:sp>
        <p:nvSpPr>
          <p:cNvPr id="24" name="badge"/>
          <p:cNvSpPr/>
          <p:nvPr/>
        </p:nvSpPr>
        <p:spPr>
          <a:xfrm>
            <a:off x="7680960" y="1325880"/>
            <a:ext cx="548640" cy="548640"/>
          </a:xfrm>
          <a:prstGeom prst="ellipse">
            <a:avLst/>
          </a:prstGeom>
          <a:solidFill>
            <a:schemeClr val="accent2"/>
          </a:solidFill>
          <a:ln w="12700">
            <a:solidFill>
              <a:schemeClr val="accent2"/>
            </a:solidFill>
            <a:prstDash val="solid"/>
          </a:ln>
        </p:spPr>
      </p:sp>
      <p:pic>
        <p:nvPicPr>
          <p:cNvPr id="25" name="icono" descr="preencoded.png">    </p:cNvPr>
          <p:cNvPicPr>
            <a:picLocks noChangeAspect="1"/>
          </p:cNvPicPr>
          <p:nvPr/>
        </p:nvPicPr>
        <p:blipFill>
          <a:blip r:embed="rId5"/>
          <a:stretch>
            <a:fillRect/>
          </a:stretch>
        </p:blipFill>
        <p:spPr>
          <a:xfrm>
            <a:off x="7801661" y="1446581"/>
            <a:ext cx="307238" cy="307238"/>
          </a:xfrm>
          <a:prstGeom prst="rect">
            <a:avLst/>
          </a:prstGeom>
        </p:spPr>
      </p:pic>
      <p:sp>
        <p:nvSpPr>
          <p:cNvPr id="26" name="Text 19"/>
          <p:cNvSpPr txBox="1"/>
          <p:nvPr/>
        </p:nvSpPr>
        <p:spPr>
          <a:xfrm>
            <a:off x="7260336" y="1965960"/>
            <a:ext cx="1389888" cy="320040"/>
          </a:xfrm>
          <a:prstGeom prst="rect">
            <a:avLst/>
          </a:prstGeom>
          <a:noFill/>
          <a:ln/>
        </p:spPr>
        <p:txBody>
          <a:bodyPr wrap="square" lIns="0" tIns="0" rIns="0" bIns="0" rtlCol="0" anchor="t"/>
          <a:lstStyle/>
          <a:p>
            <a:pPr algn="ctr" indent="0" marL="0">
              <a:buNone/>
            </a:pPr>
            <a:r>
              <a:rPr lang="en-US" sz="1400" b="1" dirty="0">
                <a:solidFill>
                  <a:schemeClr val="tx1"/>
                </a:solidFill>
              </a:rPr>
              <a:t>Joseph</a:t>
            </a:r>
            <a:endParaRPr lang="en-US" sz="1400" dirty="0"/>
          </a:p>
        </p:txBody>
      </p:sp>
      <p:sp>
        <p:nvSpPr>
          <p:cNvPr id="27" name="Text 20"/>
          <p:cNvSpPr txBox="1"/>
          <p:nvPr/>
        </p:nvSpPr>
        <p:spPr>
          <a:xfrm>
            <a:off x="7260336" y="2286000"/>
            <a:ext cx="1389888" cy="594360"/>
          </a:xfrm>
          <a:prstGeom prst="rect">
            <a:avLst/>
          </a:prstGeom>
          <a:noFill/>
          <a:ln/>
        </p:spPr>
        <p:txBody>
          <a:bodyPr wrap="square" lIns="0" tIns="0" rIns="0" bIns="0" rtlCol="0" anchor="t"/>
          <a:lstStyle/>
          <a:p>
            <a:pPr algn="ctr" indent="0" marL="0">
              <a:buNone/>
            </a:pPr>
            <a:r>
              <a:rPr lang="en-US" sz="1100" dirty="0">
                <a:solidFill>
                  <a:schemeClr val="tx2"/>
                </a:solidFill>
              </a:rPr>
              <a:t>Validación y coordinación</a:t>
            </a:r>
            <a:endParaRPr lang="en-US" sz="1100" dirty="0"/>
          </a:p>
        </p:txBody>
      </p:sp>
      <p:sp>
        <p:nvSpPr>
          <p:cNvPr id="28" name="Text 21"/>
          <p:cNvSpPr txBox="1"/>
          <p:nvPr/>
        </p:nvSpPr>
        <p:spPr>
          <a:xfrm>
            <a:off x="457200" y="3200400"/>
            <a:ext cx="8229600" cy="320040"/>
          </a:xfrm>
          <a:prstGeom prst="rect">
            <a:avLst/>
          </a:prstGeom>
          <a:noFill/>
          <a:ln/>
        </p:spPr>
        <p:txBody>
          <a:bodyPr wrap="square" lIns="0" tIns="0" rIns="0" bIns="0" rtlCol="0" anchor="t"/>
          <a:lstStyle/>
          <a:p>
            <a:pPr indent="0" marL="0">
              <a:buNone/>
            </a:pPr>
            <a:r>
              <a:rPr lang="en-US" sz="1500" b="1" dirty="0">
                <a:solidFill>
                  <a:schemeClr val="tx1"/>
                </a:solidFill>
              </a:rPr>
              <a:t>Herramientas</a:t>
            </a:r>
            <a:endParaRPr lang="en-US" sz="1500" dirty="0"/>
          </a:p>
        </p:txBody>
      </p:sp>
      <p:sp>
        <p:nvSpPr>
          <p:cNvPr id="29" name="Text 22"/>
          <p:cNvSpPr txBox="1"/>
          <p:nvPr/>
        </p:nvSpPr>
        <p:spPr>
          <a:xfrm>
            <a:off x="457200" y="3566160"/>
            <a:ext cx="8229600" cy="548640"/>
          </a:xfrm>
          <a:prstGeom prst="rect">
            <a:avLst/>
          </a:prstGeom>
          <a:noFill/>
          <a:ln/>
        </p:spPr>
        <p:txBody>
          <a:bodyPr wrap="square" lIns="0" tIns="0" rIns="0" bIns="0" rtlCol="0" anchor="t"/>
          <a:lstStyle/>
          <a:p>
            <a:pPr indent="0" marL="0">
              <a:buNone/>
            </a:pPr>
            <a:r>
              <a:rPr lang="en-US" sz="1400" dirty="0">
                <a:solidFill>
                  <a:schemeClr val="tx2"/>
                </a:solidFill>
              </a:rPr>
              <a:t>Python · OpenSeesPy · SAP2000 · scikit-learn · n8n · Telegram · asistentes de IA generativa para programación · Obsidian · GitHub · Discord · Miro</a:t>
            </a:r>
            <a:endParaRPr lang="en-US" sz="1400" dirty="0"/>
          </a:p>
        </p:txBody>
      </p:sp>
      <p:sp>
        <p:nvSpPr>
          <p:cNvPr id="30" name="Text 23"/>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200" i="1" dirty="0">
                <a:solidFill>
                  <a:schemeClr val="accent2"/>
                </a:solidFill>
              </a:rPr>
              <a:t>Profesor de apoyo: Thomas Federico Rojas Vallejo (Universidad Nacional de Colombia), algoritmo de diseño NSR-10 en OpenSees.</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Nexo Sismico">
      <a:dk1>
        <a:srgbClr val="1E2A33"/>
      </a:dk1>
      <a:lt1>
        <a:srgbClr val="FFFFFF"/>
      </a:lt1>
      <a:dk2>
        <a:srgbClr val="3A4A57"/>
      </a:dk2>
      <a:lt2>
        <a:srgbClr val="EDF0F3"/>
      </a:lt2>
      <a:accent1>
        <a:srgbClr val="E4572E"/>
      </a:accent1>
      <a:accent2>
        <a:srgbClr val="5B7083"/>
      </a:accent2>
      <a:accent3>
        <a:srgbClr val="2E8B57"/>
      </a:accent3>
      <a:accent4>
        <a:srgbClr val="C0392B"/>
      </a:accent4>
      <a:accent5>
        <a:srgbClr val="F2A541"/>
      </a:accent5>
      <a:accent6>
        <a:srgbClr val="8FA3B5"/>
      </a:accent6>
      <a:hlink>
        <a:srgbClr val="E4572E"/>
      </a:hlink>
      <a:folHlink>
        <a:srgbClr val="5B7083"/>
      </a:folHlink>
    </a:clrScheme>
    <a:fontScheme name="Nexo Sismic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Nexo Sísmico — Estimación preliminar de derivas</dc:title>
  <dc:subject>PptxGenJS Presentation</dc:subject>
  <dc:creator>Equipo Nexo Sísmico</dc:creator>
  <cp:lastModifiedBy>Equipo Nexo Sísmico</cp:lastModifiedBy>
  <cp:revision>1</cp:revision>
  <dcterms:created xsi:type="dcterms:W3CDTF">2026-10-24T18:17:17Z</dcterms:created>
  <dcterms:modified xsi:type="dcterms:W3CDTF">2026-10-24T18:17:17Z</dcterms:modified>
</cp:coreProperties>
</file>