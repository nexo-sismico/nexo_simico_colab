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be78039-5a5a-cab1-9f49-47540ccd79c2}">
          <p14:sldIdLst>
            <p14:sldId id="256"/>
          </p14:sldIdLst>
        </p14:section>
        <p14:section name="Problema y pregunta" id="{b83c2a6c-980a-676d-3c4c-813637c443ae}">
          <p14:sldIdLst>
            <p14:sldId id="257"/>
            <p14:sldId id="258"/>
          </p14:sldIdLst>
        </p14:section>
        <p14:section name="Solución" id="{cbbd35eb-e312-e2b5-1339-37bca940aa94}">
          <p14:sldIdLst>
            <p14:sldId id="259"/>
            <p14:sldId id="260"/>
          </p14:sldIdLst>
        </p14:section>
        <p14:section name="Prototipo" id="{9b474036-9edf-a9d5-3249-8256aa737b7a}">
          <p14:sldIdLst>
            <p14:sldId id="261"/>
            <p14:sldId id="262"/>
            <p14:sldId id="263"/>
          </p14:sldIdLst>
        </p14:section>
        <p14:section name="Resultados" id="{bd2f325c-2dc3-2105-1df7-7c4bb75c4264}">
          <p14:sldIdLst>
            <p14:sldId id="264"/>
            <p14:sldId id="265"/>
            <p14:sldId id="266"/>
          </p14:sldIdLst>
        </p14:section>
        <p14:section name="Cierre" id="{7ebb9ebb-6f2b-d517-4129-af9c9ba4a019}">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A57"/>
                </a:solidFill>
                <a:latin typeface="+mn-lt"/>
              </a:defRPr>
            </a:pPr>
            <a:r>
              <a:rPr sz="1200" b="0" i="0" u="none" strike="noStrike">
                <a:solidFill>
                  <a:srgbClr val="3A4A57"/>
                </a:solidFill>
                <a:latin typeface="+mn-lt"/>
              </a:rPr>
              <a:t>Error absoluto medio (puntos de % de hpi)</a:t>
            </a:r>
          </a:p>
        </c:rich>
      </c:tx>
      <c:layout/>
      <c:overlay val="0"/>
    </c:title>
    <c:autoTitleDeleted val="0"/>
    <c:plotArea>
      <c:layout/>
      <c:barChart>
        <c:barDir val="col"/>
        <c:grouping val="clustered"/>
        <c:varyColors val="0"/>
        <c:ser>
          <c:idx val="0"/>
          <c:order val="0"/>
          <c:tx>
            <c:strRef>
              <c:f>Sheet1!$B$1</c:f>
              <c:strCache>
                <c:ptCount val="1"/>
                <c:pt idx="0">
                  <c:v>Deriva X</c:v>
                </c:pt>
              </c:strCache>
            </c:strRef>
          </c:tx>
          <c:spPr>
            <a:solidFill>
              <a:srgbClr val="E4572E"/>
            </a:solidFill>
            <a:effectLst/>
          </c:spPr>
          <c:invertIfNegative val="0"/>
          <c:dLbls>
            <c:numFmt formatCode="0.000" sourceLinked="0"/>
            <c:txPr>
              <a:bodyPr/>
              <a:lstStyle/>
              <a:p>
                <a:pPr>
                  <a:defRPr b="0" i="0" strike="noStrike" sz="1000" u="none">
                    <a:solidFill>
                      <a:srgbClr val="3A4A57"/>
                    </a:solidFill>
                    <a:latin typeface="+mn-lt"/>
                  </a:defRPr>
                </a:pPr>
              </a:p>
            </c:txPr>
            <c:showLegendKey val="0"/>
            <c:showVal val="1"/>
            <c:showCatName val="0"/>
            <c:showSerName val="0"/>
            <c:showPercent val="0"/>
            <c:showBubbleSize val="0"/>
            <c:showLeaderLines val="0"/>
          </c:dLbls>
          <c:cat>
            <c:multiLvlStrRef>
              <c:f>Sheet1!$A$2:$A$4</c:f>
              <c:multiLvlStrCache>
                <c:ptCount val="3"/>
                <c:lvl>
                  <c:pt idx="0">
                    <c:v>Random Forest</c:v>
                  </c:pt>
                  <c:pt idx="1">
                    <c:v>Regresión lineal</c:v>
                  </c:pt>
                  <c:pt idx="2">
                    <c:v>Media</c:v>
                  </c:pt>
                </c:lvl>
              </c:multiLvlStrCache>
            </c:multiLvlStrRef>
          </c:cat>
          <c:val>
            <c:numRef>
              <c:f>Sheet1!$B$2:$B$4</c:f>
              <c:numCache>
                <c:formatCode>General</c:formatCode>
                <c:ptCount val="3"/>
                <c:pt idx="0">
                  <c:v>0.086</c:v>
                </c:pt>
                <c:pt idx="1">
                  <c:v>0.094</c:v>
                </c:pt>
                <c:pt idx="2">
                  <c:v>0.142</c:v>
                </c:pt>
              </c:numCache>
            </c:numRef>
          </c:val>
        </c:ser>
        <c:ser>
          <c:idx val="1"/>
          <c:order val="1"/>
          <c:tx>
            <c:strRef>
              <c:f>Sheet1!$C$1</c:f>
              <c:strCache>
                <c:ptCount val="1"/>
                <c:pt idx="0">
                  <c:v>Deriva Y</c:v>
                </c:pt>
              </c:strCache>
            </c:strRef>
          </c:tx>
          <c:spPr>
            <a:solidFill>
              <a:srgbClr val="5B7083"/>
            </a:solidFill>
            <a:effectLst/>
          </c:spPr>
          <c:invertIfNegative val="0"/>
          <c:dLbls>
            <c:numFmt formatCode="0.000" sourceLinked="0"/>
            <c:txPr>
              <a:bodyPr/>
              <a:lstStyle/>
              <a:p>
                <a:pPr>
                  <a:defRPr b="0" i="0" strike="noStrike" sz="1000" u="none">
                    <a:solidFill>
                      <a:srgbClr val="3A4A57"/>
                    </a:solidFill>
                    <a:latin typeface="+mn-lt"/>
                  </a:defRPr>
                </a:pPr>
              </a:p>
            </c:txPr>
            <c:showLegendKey val="0"/>
            <c:showVal val="1"/>
            <c:showCatName val="0"/>
            <c:showSerName val="0"/>
            <c:showPercent val="0"/>
            <c:showBubbleSize val="0"/>
            <c:showLeaderLines val="0"/>
          </c:dLbls>
          <c:cat>
            <c:multiLvlStrRef>
              <c:f>Sheet1!$A$2:$A$4</c:f>
              <c:multiLvlStrCache>
                <c:ptCount val="3"/>
                <c:lvl>
                  <c:pt idx="0">
                    <c:v>Random Forest</c:v>
                  </c:pt>
                  <c:pt idx="1">
                    <c:v>Regresión lineal</c:v>
                  </c:pt>
                  <c:pt idx="2">
                    <c:v>Media</c:v>
                  </c:pt>
                </c:lvl>
              </c:multiLvlStrCache>
            </c:multiLvlStrRef>
          </c:cat>
          <c:val>
            <c:numRef>
              <c:f>Sheet1!$C$2:$C$4</c:f>
              <c:numCache>
                <c:formatCode>General</c:formatCode>
                <c:ptCount val="3"/>
                <c:pt idx="0">
                  <c:v>0.101</c:v>
                </c:pt>
                <c:pt idx="1">
                  <c:v>0.13</c:v>
                </c:pt>
                <c:pt idx="2">
                  <c:v>0.166</c:v>
                </c:pt>
              </c:numCache>
            </c:numRef>
          </c:val>
        </c:ser>
        <c:dLbls>
          <c:numFmt formatCode="0.000" sourceLinked="0"/>
          <c:txPr>
            <a:bodyPr/>
            <a:lstStyle/>
            <a:p>
              <a:pPr>
                <a:defRPr b="0" i="0" strike="noStrike" sz="1000" u="none">
                  <a:solidFill>
                    <a:srgbClr val="3A4A5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A57"/>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A5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Nexo Sísmico. Nuestro proyecto es una investigación aplicada: estimar de forma preliminar las derivas sísmicas de edificios aporticados de concreto, para comparar alternativas de predimensionamiento sin rehacer un modelo completo cada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en el predimensionamiento cada alternativa obliga a repetir espectro, pesos, fuerzas, modelo y revisión de derivas. En nuestra base paramétrica de 130 modelos, un tercio supera el límite de deriva: es trabajo que se pudo descartar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 pregunta es: ¿con qué precisión puede Random Forest estimar las derivas de edificios que no vio en el entrenamiento, y qué ventaja ofrece? Para responderla generamos familias paramétricas, automatizamos la verificación NSR-10 y evaluamos el modelo dejando plantas completas por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integra los cuatro ejes de la beca: inteligencia artificial con Random Forest, automatización con el módulo NSR-10 y el bot, simulación con OpenSees y SAP2000, y datos con dos bases trazables.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tiene dos rutas de evidencia que no se mezclan, porque las normas difieren: la ruta E.030 con 130 modelos paramétricos en OpenSees y la ruta NSR-10 con el módulo de verificación y los edificios del profesor Rojas Vallejo. Ambas alimentan el mismo método de Random Forest y la interfaz propuesta en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prototipo es el módulo NSR-10 en Python. Recibe un JSON con el sitio, la geometría, los pesos y los resultados de SAP2000. Primero valida; luego calcula espectro, fuerza horizontal equivalente, derivas de doce combinaciones con torsión accidental, estabilidad P-Delta, irregularidad torsional y R. Al final escribe un reporte y una fila para la base de datos. Todo en menos de un milisegundo.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probamos con tres casos. Con datos completos, el edificio del curso en Piedemonte A da un cortante de 23 250 kilonewtons y una deriva máxima de 0,99 %: cumple. Si falta un dato, como Fv, se detiene y dice cuál falta. Si un dato está mal, como una altura escrita en centímetros, lo rechaza y explica el rango válido.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Validamos contra el cálculo de referencia del curso, hecho con Excel y SAP2000. El prototipo reproduce cortante, fuerzas, derivas, Q, relación torsional y R. La relación torsional de 1,19 queda muy cerca del límite de 1,2: un hallazgo útil para el diseñador.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ruta NSR-10 armamos una base con 18 edificios que diseñó el profesor Rojas Vallejo con su algoritmo en OpenSees, más el caso del curso. El profesor nos advirtió que varios son teóricos y que las plantas que faltan fallaron en el dimensionamiento. Los usamos para entrenar y comparar, no como diseños.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Evaluamos Random Forest dejando cada planta completa por fuera. Con plantas que nunca vio, su error en la deriva fue de 0,086 puntos en X y 0,101 en Y: un 39 % menos que predecir la media y mejor que la regresión lineal. Cada predicción toma unos 32 milisegundos.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hay que ser honestos: de siete edificios cerca del límite, el modelo detectó tres y subestimó cuatro. No dio falsas alarmas. Por eso hoy sirve para ordenar alternativas, y la verificación final sigue en el módulo NSR-10 y SAP2000.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limitaciones: la base NSR-10 es pequeña y teórica; las métricas del Random Forest en la ruta E.030 están pendientes; no cronometramos el flujo completo en SAP2000, así que no afirmamos un porcentaje de ahorro; y el bot todavía no está conectado al predictor.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el módulo NSR-10 reproduce el cálculo de referencia y filtra datos malos; el Random Forest reduce el error un 39 % en plantas que no vio, pero todavía no detecta todos los casos al límite. Los siguientes pasos son evaluar la ruta E.030, ampliar la base con casos verificados, conectar todo al bot y medir el ahorro de tiempo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cinco: Lucero en el planteamiento, Alexis en la generación y OpenSees, Nicolás en el módulo NSR-10, Jean Piere en datos, Random Forest y el bot, y Joseph en validación y coordinación. Agradecemos al profesor Thomas Rojas Vallejo por sus datos.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rgbClr val="1E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91440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548640" y="2240280"/>
            <a:ext cx="731520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00600"/>
            <a:ext cx="5486400" cy="228600"/>
          </a:xfrm>
          <a:prstGeom prst="rect">
            <a:avLst/>
          </a:prstGeom>
          <a:noFill/>
          <a:ln/>
        </p:spPr>
        <p:txBody>
          <a:bodyPr wrap="square" rtlCol="0" anchor="ctr"/>
          <a:lstStyle/>
          <a:p>
            <a:pPr indent="0" marL="0">
              <a:buNone/>
            </a:pPr>
            <a:r>
              <a:rPr lang="en-US" sz="900" dirty="0">
                <a:solidFill>
                  <a:schemeClr val="accent2"/>
                </a:solidFill>
              </a:rPr>
              <a:t>Nexo Sísmico · Beca AI Talent (AECODE) · 2026</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rgbClr val="1E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77724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INVESTIGACIÓN ACADÉMICA APLICADA · BECA AI TALENT (AECODE)</a:t>
            </a:r>
            <a:endParaRPr lang="en-US" sz="1200" dirty="0"/>
          </a:p>
        </p:txBody>
      </p:sp>
      <p:sp>
        <p:nvSpPr>
          <p:cNvPr id="3" name="Text 0"/>
          <p:cNvSpPr/>
          <p:nvPr>
            <p:ph idx="100" type="title" hasCustomPrompt="1"/>
          </p:nvPr>
        </p:nvSpPr>
        <p:spPr>
          <a:xfrm>
            <a:off x="548640" y="1234440"/>
            <a:ext cx="8046720" cy="91440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Nexo Sísmico</a:t>
            </a:r>
            <a:endParaRPr lang="en-US" sz="4400" dirty="0"/>
          </a:p>
        </p:txBody>
      </p:sp>
      <p:sp>
        <p:nvSpPr>
          <p:cNvPr id="4" name="Text 0"/>
          <p:cNvSpPr/>
          <p:nvPr>
            <p:ph idx="101" type="body" hasCustomPrompt="1"/>
          </p:nvPr>
        </p:nvSpPr>
        <p:spPr>
          <a:xfrm>
            <a:off x="548640" y="2240280"/>
            <a:ext cx="7315200" cy="914400"/>
          </a:xfrm>
          <a:prstGeom prst="rect">
            <a:avLst/>
          </a:prstGeom>
          <a:noFill/>
          <a:ln/>
        </p:spPr>
        <p:txBody>
          <a:bodyPr wrap="square" lIns="0" tIns="0" rIns="0" bIns="0" rtlCol="0" anchor="t"/>
          <a:lstStyle/>
          <a:p>
            <a:pPr algn="l" indent="0" marL="0">
              <a:buNone/>
            </a:pPr>
            <a:r>
              <a:rPr lang="en-US" sz="1800" dirty="0">
                <a:solidFill>
                  <a:schemeClr val="accent6"/>
                </a:solidFill>
              </a:rPr>
              <a:t>Estimación preliminar de derivas sísmicas en edificios aporticados de concreto armado: verificación NSR-10 automatizada y aprendizaje automático</a:t>
            </a:r>
            <a:endParaRPr lang="en-US" sz="1800" dirty="0"/>
          </a:p>
        </p:txBody>
      </p:sp>
      <p:sp>
        <p:nvSpPr>
          <p:cNvPr id="5" name="Text 3"/>
          <p:cNvSpPr txBox="1"/>
          <p:nvPr/>
        </p:nvSpPr>
        <p:spPr>
          <a:xfrm>
            <a:off x="548640" y="3977640"/>
            <a:ext cx="7315200" cy="274320"/>
          </a:xfrm>
          <a:prstGeom prst="rect">
            <a:avLst/>
          </a:prstGeom>
          <a:noFill/>
          <a:ln/>
        </p:spPr>
        <p:txBody>
          <a:bodyPr wrap="square" lIns="0" tIns="0" rIns="0" bIns="0" rtlCol="0" anchor="t"/>
          <a:lstStyle/>
          <a:p>
            <a:pPr indent="0" marL="0">
              <a:buNone/>
            </a:pPr>
            <a:r>
              <a:rPr lang="en-US" sz="1400" dirty="0">
                <a:solidFill>
                  <a:schemeClr val="bg1"/>
                </a:solidFill>
              </a:rPr>
              <a:t>Lucero · Alexis · Nicolás Infante · Jean Piere · Joseph</a:t>
            </a:r>
            <a:endParaRPr lang="en-US" sz="1400" dirty="0"/>
          </a:p>
        </p:txBody>
      </p:sp>
      <p:sp>
        <p:nvSpPr>
          <p:cNvPr id="6" name="Text 4"/>
          <p:cNvSpPr txBox="1"/>
          <p:nvPr/>
        </p:nvSpPr>
        <p:spPr>
          <a:xfrm>
            <a:off x="548640" y="4297680"/>
            <a:ext cx="7315200" cy="274320"/>
          </a:xfrm>
          <a:prstGeom prst="rect">
            <a:avLst/>
          </a:prstGeom>
          <a:noFill/>
          <a:ln/>
        </p:spPr>
        <p:txBody>
          <a:bodyPr wrap="square" lIns="0" tIns="0" rIns="0" bIns="0" rtlCol="0" anchor="t"/>
          <a:lstStyle/>
          <a:p>
            <a:pPr indent="0" marL="0">
              <a:buNone/>
            </a:pPr>
            <a:r>
              <a:rPr lang="en-US" sz="1200" dirty="0">
                <a:solidFill>
                  <a:schemeClr val="accent6"/>
                </a:solidFill>
              </a:rPr>
              <a:t>Demo Day · 24 de octubre de 2026</a:t>
            </a:r>
            <a:endParaRPr lang="en-US" sz="1200" dirty="0"/>
          </a:p>
        </p:txBody>
      </p:sp>
      <p:sp>
        <p:nvSpPr>
          <p:cNvPr id="7" name="badge"/>
          <p:cNvSpPr/>
          <p:nvPr/>
        </p:nvSpPr>
        <p:spPr>
          <a:xfrm>
            <a:off x="7863840" y="3931920"/>
            <a:ext cx="731520" cy="731520"/>
          </a:xfrm>
          <a:prstGeom prst="ellipse">
            <a:avLst/>
          </a:prstGeom>
          <a:solidFill>
            <a:schemeClr val="accent1"/>
          </a:solidFill>
          <a:ln w="12700">
            <a:solidFill>
              <a:schemeClr val="accent1"/>
            </a:solidFill>
            <a:prstDash val="solid"/>
          </a:ln>
        </p:spPr>
      </p:sp>
      <p:pic>
        <p:nvPicPr>
          <p:cNvPr id="8" name="icono" descr="preencoded.png">    </p:cNvPr>
          <p:cNvPicPr>
            <a:picLocks noChangeAspect="1"/>
          </p:cNvPicPr>
          <p:nvPr/>
        </p:nvPicPr>
        <p:blipFill>
          <a:blip r:embed="rId1"/>
          <a:stretch>
            <a:fillRect/>
          </a:stretch>
        </p:blipFill>
        <p:spPr>
          <a:xfrm>
            <a:off x="8024774" y="4092854"/>
            <a:ext cx="409651" cy="40965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Cada alternativa cuesta un modelo completo</a:t>
            </a:r>
            <a:endParaRPr lang="en-US" sz="2800" dirty="0"/>
          </a:p>
        </p:txBody>
      </p:sp>
      <p:sp>
        <p:nvSpPr>
          <p:cNvPr id="3" name="Text 1"/>
          <p:cNvSpPr txBox="1"/>
          <p:nvPr/>
        </p:nvSpPr>
        <p:spPr>
          <a:xfrm>
            <a:off x="457200" y="1234440"/>
            <a:ext cx="4023360" cy="219456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Para saber si una configuración de pórticos cumple la deriva, el ingeniero repite el ciclo completo:</a:t>
            </a:r>
            <a:endParaRPr lang="en-US" sz="1600" dirty="0"/>
          </a:p>
          <a:p>
            <a:pPr indent="0" marL="0">
              <a:spcAft>
                <a:spcPts val="400"/>
              </a:spcAft>
              <a:buNone/>
            </a:pPr>
            <a:r>
              <a:rPr lang="en-US" sz="1600" dirty="0">
                <a:solidFill>
                  <a:schemeClr val="tx1"/>
                </a:solidFill>
              </a:rPr>
              <a:t>espectro, pesos, fuerzas, modelo en SAP2000, derivas y revisión normativa.</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b="1" dirty="0">
                <a:solidFill>
                  <a:schemeClr val="tx1"/>
                </a:solidFill>
              </a:rPr>
              <a:t>Muchas alternativas no cumplen y se descartan después de todo ese trabajo.</a:t>
            </a:r>
            <a:endParaRPr lang="en-US" sz="1600" dirty="0"/>
          </a:p>
        </p:txBody>
      </p:sp>
      <p:sp>
        <p:nvSpPr>
          <p:cNvPr id="4" name="stat"/>
          <p:cNvSpPr/>
          <p:nvPr/>
        </p:nvSpPr>
        <p:spPr>
          <a:xfrm>
            <a:off x="4846320" y="1188720"/>
            <a:ext cx="3840480" cy="960120"/>
          </a:xfrm>
          <a:prstGeom prst="roundRect">
            <a:avLst>
              <a:gd name="adj" fmla="val 7619"/>
            </a:avLst>
          </a:prstGeom>
          <a:solidFill>
            <a:schemeClr val="bg2"/>
          </a:solidFill>
          <a:ln w="12700">
            <a:solidFill>
              <a:schemeClr val="bg2"/>
            </a:solidFill>
            <a:prstDash val="solid"/>
          </a:ln>
        </p:spPr>
      </p:sp>
      <p:sp>
        <p:nvSpPr>
          <p:cNvPr id="5" name="Text 3"/>
          <p:cNvSpPr txBox="1"/>
          <p:nvPr/>
        </p:nvSpPr>
        <p:spPr>
          <a:xfrm>
            <a:off x="5029200" y="1298448"/>
            <a:ext cx="1463040" cy="73152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130</a:t>
            </a:r>
            <a:endParaRPr lang="en-US" sz="3600" dirty="0"/>
          </a:p>
        </p:txBody>
      </p:sp>
      <p:sp>
        <p:nvSpPr>
          <p:cNvPr id="6" name="Text 4"/>
          <p:cNvSpPr txBox="1"/>
          <p:nvPr/>
        </p:nvSpPr>
        <p:spPr>
          <a:xfrm>
            <a:off x="6537960" y="1298448"/>
            <a:ext cx="2011680" cy="731520"/>
          </a:xfrm>
          <a:prstGeom prst="rect">
            <a:avLst/>
          </a:prstGeom>
          <a:noFill/>
          <a:ln/>
        </p:spPr>
        <p:txBody>
          <a:bodyPr wrap="square" lIns="0" tIns="0" rIns="0" bIns="0" rtlCol="0" anchor="ctr"/>
          <a:lstStyle/>
          <a:p>
            <a:pPr indent="0" marL="0">
              <a:buNone/>
            </a:pPr>
            <a:r>
              <a:rPr lang="en-US" sz="1300" dirty="0">
                <a:solidFill>
                  <a:schemeClr val="tx2"/>
                </a:solidFill>
              </a:rPr>
              <a:t>modelos E.030 generados en 49 familias</a:t>
            </a:r>
            <a:endParaRPr lang="en-US" sz="1300" dirty="0"/>
          </a:p>
        </p:txBody>
      </p:sp>
      <p:sp>
        <p:nvSpPr>
          <p:cNvPr id="7" name="stat"/>
          <p:cNvSpPr/>
          <p:nvPr/>
        </p:nvSpPr>
        <p:spPr>
          <a:xfrm>
            <a:off x="4846320" y="2331720"/>
            <a:ext cx="3840480" cy="960120"/>
          </a:xfrm>
          <a:prstGeom prst="roundRect">
            <a:avLst>
              <a:gd name="adj" fmla="val 7619"/>
            </a:avLst>
          </a:prstGeom>
          <a:solidFill>
            <a:schemeClr val="bg2"/>
          </a:solidFill>
          <a:ln w="12700">
            <a:solidFill>
              <a:schemeClr val="bg2"/>
            </a:solidFill>
            <a:prstDash val="solid"/>
          </a:ln>
        </p:spPr>
      </p:sp>
      <p:sp>
        <p:nvSpPr>
          <p:cNvPr id="8" name="Text 6"/>
          <p:cNvSpPr txBox="1"/>
          <p:nvPr/>
        </p:nvSpPr>
        <p:spPr>
          <a:xfrm>
            <a:off x="5029200" y="2441448"/>
            <a:ext cx="1463040" cy="73152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33 %</a:t>
            </a:r>
            <a:endParaRPr lang="en-US" sz="3600" dirty="0"/>
          </a:p>
        </p:txBody>
      </p:sp>
      <p:sp>
        <p:nvSpPr>
          <p:cNvPr id="9" name="Text 7"/>
          <p:cNvSpPr txBox="1"/>
          <p:nvPr/>
        </p:nvSpPr>
        <p:spPr>
          <a:xfrm>
            <a:off x="6537960" y="2441448"/>
            <a:ext cx="2011680" cy="731520"/>
          </a:xfrm>
          <a:prstGeom prst="rect">
            <a:avLst/>
          </a:prstGeom>
          <a:noFill/>
          <a:ln/>
        </p:spPr>
        <p:txBody>
          <a:bodyPr wrap="square" lIns="0" tIns="0" rIns="0" bIns="0" rtlCol="0" anchor="ctr"/>
          <a:lstStyle/>
          <a:p>
            <a:pPr indent="0" marL="0">
              <a:buNone/>
            </a:pPr>
            <a:r>
              <a:rPr lang="en-US" sz="1300" dirty="0">
                <a:solidFill>
                  <a:schemeClr val="tx2"/>
                </a:solidFill>
              </a:rPr>
              <a:t>superan el límite de deriva (43 de 130)</a:t>
            </a:r>
            <a:endParaRPr lang="en-US" sz="1300" dirty="0"/>
          </a:p>
        </p:txBody>
      </p:sp>
      <p:sp>
        <p:nvSpPr>
          <p:cNvPr id="10" name="stat"/>
          <p:cNvSpPr/>
          <p:nvPr/>
        </p:nvSpPr>
        <p:spPr>
          <a:xfrm>
            <a:off x="4846320" y="3474720"/>
            <a:ext cx="3840480" cy="960120"/>
          </a:xfrm>
          <a:prstGeom prst="roundRect">
            <a:avLst>
              <a:gd name="adj" fmla="val 7619"/>
            </a:avLst>
          </a:prstGeom>
          <a:solidFill>
            <a:schemeClr val="bg2"/>
          </a:solidFill>
          <a:ln w="12700">
            <a:solidFill>
              <a:schemeClr val="bg2"/>
            </a:solidFill>
            <a:prstDash val="solid"/>
          </a:ln>
        </p:spPr>
      </p:sp>
      <p:sp>
        <p:nvSpPr>
          <p:cNvPr id="11" name="Text 9"/>
          <p:cNvSpPr txBox="1"/>
          <p:nvPr/>
        </p:nvSpPr>
        <p:spPr>
          <a:xfrm>
            <a:off x="5029200" y="3584448"/>
            <a:ext cx="1463040" cy="73152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1,0 %</a:t>
            </a:r>
            <a:endParaRPr lang="en-US" sz="3600" dirty="0"/>
          </a:p>
        </p:txBody>
      </p:sp>
      <p:sp>
        <p:nvSpPr>
          <p:cNvPr id="12" name="Text 10"/>
          <p:cNvSpPr txBox="1"/>
          <p:nvPr/>
        </p:nvSpPr>
        <p:spPr>
          <a:xfrm>
            <a:off x="6537960" y="3584448"/>
            <a:ext cx="2011680" cy="731520"/>
          </a:xfrm>
          <a:prstGeom prst="rect">
            <a:avLst/>
          </a:prstGeom>
          <a:noFill/>
          <a:ln/>
        </p:spPr>
        <p:txBody>
          <a:bodyPr wrap="square" lIns="0" tIns="0" rIns="0" bIns="0" rtlCol="0" anchor="ctr"/>
          <a:lstStyle/>
          <a:p>
            <a:pPr indent="0" marL="0">
              <a:buNone/>
            </a:pPr>
            <a:r>
              <a:rPr lang="en-US" sz="1300" dirty="0">
                <a:solidFill>
                  <a:schemeClr val="tx2"/>
                </a:solidFill>
              </a:rPr>
              <a:t>de hpi: límite de deriva NSR-10 (A.6.4)</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Pregunta de investigación</a:t>
            </a:r>
            <a:endParaRPr lang="en-US" sz="2800" dirty="0"/>
          </a:p>
        </p:txBody>
      </p:sp>
      <p:sp>
        <p:nvSpPr>
          <p:cNvPr id="3" name="pregunta"/>
          <p:cNvSpPr/>
          <p:nvPr/>
        </p:nvSpPr>
        <p:spPr>
          <a:xfrm>
            <a:off x="457200" y="1143000"/>
            <a:ext cx="8229600" cy="1143000"/>
          </a:xfrm>
          <a:prstGeom prst="roundRect">
            <a:avLst>
              <a:gd name="adj" fmla="val 6400"/>
            </a:avLst>
          </a:prstGeom>
          <a:solidFill>
            <a:schemeClr val="tx1"/>
          </a:solidFill>
          <a:ln w="12700">
            <a:solidFill>
              <a:schemeClr val="tx1"/>
            </a:solidFill>
            <a:prstDash val="solid"/>
          </a:ln>
        </p:spPr>
      </p:sp>
      <p:sp>
        <p:nvSpPr>
          <p:cNvPr id="4" name="Text 2"/>
          <p:cNvSpPr txBox="1"/>
          <p:nvPr/>
        </p:nvSpPr>
        <p:spPr>
          <a:xfrm>
            <a:off x="731520" y="1234440"/>
            <a:ext cx="7680960" cy="960120"/>
          </a:xfrm>
          <a:prstGeom prst="rect">
            <a:avLst/>
          </a:prstGeom>
          <a:noFill/>
          <a:ln/>
        </p:spPr>
        <p:txBody>
          <a:bodyPr wrap="square" lIns="0" tIns="0" rIns="0" bIns="0" rtlCol="0" anchor="ctr"/>
          <a:lstStyle/>
          <a:p>
            <a:pPr indent="0" marL="0">
              <a:buNone/>
            </a:pPr>
            <a:r>
              <a:rPr lang="en-US" sz="1700" i="1" dirty="0">
                <a:solidFill>
                  <a:schemeClr val="bg1"/>
                </a:solidFill>
                <a:latin typeface="Cambria" pitchFamily="34" charset="0"/>
                <a:ea typeface="Cambria" pitchFamily="34" charset="-122"/>
                <a:cs typeface="Cambria" pitchFamily="34" charset="-120"/>
              </a:rPr>
              <a:t>¿Con qué precisión puede Random Forest estimar las derivas máximas de familias de edificios aporticados no utilizadas en el entrenamiento, y qué ventaja ofrece al comparar alternativas de predimensionamiento?</a:t>
            </a:r>
            <a:endParaRPr lang="en-US" sz="1700" dirty="0"/>
          </a:p>
        </p:txBody>
      </p:sp>
      <p:sp>
        <p:nvSpPr>
          <p:cNvPr id="5" name="objetivo"/>
          <p:cNvSpPr/>
          <p:nvPr/>
        </p:nvSpPr>
        <p:spPr>
          <a:xfrm>
            <a:off x="457200" y="2606040"/>
            <a:ext cx="2560320" cy="1874520"/>
          </a:xfrm>
          <a:prstGeom prst="roundRect">
            <a:avLst>
              <a:gd name="adj" fmla="val 3902"/>
            </a:avLst>
          </a:prstGeom>
          <a:solidFill>
            <a:schemeClr val="bg2"/>
          </a:solidFill>
          <a:ln w="12700">
            <a:solidFill>
              <a:schemeClr val="bg2"/>
            </a:solidFill>
            <a:prstDash val="solid"/>
          </a:ln>
        </p:spPr>
      </p:sp>
      <p:sp>
        <p:nvSpPr>
          <p:cNvPr id="6" name="badge"/>
          <p:cNvSpPr/>
          <p:nvPr/>
        </p:nvSpPr>
        <p:spPr>
          <a:xfrm>
            <a:off x="685800" y="2788920"/>
            <a:ext cx="502920" cy="502920"/>
          </a:xfrm>
          <a:prstGeom prst="ellipse">
            <a:avLst/>
          </a:prstGeom>
          <a:solidFill>
            <a:schemeClr val="accent1"/>
          </a:solidFill>
          <a:ln w="12700">
            <a:solidFill>
              <a:schemeClr val="accent1"/>
            </a:solidFill>
            <a:prstDash val="solid"/>
          </a:ln>
        </p:spPr>
      </p:sp>
      <p:pic>
        <p:nvPicPr>
          <p:cNvPr id="7" name="icono" descr="preencoded.png">    </p:cNvPr>
          <p:cNvPicPr>
            <a:picLocks noChangeAspect="1"/>
          </p:cNvPicPr>
          <p:nvPr/>
        </p:nvPicPr>
        <p:blipFill>
          <a:blip r:embed="rId1"/>
          <a:stretch>
            <a:fillRect/>
          </a:stretch>
        </p:blipFill>
        <p:spPr>
          <a:xfrm>
            <a:off x="796442" y="2899562"/>
            <a:ext cx="281635" cy="281635"/>
          </a:xfrm>
          <a:prstGeom prst="rect">
            <a:avLst/>
          </a:prstGeom>
        </p:spPr>
      </p:pic>
      <p:sp>
        <p:nvSpPr>
          <p:cNvPr id="8" name="Text 5"/>
          <p:cNvSpPr txBox="1"/>
          <p:nvPr/>
        </p:nvSpPr>
        <p:spPr>
          <a:xfrm>
            <a:off x="1325880" y="2834640"/>
            <a:ext cx="1554480" cy="411480"/>
          </a:xfrm>
          <a:prstGeom prst="rect">
            <a:avLst/>
          </a:prstGeom>
          <a:noFill/>
          <a:ln/>
        </p:spPr>
        <p:txBody>
          <a:bodyPr wrap="square" lIns="0" tIns="0" rIns="0" bIns="0" rtlCol="0" anchor="ctr"/>
          <a:lstStyle/>
          <a:p>
            <a:pPr indent="0" marL="0">
              <a:buNone/>
            </a:pPr>
            <a:r>
              <a:rPr lang="en-US" sz="1800" b="1" dirty="0">
                <a:solidFill>
                  <a:schemeClr val="tx1"/>
                </a:solidFill>
              </a:rPr>
              <a:t>Generar</a:t>
            </a:r>
            <a:endParaRPr lang="en-US" sz="1800" dirty="0"/>
          </a:p>
        </p:txBody>
      </p:sp>
      <p:sp>
        <p:nvSpPr>
          <p:cNvPr id="9" name="Text 6"/>
          <p:cNvSpPr txBox="1"/>
          <p:nvPr/>
        </p:nvSpPr>
        <p:spPr>
          <a:xfrm>
            <a:off x="685800" y="3474720"/>
            <a:ext cx="2148840" cy="868680"/>
          </a:xfrm>
          <a:prstGeom prst="rect">
            <a:avLst/>
          </a:prstGeom>
          <a:noFill/>
          <a:ln/>
        </p:spPr>
        <p:txBody>
          <a:bodyPr wrap="square" lIns="0" tIns="0" rIns="0" bIns="0" rtlCol="0" anchor="t"/>
          <a:lstStyle/>
          <a:p>
            <a:pPr indent="0" marL="0">
              <a:buNone/>
            </a:pPr>
            <a:r>
              <a:rPr lang="en-US" sz="1400" dirty="0">
                <a:solidFill>
                  <a:schemeClr val="tx2"/>
                </a:solidFill>
              </a:rPr>
              <a:t>familias paramétricas y analizarlas en OpenSees (E.030)</a:t>
            </a:r>
            <a:endParaRPr lang="en-US" sz="1400" dirty="0"/>
          </a:p>
        </p:txBody>
      </p:sp>
      <p:sp>
        <p:nvSpPr>
          <p:cNvPr id="10" name="objetivo"/>
          <p:cNvSpPr/>
          <p:nvPr/>
        </p:nvSpPr>
        <p:spPr>
          <a:xfrm>
            <a:off x="3291840" y="2606040"/>
            <a:ext cx="2560320" cy="1874520"/>
          </a:xfrm>
          <a:prstGeom prst="roundRect">
            <a:avLst>
              <a:gd name="adj" fmla="val 3902"/>
            </a:avLst>
          </a:prstGeom>
          <a:solidFill>
            <a:schemeClr val="bg2"/>
          </a:solidFill>
          <a:ln w="12700">
            <a:solidFill>
              <a:schemeClr val="bg2"/>
            </a:solidFill>
            <a:prstDash val="solid"/>
          </a:ln>
        </p:spPr>
      </p:sp>
      <p:sp>
        <p:nvSpPr>
          <p:cNvPr id="11" name="badge"/>
          <p:cNvSpPr/>
          <p:nvPr/>
        </p:nvSpPr>
        <p:spPr>
          <a:xfrm>
            <a:off x="3520440" y="2788920"/>
            <a:ext cx="502920" cy="502920"/>
          </a:xfrm>
          <a:prstGeom prst="ellipse">
            <a:avLst/>
          </a:prstGeom>
          <a:solidFill>
            <a:schemeClr val="accent1"/>
          </a:solidFill>
          <a:ln w="12700">
            <a:solidFill>
              <a:schemeClr val="accent1"/>
            </a:solidFill>
            <a:prstDash val="solid"/>
          </a:ln>
        </p:spPr>
      </p:sp>
      <p:pic>
        <p:nvPicPr>
          <p:cNvPr id="12" name="icono" descr="preencoded.png">    </p:cNvPr>
          <p:cNvPicPr>
            <a:picLocks noChangeAspect="1"/>
          </p:cNvPicPr>
          <p:nvPr/>
        </p:nvPicPr>
        <p:blipFill>
          <a:blip r:embed="rId2"/>
          <a:stretch>
            <a:fillRect/>
          </a:stretch>
        </p:blipFill>
        <p:spPr>
          <a:xfrm>
            <a:off x="3631082" y="2899562"/>
            <a:ext cx="281635" cy="281635"/>
          </a:xfrm>
          <a:prstGeom prst="rect">
            <a:avLst/>
          </a:prstGeom>
        </p:spPr>
      </p:pic>
      <p:sp>
        <p:nvSpPr>
          <p:cNvPr id="13" name="Text 9"/>
          <p:cNvSpPr txBox="1"/>
          <p:nvPr/>
        </p:nvSpPr>
        <p:spPr>
          <a:xfrm>
            <a:off x="4160520" y="2834640"/>
            <a:ext cx="1554480" cy="411480"/>
          </a:xfrm>
          <a:prstGeom prst="rect">
            <a:avLst/>
          </a:prstGeom>
          <a:noFill/>
          <a:ln/>
        </p:spPr>
        <p:txBody>
          <a:bodyPr wrap="square" lIns="0" tIns="0" rIns="0" bIns="0" rtlCol="0" anchor="ctr"/>
          <a:lstStyle/>
          <a:p>
            <a:pPr indent="0" marL="0">
              <a:buNone/>
            </a:pPr>
            <a:r>
              <a:rPr lang="en-US" sz="1800" b="1" dirty="0">
                <a:solidFill>
                  <a:schemeClr val="tx1"/>
                </a:solidFill>
              </a:rPr>
              <a:t>Automatizar</a:t>
            </a:r>
            <a:endParaRPr lang="en-US" sz="1800" dirty="0"/>
          </a:p>
        </p:txBody>
      </p:sp>
      <p:sp>
        <p:nvSpPr>
          <p:cNvPr id="14" name="Text 10"/>
          <p:cNvSpPr txBox="1"/>
          <p:nvPr/>
        </p:nvSpPr>
        <p:spPr>
          <a:xfrm>
            <a:off x="3520440" y="3474720"/>
            <a:ext cx="2148840" cy="868680"/>
          </a:xfrm>
          <a:prstGeom prst="rect">
            <a:avLst/>
          </a:prstGeom>
          <a:noFill/>
          <a:ln/>
        </p:spPr>
        <p:txBody>
          <a:bodyPr wrap="square" lIns="0" tIns="0" rIns="0" bIns="0" rtlCol="0" anchor="t"/>
          <a:lstStyle/>
          <a:p>
            <a:pPr indent="0" marL="0">
              <a:buNone/>
            </a:pPr>
            <a:r>
              <a:rPr lang="en-US" sz="1400" dirty="0">
                <a:solidFill>
                  <a:schemeClr val="tx2"/>
                </a:solidFill>
              </a:rPr>
              <a:t>la verificación NSR-10 con datos de SAP2000</a:t>
            </a:r>
            <a:endParaRPr lang="en-US" sz="1400" dirty="0"/>
          </a:p>
        </p:txBody>
      </p:sp>
      <p:sp>
        <p:nvSpPr>
          <p:cNvPr id="15" name="objetivo"/>
          <p:cNvSpPr/>
          <p:nvPr/>
        </p:nvSpPr>
        <p:spPr>
          <a:xfrm>
            <a:off x="6126480" y="2606040"/>
            <a:ext cx="2560320" cy="1874520"/>
          </a:xfrm>
          <a:prstGeom prst="roundRect">
            <a:avLst>
              <a:gd name="adj" fmla="val 3902"/>
            </a:avLst>
          </a:prstGeom>
          <a:solidFill>
            <a:schemeClr val="bg2"/>
          </a:solidFill>
          <a:ln w="12700">
            <a:solidFill>
              <a:schemeClr val="bg2"/>
            </a:solidFill>
            <a:prstDash val="solid"/>
          </a:ln>
        </p:spPr>
      </p:sp>
      <p:sp>
        <p:nvSpPr>
          <p:cNvPr id="16" name="badge"/>
          <p:cNvSpPr/>
          <p:nvPr/>
        </p:nvSpPr>
        <p:spPr>
          <a:xfrm>
            <a:off x="6355080" y="2788920"/>
            <a:ext cx="502920" cy="502920"/>
          </a:xfrm>
          <a:prstGeom prst="ellipse">
            <a:avLst/>
          </a:prstGeom>
          <a:solidFill>
            <a:schemeClr val="accent1"/>
          </a:solidFill>
          <a:ln w="12700">
            <a:solidFill>
              <a:schemeClr val="accent1"/>
            </a:solidFill>
            <a:prstDash val="solid"/>
          </a:ln>
        </p:spPr>
      </p:sp>
      <p:pic>
        <p:nvPicPr>
          <p:cNvPr id="17" name="icono" descr="preencoded.png">    </p:cNvPr>
          <p:cNvPicPr>
            <a:picLocks noChangeAspect="1"/>
          </p:cNvPicPr>
          <p:nvPr/>
        </p:nvPicPr>
        <p:blipFill>
          <a:blip r:embed="rId3"/>
          <a:stretch>
            <a:fillRect/>
          </a:stretch>
        </p:blipFill>
        <p:spPr>
          <a:xfrm>
            <a:off x="6465722" y="2899562"/>
            <a:ext cx="281635" cy="281635"/>
          </a:xfrm>
          <a:prstGeom prst="rect">
            <a:avLst/>
          </a:prstGeom>
        </p:spPr>
      </p:pic>
      <p:sp>
        <p:nvSpPr>
          <p:cNvPr id="18" name="Text 13"/>
          <p:cNvSpPr txBox="1"/>
          <p:nvPr/>
        </p:nvSpPr>
        <p:spPr>
          <a:xfrm>
            <a:off x="6995160" y="2834640"/>
            <a:ext cx="1554480" cy="411480"/>
          </a:xfrm>
          <a:prstGeom prst="rect">
            <a:avLst/>
          </a:prstGeom>
          <a:noFill/>
          <a:ln/>
        </p:spPr>
        <p:txBody>
          <a:bodyPr wrap="square" lIns="0" tIns="0" rIns="0" bIns="0" rtlCol="0" anchor="ctr"/>
          <a:lstStyle/>
          <a:p>
            <a:pPr indent="0" marL="0">
              <a:buNone/>
            </a:pPr>
            <a:r>
              <a:rPr lang="en-US" sz="1800" b="1" dirty="0">
                <a:solidFill>
                  <a:schemeClr val="tx1"/>
                </a:solidFill>
              </a:rPr>
              <a:t>Evaluar</a:t>
            </a:r>
            <a:endParaRPr lang="en-US" sz="1800" dirty="0"/>
          </a:p>
        </p:txBody>
      </p:sp>
      <p:sp>
        <p:nvSpPr>
          <p:cNvPr id="19" name="Text 14"/>
          <p:cNvSpPr txBox="1"/>
          <p:nvPr/>
        </p:nvSpPr>
        <p:spPr>
          <a:xfrm>
            <a:off x="6355080" y="3474720"/>
            <a:ext cx="2148840" cy="868680"/>
          </a:xfrm>
          <a:prstGeom prst="rect">
            <a:avLst/>
          </a:prstGeom>
          <a:noFill/>
          <a:ln/>
        </p:spPr>
        <p:txBody>
          <a:bodyPr wrap="square" lIns="0" tIns="0" rIns="0" bIns="0" rtlCol="0" anchor="t"/>
          <a:lstStyle/>
          <a:p>
            <a:pPr indent="0" marL="0">
              <a:buNone/>
            </a:pPr>
            <a:r>
              <a:rPr lang="en-US" sz="1400" dirty="0">
                <a:solidFill>
                  <a:schemeClr val="tx2"/>
                </a:solidFill>
              </a:rPr>
              <a:t>Random Forest dejando plantas completas fuera</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Cuatro ejes de la beca en un mismo flujo</a:t>
            </a:r>
            <a:endParaRPr lang="en-US" sz="2800" dirty="0"/>
          </a:p>
        </p:txBody>
      </p:sp>
      <p:sp>
        <p:nvSpPr>
          <p:cNvPr id="3" name="eje"/>
          <p:cNvSpPr/>
          <p:nvPr/>
        </p:nvSpPr>
        <p:spPr>
          <a:xfrm>
            <a:off x="457200" y="1188720"/>
            <a:ext cx="4023360" cy="1463040"/>
          </a:xfrm>
          <a:prstGeom prst="roundRect">
            <a:avLst>
              <a:gd name="adj" fmla="val 5000"/>
            </a:avLst>
          </a:prstGeom>
          <a:solidFill>
            <a:schemeClr val="bg2"/>
          </a:solidFill>
          <a:ln w="12700">
            <a:solidFill>
              <a:schemeClr val="bg2"/>
            </a:solidFill>
            <a:prstDash val="solid"/>
          </a:ln>
        </p:spPr>
      </p:sp>
      <p:sp>
        <p:nvSpPr>
          <p:cNvPr id="4" name="badge"/>
          <p:cNvSpPr/>
          <p:nvPr/>
        </p:nvSpPr>
        <p:spPr>
          <a:xfrm>
            <a:off x="685800" y="1463040"/>
            <a:ext cx="594360" cy="594360"/>
          </a:xfrm>
          <a:prstGeom prst="ellipse">
            <a:avLst/>
          </a:prstGeom>
          <a:solidFill>
            <a:schemeClr val="accent1"/>
          </a:solidFill>
          <a:ln w="12700">
            <a:solidFill>
              <a:schemeClr val="accent1"/>
            </a:solidFill>
            <a:prstDash val="solid"/>
          </a:ln>
        </p:spPr>
      </p:sp>
      <p:pic>
        <p:nvPicPr>
          <p:cNvPr id="5" name="icono" descr="preencoded.png">    </p:cNvPr>
          <p:cNvPicPr>
            <a:picLocks noChangeAspect="1"/>
          </p:cNvPicPr>
          <p:nvPr/>
        </p:nvPicPr>
        <p:blipFill>
          <a:blip r:embed="rId1"/>
          <a:stretch>
            <a:fillRect/>
          </a:stretch>
        </p:blipFill>
        <p:spPr>
          <a:xfrm>
            <a:off x="816559" y="1593799"/>
            <a:ext cx="332842" cy="332842"/>
          </a:xfrm>
          <a:prstGeom prst="rect">
            <a:avLst/>
          </a:prstGeom>
        </p:spPr>
      </p:pic>
      <p:sp>
        <p:nvSpPr>
          <p:cNvPr id="6" name="Text 3"/>
          <p:cNvSpPr txBox="1"/>
          <p:nvPr/>
        </p:nvSpPr>
        <p:spPr>
          <a:xfrm>
            <a:off x="1508760" y="1389888"/>
            <a:ext cx="2834640" cy="365760"/>
          </a:xfrm>
          <a:prstGeom prst="rect">
            <a:avLst/>
          </a:prstGeom>
          <a:noFill/>
          <a:ln/>
        </p:spPr>
        <p:txBody>
          <a:bodyPr wrap="square" lIns="0" tIns="0" rIns="0" bIns="0" rtlCol="0" anchor="t"/>
          <a:lstStyle/>
          <a:p>
            <a:pPr indent="0" marL="0">
              <a:buNone/>
            </a:pPr>
            <a:r>
              <a:rPr lang="en-US" sz="1700" b="1" dirty="0">
                <a:solidFill>
                  <a:schemeClr val="tx1"/>
                </a:solidFill>
              </a:rPr>
              <a:t>Inteligencia artificial</a:t>
            </a:r>
            <a:endParaRPr lang="en-US" sz="1700" dirty="0"/>
          </a:p>
        </p:txBody>
      </p:sp>
      <p:sp>
        <p:nvSpPr>
          <p:cNvPr id="7" name="Text 4"/>
          <p:cNvSpPr txBox="1"/>
          <p:nvPr/>
        </p:nvSpPr>
        <p:spPr>
          <a:xfrm>
            <a:off x="1508760" y="1783080"/>
            <a:ext cx="2834640" cy="777240"/>
          </a:xfrm>
          <a:prstGeom prst="rect">
            <a:avLst/>
          </a:prstGeom>
          <a:noFill/>
          <a:ln/>
        </p:spPr>
        <p:txBody>
          <a:bodyPr wrap="square" lIns="0" tIns="0" rIns="0" bIns="0" rtlCol="0" anchor="t"/>
          <a:lstStyle/>
          <a:p>
            <a:pPr indent="0" marL="0">
              <a:buNone/>
            </a:pPr>
            <a:r>
              <a:rPr lang="en-US" sz="1300" dirty="0">
                <a:solidFill>
                  <a:schemeClr val="tx2"/>
                </a:solidFill>
              </a:rPr>
              <a:t>Random Forest con validación por planta; comparado con regresión lineal y referencias</a:t>
            </a:r>
            <a:endParaRPr lang="en-US" sz="1300" dirty="0"/>
          </a:p>
        </p:txBody>
      </p:sp>
      <p:sp>
        <p:nvSpPr>
          <p:cNvPr id="8" name="eje"/>
          <p:cNvSpPr/>
          <p:nvPr/>
        </p:nvSpPr>
        <p:spPr>
          <a:xfrm>
            <a:off x="4663440" y="1188720"/>
            <a:ext cx="4023360" cy="1463040"/>
          </a:xfrm>
          <a:prstGeom prst="roundRect">
            <a:avLst>
              <a:gd name="adj" fmla="val 5000"/>
            </a:avLst>
          </a:prstGeom>
          <a:solidFill>
            <a:schemeClr val="bg2"/>
          </a:solidFill>
          <a:ln w="12700">
            <a:solidFill>
              <a:schemeClr val="bg2"/>
            </a:solidFill>
            <a:prstDash val="solid"/>
          </a:ln>
        </p:spPr>
      </p:sp>
      <p:sp>
        <p:nvSpPr>
          <p:cNvPr id="9" name="badge"/>
          <p:cNvSpPr/>
          <p:nvPr/>
        </p:nvSpPr>
        <p:spPr>
          <a:xfrm>
            <a:off x="4892040" y="1463040"/>
            <a:ext cx="594360" cy="594360"/>
          </a:xfrm>
          <a:prstGeom prst="ellipse">
            <a:avLst/>
          </a:prstGeom>
          <a:solidFill>
            <a:schemeClr val="accent1"/>
          </a:solidFill>
          <a:ln w="12700">
            <a:solidFill>
              <a:schemeClr val="accent1"/>
            </a:solidFill>
            <a:prstDash val="solid"/>
          </a:ln>
        </p:spPr>
      </p:sp>
      <p:pic>
        <p:nvPicPr>
          <p:cNvPr id="10" name="icono" descr="preencoded.png">    </p:cNvPr>
          <p:cNvPicPr>
            <a:picLocks noChangeAspect="1"/>
          </p:cNvPicPr>
          <p:nvPr/>
        </p:nvPicPr>
        <p:blipFill>
          <a:blip r:embed="rId2"/>
          <a:stretch>
            <a:fillRect/>
          </a:stretch>
        </p:blipFill>
        <p:spPr>
          <a:xfrm>
            <a:off x="5022799" y="1593799"/>
            <a:ext cx="332842" cy="332842"/>
          </a:xfrm>
          <a:prstGeom prst="rect">
            <a:avLst/>
          </a:prstGeom>
        </p:spPr>
      </p:pic>
      <p:sp>
        <p:nvSpPr>
          <p:cNvPr id="11" name="Text 7"/>
          <p:cNvSpPr txBox="1"/>
          <p:nvPr/>
        </p:nvSpPr>
        <p:spPr>
          <a:xfrm>
            <a:off x="5715000" y="1389888"/>
            <a:ext cx="2834640" cy="365760"/>
          </a:xfrm>
          <a:prstGeom prst="rect">
            <a:avLst/>
          </a:prstGeom>
          <a:noFill/>
          <a:ln/>
        </p:spPr>
        <p:txBody>
          <a:bodyPr wrap="square" lIns="0" tIns="0" rIns="0" bIns="0" rtlCol="0" anchor="t"/>
          <a:lstStyle/>
          <a:p>
            <a:pPr indent="0" marL="0">
              <a:buNone/>
            </a:pPr>
            <a:r>
              <a:rPr lang="en-US" sz="1700" b="1" dirty="0">
                <a:solidFill>
                  <a:schemeClr val="tx1"/>
                </a:solidFill>
              </a:rPr>
              <a:t>Automatización</a:t>
            </a:r>
            <a:endParaRPr lang="en-US" sz="1700" dirty="0"/>
          </a:p>
        </p:txBody>
      </p:sp>
      <p:sp>
        <p:nvSpPr>
          <p:cNvPr id="12" name="Text 8"/>
          <p:cNvSpPr txBox="1"/>
          <p:nvPr/>
        </p:nvSpPr>
        <p:spPr>
          <a:xfrm>
            <a:off x="5715000" y="1783080"/>
            <a:ext cx="2834640" cy="777240"/>
          </a:xfrm>
          <a:prstGeom prst="rect">
            <a:avLst/>
          </a:prstGeom>
          <a:noFill/>
          <a:ln/>
        </p:spPr>
        <p:txBody>
          <a:bodyPr wrap="square" lIns="0" tIns="0" rIns="0" bIns="0" rtlCol="0" anchor="t"/>
          <a:lstStyle/>
          <a:p>
            <a:pPr indent="0" marL="0">
              <a:buNone/>
            </a:pPr>
            <a:r>
              <a:rPr lang="en-US" sz="1300" dirty="0">
                <a:solidFill>
                  <a:schemeClr val="tx2"/>
                </a:solidFill>
              </a:rPr>
              <a:t>Módulo NSR-10 en Python; bot de Telegram en n8n como interfaz propuesta</a:t>
            </a:r>
            <a:endParaRPr lang="en-US" sz="1300" dirty="0"/>
          </a:p>
        </p:txBody>
      </p:sp>
      <p:sp>
        <p:nvSpPr>
          <p:cNvPr id="13" name="eje"/>
          <p:cNvSpPr/>
          <p:nvPr/>
        </p:nvSpPr>
        <p:spPr>
          <a:xfrm>
            <a:off x="457200" y="2880360"/>
            <a:ext cx="4023360" cy="1463040"/>
          </a:xfrm>
          <a:prstGeom prst="roundRect">
            <a:avLst>
              <a:gd name="adj" fmla="val 5000"/>
            </a:avLst>
          </a:prstGeom>
          <a:solidFill>
            <a:schemeClr val="bg2"/>
          </a:solidFill>
          <a:ln w="12700">
            <a:solidFill>
              <a:schemeClr val="bg2"/>
            </a:solidFill>
            <a:prstDash val="solid"/>
          </a:ln>
        </p:spPr>
      </p:sp>
      <p:sp>
        <p:nvSpPr>
          <p:cNvPr id="14" name="badge"/>
          <p:cNvSpPr/>
          <p:nvPr/>
        </p:nvSpPr>
        <p:spPr>
          <a:xfrm>
            <a:off x="685800" y="3154680"/>
            <a:ext cx="594360" cy="594360"/>
          </a:xfrm>
          <a:prstGeom prst="ellipse">
            <a:avLst/>
          </a:prstGeom>
          <a:solidFill>
            <a:schemeClr val="accent1"/>
          </a:solidFill>
          <a:ln w="12700">
            <a:solidFill>
              <a:schemeClr val="accent1"/>
            </a:solidFill>
            <a:prstDash val="solid"/>
          </a:ln>
        </p:spPr>
      </p:sp>
      <p:pic>
        <p:nvPicPr>
          <p:cNvPr id="15" name="icono" descr="preencoded.png">    </p:cNvPr>
          <p:cNvPicPr>
            <a:picLocks noChangeAspect="1"/>
          </p:cNvPicPr>
          <p:nvPr/>
        </p:nvPicPr>
        <p:blipFill>
          <a:blip r:embed="rId3"/>
          <a:stretch>
            <a:fillRect/>
          </a:stretch>
        </p:blipFill>
        <p:spPr>
          <a:xfrm>
            <a:off x="816559" y="3285439"/>
            <a:ext cx="332842" cy="332842"/>
          </a:xfrm>
          <a:prstGeom prst="rect">
            <a:avLst/>
          </a:prstGeom>
        </p:spPr>
      </p:pic>
      <p:sp>
        <p:nvSpPr>
          <p:cNvPr id="16" name="Text 11"/>
          <p:cNvSpPr txBox="1"/>
          <p:nvPr/>
        </p:nvSpPr>
        <p:spPr>
          <a:xfrm>
            <a:off x="1508760" y="3081528"/>
            <a:ext cx="2834640" cy="365760"/>
          </a:xfrm>
          <a:prstGeom prst="rect">
            <a:avLst/>
          </a:prstGeom>
          <a:noFill/>
          <a:ln/>
        </p:spPr>
        <p:txBody>
          <a:bodyPr wrap="square" lIns="0" tIns="0" rIns="0" bIns="0" rtlCol="0" anchor="t"/>
          <a:lstStyle/>
          <a:p>
            <a:pPr indent="0" marL="0">
              <a:buNone/>
            </a:pPr>
            <a:r>
              <a:rPr lang="en-US" sz="1700" b="1" dirty="0">
                <a:solidFill>
                  <a:schemeClr val="tx1"/>
                </a:solidFill>
              </a:rPr>
              <a:t>Simulación</a:t>
            </a:r>
            <a:endParaRPr lang="en-US" sz="1700" dirty="0"/>
          </a:p>
        </p:txBody>
      </p:sp>
      <p:sp>
        <p:nvSpPr>
          <p:cNvPr id="17" name="Text 12"/>
          <p:cNvSpPr txBox="1"/>
          <p:nvPr/>
        </p:nvSpPr>
        <p:spPr>
          <a:xfrm>
            <a:off x="1508760" y="3474720"/>
            <a:ext cx="2834640" cy="777240"/>
          </a:xfrm>
          <a:prstGeom prst="rect">
            <a:avLst/>
          </a:prstGeom>
          <a:noFill/>
          <a:ln/>
        </p:spPr>
        <p:txBody>
          <a:bodyPr wrap="square" lIns="0" tIns="0" rIns="0" bIns="0" rtlCol="0" anchor="t"/>
          <a:lstStyle/>
          <a:p>
            <a:pPr indent="0" marL="0">
              <a:buNone/>
            </a:pPr>
            <a:r>
              <a:rPr lang="en-US" sz="1300" dirty="0">
                <a:solidFill>
                  <a:schemeClr val="tx2"/>
                </a:solidFill>
              </a:rPr>
              <a:t>OpenSees para la base E.030; SAP2000 y algoritmo OpenSees del profesor para NSR-10</a:t>
            </a:r>
            <a:endParaRPr lang="en-US" sz="1300" dirty="0"/>
          </a:p>
        </p:txBody>
      </p:sp>
      <p:sp>
        <p:nvSpPr>
          <p:cNvPr id="18" name="eje"/>
          <p:cNvSpPr/>
          <p:nvPr/>
        </p:nvSpPr>
        <p:spPr>
          <a:xfrm>
            <a:off x="4663440" y="2880360"/>
            <a:ext cx="4023360" cy="1463040"/>
          </a:xfrm>
          <a:prstGeom prst="roundRect">
            <a:avLst>
              <a:gd name="adj" fmla="val 5000"/>
            </a:avLst>
          </a:prstGeom>
          <a:solidFill>
            <a:schemeClr val="bg2"/>
          </a:solidFill>
          <a:ln w="12700">
            <a:solidFill>
              <a:schemeClr val="bg2"/>
            </a:solidFill>
            <a:prstDash val="solid"/>
          </a:ln>
        </p:spPr>
      </p:sp>
      <p:sp>
        <p:nvSpPr>
          <p:cNvPr id="19" name="badge"/>
          <p:cNvSpPr/>
          <p:nvPr/>
        </p:nvSpPr>
        <p:spPr>
          <a:xfrm>
            <a:off x="4892040" y="3154680"/>
            <a:ext cx="594360" cy="594360"/>
          </a:xfrm>
          <a:prstGeom prst="ellipse">
            <a:avLst/>
          </a:prstGeom>
          <a:solidFill>
            <a:schemeClr val="accent1"/>
          </a:solidFill>
          <a:ln w="12700">
            <a:solidFill>
              <a:schemeClr val="accent1"/>
            </a:solidFill>
            <a:prstDash val="solid"/>
          </a:ln>
        </p:spPr>
      </p:sp>
      <p:pic>
        <p:nvPicPr>
          <p:cNvPr id="20" name="icono" descr="preencoded.png">    </p:cNvPr>
          <p:cNvPicPr>
            <a:picLocks noChangeAspect="1"/>
          </p:cNvPicPr>
          <p:nvPr/>
        </p:nvPicPr>
        <p:blipFill>
          <a:blip r:embed="rId4"/>
          <a:stretch>
            <a:fillRect/>
          </a:stretch>
        </p:blipFill>
        <p:spPr>
          <a:xfrm>
            <a:off x="5022799" y="3285439"/>
            <a:ext cx="332842" cy="332842"/>
          </a:xfrm>
          <a:prstGeom prst="rect">
            <a:avLst/>
          </a:prstGeom>
        </p:spPr>
      </p:pic>
      <p:sp>
        <p:nvSpPr>
          <p:cNvPr id="21" name="Text 15"/>
          <p:cNvSpPr txBox="1"/>
          <p:nvPr/>
        </p:nvSpPr>
        <p:spPr>
          <a:xfrm>
            <a:off x="5715000" y="3081528"/>
            <a:ext cx="2834640" cy="365760"/>
          </a:xfrm>
          <a:prstGeom prst="rect">
            <a:avLst/>
          </a:prstGeom>
          <a:noFill/>
          <a:ln/>
        </p:spPr>
        <p:txBody>
          <a:bodyPr wrap="square" lIns="0" tIns="0" rIns="0" bIns="0" rtlCol="0" anchor="t"/>
          <a:lstStyle/>
          <a:p>
            <a:pPr indent="0" marL="0">
              <a:buNone/>
            </a:pPr>
            <a:r>
              <a:rPr lang="en-US" sz="1700" b="1" dirty="0">
                <a:solidFill>
                  <a:schemeClr val="tx1"/>
                </a:solidFill>
              </a:rPr>
              <a:t>Datos</a:t>
            </a:r>
            <a:endParaRPr lang="en-US" sz="1700" dirty="0"/>
          </a:p>
        </p:txBody>
      </p:sp>
      <p:sp>
        <p:nvSpPr>
          <p:cNvPr id="22" name="Text 16"/>
          <p:cNvSpPr txBox="1"/>
          <p:nvPr/>
        </p:nvSpPr>
        <p:spPr>
          <a:xfrm>
            <a:off x="5715000" y="3474720"/>
            <a:ext cx="2834640" cy="777240"/>
          </a:xfrm>
          <a:prstGeom prst="rect">
            <a:avLst/>
          </a:prstGeom>
          <a:noFill/>
          <a:ln/>
        </p:spPr>
        <p:txBody>
          <a:bodyPr wrap="square" lIns="0" tIns="0" rIns="0" bIns="0" rtlCol="0" anchor="t"/>
          <a:lstStyle/>
          <a:p>
            <a:pPr indent="0" marL="0">
              <a:buNone/>
            </a:pPr>
            <a:r>
              <a:rPr lang="en-US" sz="1300" dirty="0">
                <a:solidFill>
                  <a:schemeClr val="tx2"/>
                </a:solidFill>
              </a:rPr>
              <a:t>Base E.030 (130 modelos) y base NSR-10 (18 + 1 casos) con trazabilidad del origen</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Arquitectura: una pregunta, dos rutas de evidencia</a:t>
            </a:r>
            <a:endParaRPr lang="en-US" sz="2800" dirty="0"/>
          </a:p>
        </p:txBody>
      </p:sp>
      <p:pic>
        <p:nvPicPr>
          <p:cNvPr id="3" name="flujo" descr="figuras/fig_flujo_integrado.png">    </p:cNvPr>
          <p:cNvPicPr>
            <a:picLocks noChangeAspect="1"/>
          </p:cNvPicPr>
          <p:nvPr/>
        </p:nvPicPr>
        <p:blipFill>
          <a:blip r:embed="rId1"/>
          <a:stretch>
            <a:fillRect/>
          </a:stretch>
        </p:blipFill>
        <p:spPr>
          <a:xfrm>
            <a:off x="457200" y="1051560"/>
            <a:ext cx="8229600" cy="3182112"/>
          </a:xfrm>
          <a:prstGeom prst="rect">
            <a:avLst/>
          </a:prstGeom>
        </p:spPr>
      </p:pic>
      <p:sp>
        <p:nvSpPr>
          <p:cNvPr id="4" name="Text 1"/>
          <p:cNvSpPr txBox="1"/>
          <p:nvPr/>
        </p:nvSpPr>
        <p:spPr>
          <a:xfrm>
            <a:off x="457200" y="4279392"/>
            <a:ext cx="8229600" cy="411480"/>
          </a:xfrm>
          <a:prstGeom prst="rect">
            <a:avLst/>
          </a:prstGeom>
          <a:noFill/>
          <a:ln/>
        </p:spPr>
        <p:txBody>
          <a:bodyPr wrap="square" lIns="0" tIns="0" rIns="0" bIns="0" rtlCol="0" anchor="t"/>
          <a:lstStyle/>
          <a:p>
            <a:pPr indent="0" marL="0">
              <a:buNone/>
            </a:pPr>
            <a:r>
              <a:rPr lang="en-US" sz="1200" i="1" dirty="0">
                <a:solidFill>
                  <a:schemeClr val="tx2"/>
                </a:solidFill>
              </a:rPr>
              <a:t>Las rutas no se mezclan: E.030 (Perú) y NSR-10 (Colombia) difieren en espectro, límite de deriva e hipótesis. Comparten el método de aprendizaje y evaluación.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Módulo NSR-10: del JSON al dictamen</a:t>
            </a:r>
            <a:endParaRPr lang="en-US" sz="2800" dirty="0"/>
          </a:p>
        </p:txBody>
      </p:sp>
      <p:sp>
        <p:nvSpPr>
          <p:cNvPr id="3" name="paso"/>
          <p:cNvSpPr/>
          <p:nvPr/>
        </p:nvSpPr>
        <p:spPr>
          <a:xfrm>
            <a:off x="457200" y="1417320"/>
            <a:ext cx="1261872" cy="2103120"/>
          </a:xfrm>
          <a:prstGeom prst="roundRect">
            <a:avLst>
              <a:gd name="adj" fmla="val 5797"/>
            </a:avLst>
          </a:prstGeom>
          <a:solidFill>
            <a:srgbClr val="EDF0F3"/>
          </a:solidFill>
          <a:ln w="12700">
            <a:solidFill>
              <a:srgbClr val="EDF0F3"/>
            </a:solidFill>
            <a:prstDash val="solid"/>
          </a:ln>
        </p:spPr>
      </p:sp>
      <p:sp>
        <p:nvSpPr>
          <p:cNvPr id="4" name="numero"/>
          <p:cNvSpPr/>
          <p:nvPr/>
        </p:nvSpPr>
        <p:spPr>
          <a:xfrm>
            <a:off x="896112" y="1572768"/>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896112"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30352"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Validar</a:t>
            </a:r>
            <a:endParaRPr lang="en-US" sz="1500" dirty="0"/>
          </a:p>
        </p:txBody>
      </p:sp>
      <p:sp>
        <p:nvSpPr>
          <p:cNvPr id="7" name="Text 5"/>
          <p:cNvSpPr txBox="1"/>
          <p:nvPr/>
        </p:nvSpPr>
        <p:spPr>
          <a:xfrm>
            <a:off x="548640"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campos, rangos y 12 combinaciones</a:t>
            </a:r>
            <a:endParaRPr lang="en-US" sz="1200" dirty="0"/>
          </a:p>
        </p:txBody>
      </p:sp>
      <p:sp>
        <p:nvSpPr>
          <p:cNvPr id="8" name="paso"/>
          <p:cNvSpPr/>
          <p:nvPr/>
        </p:nvSpPr>
        <p:spPr>
          <a:xfrm>
            <a:off x="1856232" y="1417320"/>
            <a:ext cx="1261872" cy="2103120"/>
          </a:xfrm>
          <a:prstGeom prst="roundRect">
            <a:avLst>
              <a:gd name="adj" fmla="val 5797"/>
            </a:avLst>
          </a:prstGeom>
          <a:solidFill>
            <a:schemeClr val="bg2"/>
          </a:solidFill>
          <a:ln w="12700">
            <a:solidFill>
              <a:schemeClr val="bg2"/>
            </a:solidFill>
            <a:prstDash val="solid"/>
          </a:ln>
        </p:spPr>
      </p:sp>
      <p:sp>
        <p:nvSpPr>
          <p:cNvPr id="9" name="numero"/>
          <p:cNvSpPr/>
          <p:nvPr/>
        </p:nvSpPr>
        <p:spPr>
          <a:xfrm>
            <a:off x="2295144" y="15727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295144"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1929384"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Espectro</a:t>
            </a:r>
            <a:endParaRPr lang="en-US" sz="1500" dirty="0"/>
          </a:p>
        </p:txBody>
      </p:sp>
      <p:sp>
        <p:nvSpPr>
          <p:cNvPr id="12" name="Text 10"/>
          <p:cNvSpPr txBox="1"/>
          <p:nvPr/>
        </p:nvSpPr>
        <p:spPr>
          <a:xfrm>
            <a:off x="1947672"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Sa(T), Ta, Cu·Ta (A.2, A.4.2)</a:t>
            </a:r>
            <a:endParaRPr lang="en-US" sz="1200" dirty="0"/>
          </a:p>
        </p:txBody>
      </p:sp>
      <p:sp>
        <p:nvSpPr>
          <p:cNvPr id="13" name="paso"/>
          <p:cNvSpPr/>
          <p:nvPr/>
        </p:nvSpPr>
        <p:spPr>
          <a:xfrm>
            <a:off x="3255264" y="1417320"/>
            <a:ext cx="1261872" cy="2103120"/>
          </a:xfrm>
          <a:prstGeom prst="roundRect">
            <a:avLst>
              <a:gd name="adj" fmla="val 5797"/>
            </a:avLst>
          </a:prstGeom>
          <a:solidFill>
            <a:schemeClr val="bg2"/>
          </a:solidFill>
          <a:ln w="12700">
            <a:solidFill>
              <a:schemeClr val="bg2"/>
            </a:solidFill>
            <a:prstDash val="solid"/>
          </a:ln>
        </p:spPr>
      </p:sp>
      <p:sp>
        <p:nvSpPr>
          <p:cNvPr id="14" name="numero"/>
          <p:cNvSpPr/>
          <p:nvPr/>
        </p:nvSpPr>
        <p:spPr>
          <a:xfrm>
            <a:off x="3694176" y="1572768"/>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3694176"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3328416"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FHE</a:t>
            </a:r>
            <a:endParaRPr lang="en-US" sz="1500" dirty="0"/>
          </a:p>
        </p:txBody>
      </p:sp>
      <p:sp>
        <p:nvSpPr>
          <p:cNvPr id="17" name="Text 15"/>
          <p:cNvSpPr txBox="1"/>
          <p:nvPr/>
        </p:nvSpPr>
        <p:spPr>
          <a:xfrm>
            <a:off x="3346704"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Vs, k, fuerzas por piso (A.4.3)</a:t>
            </a:r>
            <a:endParaRPr lang="en-US" sz="1200" dirty="0"/>
          </a:p>
        </p:txBody>
      </p:sp>
      <p:sp>
        <p:nvSpPr>
          <p:cNvPr id="18" name="paso"/>
          <p:cNvSpPr/>
          <p:nvPr/>
        </p:nvSpPr>
        <p:spPr>
          <a:xfrm>
            <a:off x="4654296" y="1417320"/>
            <a:ext cx="1261872" cy="2103120"/>
          </a:xfrm>
          <a:prstGeom prst="roundRect">
            <a:avLst>
              <a:gd name="adj" fmla="val 5797"/>
            </a:avLst>
          </a:prstGeom>
          <a:solidFill>
            <a:schemeClr val="bg2"/>
          </a:solidFill>
          <a:ln w="12700">
            <a:solidFill>
              <a:schemeClr val="bg2"/>
            </a:solidFill>
            <a:prstDash val="solid"/>
          </a:ln>
        </p:spPr>
      </p:sp>
      <p:sp>
        <p:nvSpPr>
          <p:cNvPr id="19" name="numero"/>
          <p:cNvSpPr/>
          <p:nvPr/>
        </p:nvSpPr>
        <p:spPr>
          <a:xfrm>
            <a:off x="5093208" y="1572768"/>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5093208"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4727448"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Derivas</a:t>
            </a:r>
            <a:endParaRPr lang="en-US" sz="1500" dirty="0"/>
          </a:p>
        </p:txBody>
      </p:sp>
      <p:sp>
        <p:nvSpPr>
          <p:cNvPr id="22" name="Text 20"/>
          <p:cNvSpPr txBox="1"/>
          <p:nvPr/>
        </p:nvSpPr>
        <p:spPr>
          <a:xfrm>
            <a:off x="4745736"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12 combinaciones + torsión accidental 5 %</a:t>
            </a:r>
            <a:endParaRPr lang="en-US" sz="1200" dirty="0"/>
          </a:p>
        </p:txBody>
      </p:sp>
      <p:sp>
        <p:nvSpPr>
          <p:cNvPr id="23" name="paso"/>
          <p:cNvSpPr/>
          <p:nvPr/>
        </p:nvSpPr>
        <p:spPr>
          <a:xfrm>
            <a:off x="6053328" y="1417320"/>
            <a:ext cx="1261872" cy="2103120"/>
          </a:xfrm>
          <a:prstGeom prst="roundRect">
            <a:avLst>
              <a:gd name="adj" fmla="val 5797"/>
            </a:avLst>
          </a:prstGeom>
          <a:solidFill>
            <a:schemeClr val="bg2"/>
          </a:solidFill>
          <a:ln w="12700">
            <a:solidFill>
              <a:schemeClr val="bg2"/>
            </a:solidFill>
            <a:prstDash val="solid"/>
          </a:ln>
        </p:spPr>
      </p:sp>
      <p:sp>
        <p:nvSpPr>
          <p:cNvPr id="24" name="numero"/>
          <p:cNvSpPr/>
          <p:nvPr/>
        </p:nvSpPr>
        <p:spPr>
          <a:xfrm>
            <a:off x="6492240" y="1572768"/>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492240"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126480"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Estabilidad</a:t>
            </a:r>
            <a:endParaRPr lang="en-US" sz="1500" dirty="0"/>
          </a:p>
        </p:txBody>
      </p:sp>
      <p:sp>
        <p:nvSpPr>
          <p:cNvPr id="27" name="Text 25"/>
          <p:cNvSpPr txBox="1"/>
          <p:nvPr/>
        </p:nvSpPr>
        <p:spPr>
          <a:xfrm>
            <a:off x="6144768"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Q (P-Δ), torsión 1aP, R (A.3.3)</a:t>
            </a:r>
            <a:endParaRPr lang="en-US" sz="1200" dirty="0"/>
          </a:p>
        </p:txBody>
      </p:sp>
      <p:sp>
        <p:nvSpPr>
          <p:cNvPr id="28" name="paso"/>
          <p:cNvSpPr/>
          <p:nvPr/>
        </p:nvSpPr>
        <p:spPr>
          <a:xfrm>
            <a:off x="7452360" y="1417320"/>
            <a:ext cx="1261872" cy="2103120"/>
          </a:xfrm>
          <a:prstGeom prst="roundRect">
            <a:avLst>
              <a:gd name="adj" fmla="val 5797"/>
            </a:avLst>
          </a:prstGeom>
          <a:solidFill>
            <a:schemeClr val="bg2"/>
          </a:solidFill>
          <a:ln w="12700">
            <a:solidFill>
              <a:schemeClr val="bg2"/>
            </a:solidFill>
            <a:prstDash val="solid"/>
          </a:ln>
        </p:spPr>
      </p:sp>
      <p:sp>
        <p:nvSpPr>
          <p:cNvPr id="29" name="numero"/>
          <p:cNvSpPr/>
          <p:nvPr/>
        </p:nvSpPr>
        <p:spPr>
          <a:xfrm>
            <a:off x="7891272" y="1572768"/>
            <a:ext cx="384048" cy="384048"/>
          </a:xfrm>
          <a:prstGeom prst="ellipse">
            <a:avLst/>
          </a:prstGeom>
          <a:solidFill>
            <a:schemeClr val="accent1"/>
          </a:solidFill>
          <a:ln w="12700">
            <a:solidFill>
              <a:schemeClr val="accent1"/>
            </a:solidFill>
            <a:prstDash val="solid"/>
          </a:ln>
        </p:spPr>
      </p:sp>
      <p:sp>
        <p:nvSpPr>
          <p:cNvPr id="30" name="Text 28"/>
          <p:cNvSpPr txBox="1"/>
          <p:nvPr/>
        </p:nvSpPr>
        <p:spPr>
          <a:xfrm>
            <a:off x="7891272"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7525512"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Registro</a:t>
            </a:r>
            <a:endParaRPr lang="en-US" sz="1500" dirty="0"/>
          </a:p>
        </p:txBody>
      </p:sp>
      <p:sp>
        <p:nvSpPr>
          <p:cNvPr id="32" name="Text 30"/>
          <p:cNvSpPr txBox="1"/>
          <p:nvPr/>
        </p:nvSpPr>
        <p:spPr>
          <a:xfrm>
            <a:off x="7543800"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reporte y fila para la base de datos</a:t>
            </a:r>
            <a:endParaRPr lang="en-US" sz="1200" dirty="0"/>
          </a:p>
        </p:txBody>
      </p:sp>
      <p:sp>
        <p:nvSpPr>
          <p:cNvPr id="33" name="Text 31"/>
          <p:cNvSpPr txBox="1"/>
          <p:nvPr/>
        </p:nvSpPr>
        <p:spPr>
          <a:xfrm>
            <a:off x="457200" y="3794760"/>
            <a:ext cx="8229600" cy="548640"/>
          </a:xfrm>
          <a:prstGeom prst="rect">
            <a:avLst/>
          </a:prstGeom>
          <a:noFill/>
          <a:ln/>
        </p:spPr>
        <p:txBody>
          <a:bodyPr wrap="square" lIns="0" tIns="0" rIns="0" bIns="0" rtlCol="0" anchor="t"/>
          <a:lstStyle/>
          <a:p>
            <a:pPr indent="0" marL="0">
              <a:buNone/>
            </a:pPr>
            <a:r>
              <a:rPr lang="en-US" sz="1300" b="1" dirty="0">
                <a:solidFill>
                  <a:schemeClr val="tx2"/>
                </a:solidFill>
              </a:rPr>
              <a:t>Entrada: </a:t>
            </a:r>
            <a:pPr indent="0" marL="0">
              <a:buNone/>
            </a:pPr>
            <a:r>
              <a:rPr lang="en-US" sz="1300" dirty="0">
                <a:solidFill>
                  <a:schemeClr val="tx2"/>
                </a:solidFill>
              </a:rPr>
              <a:t>sitio (Aa, Av, Fa, Fv, TL), grupo de uso, R0, geometría, pesos por piso, periodos de SAP2000 y desplazamientos en dos esquinas opuestas. Tiempo de cálculo: menos de 1 ms por caso.</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Tres pruebas: completa, incompleta y errónea</a:t>
            </a:r>
            <a:endParaRPr lang="en-US" sz="2800" dirty="0"/>
          </a:p>
        </p:txBody>
      </p:sp>
      <p:sp>
        <p:nvSpPr>
          <p:cNvPr id="3" name="caso"/>
          <p:cNvSpPr/>
          <p:nvPr/>
        </p:nvSpPr>
        <p:spPr>
          <a:xfrm>
            <a:off x="457200" y="1188720"/>
            <a:ext cx="2560320" cy="3291840"/>
          </a:xfrm>
          <a:prstGeom prst="roundRect">
            <a:avLst>
              <a:gd name="adj" fmla="val 2857"/>
            </a:avLst>
          </a:prstGeom>
          <a:solidFill>
            <a:schemeClr val="bg2"/>
          </a:solidFill>
          <a:ln w="12700">
            <a:solidFill>
              <a:schemeClr val="bg2"/>
            </a:solidFill>
            <a:prstDash val="solid"/>
          </a:ln>
        </p:spPr>
      </p:sp>
      <p:sp>
        <p:nvSpPr>
          <p:cNvPr id="4" name="badge"/>
          <p:cNvSpPr/>
          <p:nvPr/>
        </p:nvSpPr>
        <p:spPr>
          <a:xfrm>
            <a:off x="685800" y="1371600"/>
            <a:ext cx="548640" cy="548640"/>
          </a:xfrm>
          <a:prstGeom prst="ellipse">
            <a:avLst/>
          </a:prstGeom>
          <a:solidFill>
            <a:schemeClr val="accent3"/>
          </a:solidFill>
          <a:ln w="12700">
            <a:solidFill>
              <a:schemeClr val="accent3"/>
            </a:solidFill>
            <a:prstDash val="solid"/>
          </a:ln>
        </p:spPr>
      </p:sp>
      <p:pic>
        <p:nvPicPr>
          <p:cNvPr id="5" name="icono" descr="preencoded.png">    </p:cNvPr>
          <p:cNvPicPr>
            <a:picLocks noChangeAspect="1"/>
          </p:cNvPicPr>
          <p:nvPr/>
        </p:nvPicPr>
        <p:blipFill>
          <a:blip r:embed="rId1"/>
          <a:stretch>
            <a:fillRect/>
          </a:stretch>
        </p:blipFill>
        <p:spPr>
          <a:xfrm>
            <a:off x="806501" y="1492301"/>
            <a:ext cx="307238" cy="307238"/>
          </a:xfrm>
          <a:prstGeom prst="rect">
            <a:avLst/>
          </a:prstGeom>
        </p:spPr>
      </p:pic>
      <p:sp>
        <p:nvSpPr>
          <p:cNvPr id="6" name="Text 3"/>
          <p:cNvSpPr txBox="1"/>
          <p:nvPr/>
        </p:nvSpPr>
        <p:spPr>
          <a:xfrm>
            <a:off x="68580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1 · Datos completos</a:t>
            </a:r>
            <a:endParaRPr lang="en-US" sz="1700" dirty="0"/>
          </a:p>
        </p:txBody>
      </p:sp>
      <p:sp>
        <p:nvSpPr>
          <p:cNvPr id="7" name="Text 4"/>
          <p:cNvSpPr txBox="1"/>
          <p:nvPr/>
        </p:nvSpPr>
        <p:spPr>
          <a:xfrm>
            <a:off x="685800" y="2468880"/>
            <a:ext cx="2194560" cy="594360"/>
          </a:xfrm>
          <a:prstGeom prst="rect">
            <a:avLst/>
          </a:prstGeom>
          <a:noFill/>
          <a:ln/>
        </p:spPr>
        <p:txBody>
          <a:bodyPr wrap="square" lIns="0" tIns="0" rIns="0" bIns="0" rtlCol="0" anchor="t"/>
          <a:lstStyle/>
          <a:p>
            <a:pPr indent="0" marL="0">
              <a:buNone/>
            </a:pPr>
            <a:r>
              <a:rPr lang="en-US" sz="1300" dirty="0">
                <a:solidFill>
                  <a:schemeClr val="tx2"/>
                </a:solidFill>
              </a:rPr>
              <a:t>Edificio del curso, grupo 1, Piedemonte A (Bogotá)</a:t>
            </a:r>
            <a:endParaRPr lang="en-US" sz="1300" dirty="0"/>
          </a:p>
        </p:txBody>
      </p:sp>
      <p:sp>
        <p:nvSpPr>
          <p:cNvPr id="8" name="Text 5"/>
          <p:cNvSpPr txBox="1"/>
          <p:nvPr/>
        </p:nvSpPr>
        <p:spPr>
          <a:xfrm>
            <a:off x="685800" y="3154680"/>
            <a:ext cx="2194560" cy="1188720"/>
          </a:xfrm>
          <a:prstGeom prst="rect">
            <a:avLst/>
          </a:prstGeom>
          <a:noFill/>
          <a:ln/>
        </p:spPr>
        <p:txBody>
          <a:bodyPr wrap="square" lIns="0" tIns="0" rIns="0" bIns="0" rtlCol="0" anchor="t"/>
          <a:lstStyle/>
          <a:p>
            <a:pPr indent="0" marL="0">
              <a:buNone/>
            </a:pPr>
            <a:r>
              <a:rPr lang="en-US" sz="1400" b="1" dirty="0">
                <a:solidFill>
                  <a:schemeClr val="tx1"/>
                </a:solidFill>
              </a:rPr>
              <a:t>Vs = 23 250 kN</a:t>
            </a:r>
            <a:endParaRPr lang="en-US" sz="1400" dirty="0"/>
          </a:p>
          <a:p>
            <a:pPr indent="0" marL="0">
              <a:buNone/>
            </a:pPr>
            <a:r>
              <a:rPr lang="en-US" sz="1400" b="1" dirty="0">
                <a:solidFill>
                  <a:schemeClr val="tx1"/>
                </a:solidFill>
              </a:rPr>
              <a:t>Deriva máx. 0,991 % ≤ 1,0 %</a:t>
            </a:r>
            <a:endParaRPr lang="en-US" sz="1400" dirty="0"/>
          </a:p>
          <a:p>
            <a:pPr indent="0" marL="0">
              <a:buNone/>
            </a:pPr>
            <a:r>
              <a:rPr lang="en-US" sz="1400" b="1" dirty="0">
                <a:solidFill>
                  <a:schemeClr val="tx1"/>
                </a:solidFill>
              </a:rPr>
              <a:t>CUMPLE · 0,6 ms</a:t>
            </a:r>
            <a:endParaRPr lang="en-US" sz="1400" dirty="0"/>
          </a:p>
        </p:txBody>
      </p:sp>
      <p:sp>
        <p:nvSpPr>
          <p:cNvPr id="9" name="caso"/>
          <p:cNvSpPr/>
          <p:nvPr/>
        </p:nvSpPr>
        <p:spPr>
          <a:xfrm>
            <a:off x="3291840" y="1188720"/>
            <a:ext cx="2560320" cy="3291840"/>
          </a:xfrm>
          <a:prstGeom prst="roundRect">
            <a:avLst>
              <a:gd name="adj" fmla="val 2857"/>
            </a:avLst>
          </a:prstGeom>
          <a:solidFill>
            <a:schemeClr val="bg2"/>
          </a:solidFill>
          <a:ln w="12700">
            <a:solidFill>
              <a:schemeClr val="bg2"/>
            </a:solidFill>
            <a:prstDash val="solid"/>
          </a:ln>
        </p:spPr>
      </p:sp>
      <p:sp>
        <p:nvSpPr>
          <p:cNvPr id="10" name="badge"/>
          <p:cNvSpPr/>
          <p:nvPr/>
        </p:nvSpPr>
        <p:spPr>
          <a:xfrm>
            <a:off x="3520440" y="1371600"/>
            <a:ext cx="548640" cy="548640"/>
          </a:xfrm>
          <a:prstGeom prst="ellipse">
            <a:avLst/>
          </a:prstGeom>
          <a:solidFill>
            <a:schemeClr val="accent5"/>
          </a:solidFill>
          <a:ln w="12700">
            <a:solidFill>
              <a:schemeClr val="accent5"/>
            </a:solidFill>
            <a:prstDash val="solid"/>
          </a:ln>
        </p:spPr>
      </p:sp>
      <p:pic>
        <p:nvPicPr>
          <p:cNvPr id="11" name="icono" descr="preencoded.png">    </p:cNvPr>
          <p:cNvPicPr>
            <a:picLocks noChangeAspect="1"/>
          </p:cNvPicPr>
          <p:nvPr/>
        </p:nvPicPr>
        <p:blipFill>
          <a:blip r:embed="rId2"/>
          <a:stretch>
            <a:fillRect/>
          </a:stretch>
        </p:blipFill>
        <p:spPr>
          <a:xfrm>
            <a:off x="3641141" y="1492301"/>
            <a:ext cx="307238" cy="307238"/>
          </a:xfrm>
          <a:prstGeom prst="rect">
            <a:avLst/>
          </a:prstGeom>
        </p:spPr>
      </p:pic>
      <p:sp>
        <p:nvSpPr>
          <p:cNvPr id="12" name="Text 8"/>
          <p:cNvSpPr txBox="1"/>
          <p:nvPr/>
        </p:nvSpPr>
        <p:spPr>
          <a:xfrm>
            <a:off x="352044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2 · Falta un dato</a:t>
            </a:r>
            <a:endParaRPr lang="en-US" sz="1700" dirty="0"/>
          </a:p>
        </p:txBody>
      </p:sp>
      <p:sp>
        <p:nvSpPr>
          <p:cNvPr id="13" name="Text 9"/>
          <p:cNvSpPr txBox="1"/>
          <p:nvPr/>
        </p:nvSpPr>
        <p:spPr>
          <a:xfrm>
            <a:off x="3520440" y="2468880"/>
            <a:ext cx="2194560" cy="594360"/>
          </a:xfrm>
          <a:prstGeom prst="rect">
            <a:avLst/>
          </a:prstGeom>
          <a:noFill/>
          <a:ln/>
        </p:spPr>
        <p:txBody>
          <a:bodyPr wrap="square" lIns="0" tIns="0" rIns="0" bIns="0" rtlCol="0" anchor="t"/>
          <a:lstStyle/>
          <a:p>
            <a:pPr indent="0" marL="0">
              <a:buNone/>
            </a:pPr>
            <a:r>
              <a:rPr lang="en-US" sz="1300" dirty="0">
                <a:solidFill>
                  <a:schemeClr val="tx2"/>
                </a:solidFill>
              </a:rPr>
              <a:t>Se eliminó el coeficiente Fv</a:t>
            </a:r>
            <a:endParaRPr lang="en-US" sz="1300" dirty="0"/>
          </a:p>
        </p:txBody>
      </p:sp>
      <p:sp>
        <p:nvSpPr>
          <p:cNvPr id="14" name="Text 10"/>
          <p:cNvSpPr txBox="1"/>
          <p:nvPr/>
        </p:nvSpPr>
        <p:spPr>
          <a:xfrm>
            <a:off x="3520440" y="3154680"/>
            <a:ext cx="2194560" cy="1188720"/>
          </a:xfrm>
          <a:prstGeom prst="rect">
            <a:avLst/>
          </a:prstGeom>
          <a:noFill/>
          <a:ln/>
        </p:spPr>
        <p:txBody>
          <a:bodyPr wrap="square" lIns="0" tIns="0" rIns="0" bIns="0" rtlCol="0" anchor="t"/>
          <a:lstStyle/>
          <a:p>
            <a:pPr indent="0" marL="0">
              <a:buNone/>
            </a:pPr>
            <a:r>
              <a:rPr lang="en-US" sz="1400" b="1" dirty="0">
                <a:solidFill>
                  <a:schemeClr val="tx1"/>
                </a:solidFill>
              </a:rPr>
              <a:t>Se detiene antes de calcular</a:t>
            </a:r>
            <a:endParaRPr lang="en-US" sz="1400" dirty="0"/>
          </a:p>
          <a:p>
            <a:pPr indent="0" marL="0">
              <a:buNone/>
            </a:pPr>
            <a:r>
              <a:rPr lang="en-US" sz="1400" b="1" dirty="0">
                <a:solidFill>
                  <a:schemeClr val="tx1"/>
                </a:solidFill>
              </a:rPr>
              <a:t>«FALTA: sitio.Fv»</a:t>
            </a:r>
            <a:endParaRPr lang="en-US" sz="1400" dirty="0"/>
          </a:p>
        </p:txBody>
      </p:sp>
      <p:sp>
        <p:nvSpPr>
          <p:cNvPr id="15" name="caso"/>
          <p:cNvSpPr/>
          <p:nvPr/>
        </p:nvSpPr>
        <p:spPr>
          <a:xfrm>
            <a:off x="6126480" y="1188720"/>
            <a:ext cx="2560320" cy="3291840"/>
          </a:xfrm>
          <a:prstGeom prst="roundRect">
            <a:avLst>
              <a:gd name="adj" fmla="val 2857"/>
            </a:avLst>
          </a:prstGeom>
          <a:solidFill>
            <a:schemeClr val="bg2"/>
          </a:solidFill>
          <a:ln w="12700">
            <a:solidFill>
              <a:schemeClr val="bg2"/>
            </a:solidFill>
            <a:prstDash val="solid"/>
          </a:ln>
        </p:spPr>
      </p:sp>
      <p:sp>
        <p:nvSpPr>
          <p:cNvPr id="16" name="badge"/>
          <p:cNvSpPr/>
          <p:nvPr/>
        </p:nvSpPr>
        <p:spPr>
          <a:xfrm>
            <a:off x="6355080" y="1371600"/>
            <a:ext cx="548640" cy="548640"/>
          </a:xfrm>
          <a:prstGeom prst="ellipse">
            <a:avLst/>
          </a:prstGeom>
          <a:solidFill>
            <a:schemeClr val="accent4"/>
          </a:solidFill>
          <a:ln w="12700">
            <a:solidFill>
              <a:schemeClr val="accent4"/>
            </a:solidFill>
            <a:prstDash val="solid"/>
          </a:ln>
        </p:spPr>
      </p:sp>
      <p:pic>
        <p:nvPicPr>
          <p:cNvPr id="17" name="icono" descr="preencoded.png">    </p:cNvPr>
          <p:cNvPicPr>
            <a:picLocks noChangeAspect="1"/>
          </p:cNvPicPr>
          <p:nvPr/>
        </p:nvPicPr>
        <p:blipFill>
          <a:blip r:embed="rId3"/>
          <a:stretch>
            <a:fillRect/>
          </a:stretch>
        </p:blipFill>
        <p:spPr>
          <a:xfrm>
            <a:off x="6475781" y="1492301"/>
            <a:ext cx="307238" cy="307238"/>
          </a:xfrm>
          <a:prstGeom prst="rect">
            <a:avLst/>
          </a:prstGeom>
        </p:spPr>
      </p:pic>
      <p:sp>
        <p:nvSpPr>
          <p:cNvPr id="18" name="Text 13"/>
          <p:cNvSpPr txBox="1"/>
          <p:nvPr/>
        </p:nvSpPr>
        <p:spPr>
          <a:xfrm>
            <a:off x="635508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3 · Dato erróneo</a:t>
            </a:r>
            <a:endParaRPr lang="en-US" sz="1700" dirty="0"/>
          </a:p>
        </p:txBody>
      </p:sp>
      <p:sp>
        <p:nvSpPr>
          <p:cNvPr id="19" name="Text 14"/>
          <p:cNvSpPr txBox="1"/>
          <p:nvPr/>
        </p:nvSpPr>
        <p:spPr>
          <a:xfrm>
            <a:off x="6355080" y="2468880"/>
            <a:ext cx="2194560" cy="594360"/>
          </a:xfrm>
          <a:prstGeom prst="rect">
            <a:avLst/>
          </a:prstGeom>
          <a:noFill/>
          <a:ln/>
        </p:spPr>
        <p:txBody>
          <a:bodyPr wrap="square" lIns="0" tIns="0" rIns="0" bIns="0" rtlCol="0" anchor="t"/>
          <a:lstStyle/>
          <a:p>
            <a:pPr indent="0" marL="0">
              <a:buNone/>
            </a:pPr>
            <a:r>
              <a:rPr lang="en-US" sz="1300" dirty="0">
                <a:solidFill>
                  <a:schemeClr val="tx2"/>
                </a:solidFill>
              </a:rPr>
              <a:t>Altura libre del piso 1 = 350</a:t>
            </a:r>
            <a:endParaRPr lang="en-US" sz="1300" dirty="0"/>
          </a:p>
        </p:txBody>
      </p:sp>
      <p:sp>
        <p:nvSpPr>
          <p:cNvPr id="20" name="Text 15"/>
          <p:cNvSpPr txBox="1"/>
          <p:nvPr/>
        </p:nvSpPr>
        <p:spPr>
          <a:xfrm>
            <a:off x="6355080" y="3154680"/>
            <a:ext cx="2194560" cy="1188720"/>
          </a:xfrm>
          <a:prstGeom prst="rect">
            <a:avLst/>
          </a:prstGeom>
          <a:noFill/>
          <a:ln/>
        </p:spPr>
        <p:txBody>
          <a:bodyPr wrap="square" lIns="0" tIns="0" rIns="0" bIns="0" rtlCol="0" anchor="t"/>
          <a:lstStyle/>
          <a:p>
            <a:pPr indent="0" marL="0">
              <a:buNone/>
            </a:pPr>
            <a:r>
              <a:rPr lang="en-US" sz="1400" b="1" dirty="0">
                <a:solidFill>
                  <a:schemeClr val="tx1"/>
                </a:solidFill>
              </a:rPr>
              <a:t>Rechazado: fuera de [1,8; 6,0] m</a:t>
            </a:r>
            <a:endParaRPr lang="en-US" sz="1400" dirty="0"/>
          </a:p>
          <a:p>
            <a:pPr indent="0" marL="0">
              <a:buNone/>
            </a:pPr>
            <a:r>
              <a:rPr lang="en-US" sz="1400" b="1" dirty="0">
                <a:solidFill>
                  <a:schemeClr val="tx1"/>
                </a:solidFill>
              </a:rPr>
              <a:t>«¿está en centímetros?»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Reproduce el cálculo de referencia del curso</a:t>
            </a:r>
            <a:endParaRPr lang="en-US" sz="2800" dirty="0"/>
          </a:p>
        </p:txBody>
      </p:sp>
      <p:graphicFrame>
        <p:nvGraphicFramePr>
          <p:cNvPr id="9" name="tabla_validacion"/>
          <p:cNvGraphicFramePr>
            <a:graphicFrameLocks noGrp="1"/>
          </p:cNvGraphicFramePr>
          <p:nvPr>
            <p:extLst>
              <p:ext uri="{D42A27DB-BD31-4B8C-83A1-F6EECF244321}">
                <p14:modId xmlns:p14="http://schemas.microsoft.com/office/powerpoint/2010/main" val="1579011935"/>
              </p:ext>
            </p:extLst>
          </p:nvPr>
        </p:nvGraphicFramePr>
        <p:xfrm>
          <a:off x="457200" y="1188720"/>
          <a:ext cx="4297680" cy="914400"/>
        </p:xfrm>
        <a:graphic>
          <a:graphicData uri="http://schemas.openxmlformats.org/drawingml/2006/table">
            <a:tbl>
              <a:tblPr/>
              <a:tblGrid>
                <a:gridCol w="1920240"/>
                <a:gridCol w="118872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Magnitud</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1E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Excel + SAP2000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1E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Prototipo</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1E2A33"/>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Cortante basal Vs (kN)</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23 250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23 250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Fuerza en cubierta Fx (kN)</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7 361</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7 361</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Deriva máx. X / Y (% hpi)</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0,985 / 0,991</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0,985 / 0,991</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Índice de estabilidad Q</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0,0165</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0,0165</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Relación torsional (1aP)</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1,193</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1,193</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Coeficiente R</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r>
            </a:tbl>
          </a:graphicData>
        </a:graphic>
      </p:graphicFrame>
      <p:pic>
        <p:nvPicPr>
          <p:cNvPr id="4" name="derivas" descr="figuras/fig_derivas_caso_curso.png">    </p:cNvPr>
          <p:cNvPicPr>
            <a:picLocks noChangeAspect="1"/>
          </p:cNvPicPr>
          <p:nvPr/>
        </p:nvPicPr>
        <p:blipFill>
          <a:blip r:embed="rId1"/>
          <a:srcRect l="0" r="0" t="0" b="0"/>
          <a:stretch/>
        </p:blipFill>
        <p:spPr>
          <a:xfrm>
            <a:off x="4983480" y="1097280"/>
            <a:ext cx="3703320" cy="2743200"/>
          </a:xfrm>
          <a:prstGeom prst="rect">
            <a:avLst/>
          </a:prstGeom>
        </p:spPr>
      </p:pic>
      <p:sp>
        <p:nvSpPr>
          <p:cNvPr id="5" name="Text 1"/>
          <p:cNvSpPr txBox="1"/>
          <p:nvPr/>
        </p:nvSpPr>
        <p:spPr>
          <a:xfrm>
            <a:off x="4983480" y="3931920"/>
            <a:ext cx="3703320" cy="640080"/>
          </a:xfrm>
          <a:prstGeom prst="rect">
            <a:avLst/>
          </a:prstGeom>
          <a:noFill/>
          <a:ln/>
        </p:spPr>
        <p:txBody>
          <a:bodyPr wrap="square" lIns="0" tIns="0" rIns="0" bIns="0" rtlCol="0" anchor="t"/>
          <a:lstStyle/>
          <a:p>
            <a:pPr indent="0" marL="0">
              <a:buNone/>
            </a:pPr>
            <a:r>
              <a:rPr lang="en-US" sz="1100" i="1" dirty="0">
                <a:solidFill>
                  <a:schemeClr val="tx2"/>
                </a:solidFill>
              </a:rPr>
              <a:t>Envolvente de 12 combinaciones en las esquinas E5 y A1. La relación torsional (1,193) queda cerca del umbral 1,2 de irregularidad.</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Base NSR-10: 18 edificios teóricos + 1 verificado</a:t>
            </a:r>
            <a:endParaRPr lang="en-US" sz="2800" dirty="0"/>
          </a:p>
        </p:txBody>
      </p:sp>
      <p:sp>
        <p:nvSpPr>
          <p:cNvPr id="3" name="Text 1"/>
          <p:cNvSpPr txBox="1"/>
          <p:nvPr/>
        </p:nvSpPr>
        <p:spPr>
          <a:xfrm>
            <a:off x="457200" y="1188720"/>
            <a:ext cx="2560320" cy="77724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18</a:t>
            </a:r>
            <a:endParaRPr lang="en-US" sz="4800" dirty="0"/>
          </a:p>
        </p:txBody>
      </p:sp>
      <p:sp>
        <p:nvSpPr>
          <p:cNvPr id="4" name="Text 2"/>
          <p:cNvSpPr txBox="1"/>
          <p:nvPr/>
        </p:nvSpPr>
        <p:spPr>
          <a:xfrm>
            <a:off x="457200" y="1965960"/>
            <a:ext cx="2560320" cy="548640"/>
          </a:xfrm>
          <a:prstGeom prst="rect">
            <a:avLst/>
          </a:prstGeom>
          <a:noFill/>
          <a:ln/>
        </p:spPr>
        <p:txBody>
          <a:bodyPr wrap="square" lIns="0" tIns="0" rIns="0" bIns="0" rtlCol="0" anchor="t"/>
          <a:lstStyle/>
          <a:p>
            <a:pPr indent="0" marL="0">
              <a:buNone/>
            </a:pPr>
            <a:r>
              <a:rPr lang="en-US" sz="1400" dirty="0">
                <a:solidFill>
                  <a:schemeClr val="tx2"/>
                </a:solidFill>
              </a:rPr>
              <a:t>edificios del Prof. T. F. Rojas Vallejo (OpenSees)</a:t>
            </a:r>
            <a:endParaRPr lang="en-US" sz="1400" dirty="0"/>
          </a:p>
        </p:txBody>
      </p:sp>
      <p:sp>
        <p:nvSpPr>
          <p:cNvPr id="5" name="Text 3"/>
          <p:cNvSpPr txBox="1"/>
          <p:nvPr/>
        </p:nvSpPr>
        <p:spPr>
          <a:xfrm>
            <a:off x="3291840" y="1188720"/>
            <a:ext cx="2560320" cy="77724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9</a:t>
            </a:r>
            <a:endParaRPr lang="en-US" sz="4800" dirty="0"/>
          </a:p>
        </p:txBody>
      </p:sp>
      <p:sp>
        <p:nvSpPr>
          <p:cNvPr id="6" name="Text 4"/>
          <p:cNvSpPr txBox="1"/>
          <p:nvPr/>
        </p:nvSpPr>
        <p:spPr>
          <a:xfrm>
            <a:off x="3291840" y="1965960"/>
            <a:ext cx="2560320" cy="548640"/>
          </a:xfrm>
          <a:prstGeom prst="rect">
            <a:avLst/>
          </a:prstGeom>
          <a:noFill/>
          <a:ln/>
        </p:spPr>
        <p:txBody>
          <a:bodyPr wrap="square" lIns="0" tIns="0" rIns="0" bIns="0" rtlCol="0" anchor="t"/>
          <a:lstStyle/>
          <a:p>
            <a:pPr indent="0" marL="0">
              <a:buNone/>
            </a:pPr>
            <a:r>
              <a:rPr lang="en-US" sz="1400" dirty="0">
                <a:solidFill>
                  <a:schemeClr val="tx2"/>
                </a:solidFill>
              </a:rPr>
              <a:t>plantas, 4 a 10 pisos, Bogotá, DES</a:t>
            </a:r>
            <a:endParaRPr lang="en-US" sz="1400" dirty="0"/>
          </a:p>
        </p:txBody>
      </p:sp>
      <p:sp>
        <p:nvSpPr>
          <p:cNvPr id="7" name="Text 5"/>
          <p:cNvSpPr txBox="1"/>
          <p:nvPr/>
        </p:nvSpPr>
        <p:spPr>
          <a:xfrm>
            <a:off x="6126480" y="1188720"/>
            <a:ext cx="2560320" cy="77724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8" name="Text 6"/>
          <p:cNvSpPr txBox="1"/>
          <p:nvPr/>
        </p:nvSpPr>
        <p:spPr>
          <a:xfrm>
            <a:off x="6126480" y="1965960"/>
            <a:ext cx="2560320" cy="548640"/>
          </a:xfrm>
          <a:prstGeom prst="rect">
            <a:avLst/>
          </a:prstGeom>
          <a:noFill/>
          <a:ln/>
        </p:spPr>
        <p:txBody>
          <a:bodyPr wrap="square" lIns="0" tIns="0" rIns="0" bIns="0" rtlCol="0" anchor="t"/>
          <a:lstStyle/>
          <a:p>
            <a:pPr indent="0" marL="0">
              <a:buNone/>
            </a:pPr>
            <a:r>
              <a:rPr lang="en-US" sz="1400" dirty="0">
                <a:solidFill>
                  <a:schemeClr val="tx2"/>
                </a:solidFill>
              </a:rPr>
              <a:t>caso del curso verificado con SAP2000</a:t>
            </a:r>
            <a:endParaRPr lang="en-US" sz="1400" dirty="0"/>
          </a:p>
        </p:txBody>
      </p:sp>
      <p:sp>
        <p:nvSpPr>
          <p:cNvPr id="9" name="nota_profesor"/>
          <p:cNvSpPr/>
          <p:nvPr/>
        </p:nvSpPr>
        <p:spPr>
          <a:xfrm>
            <a:off x="457200" y="2788920"/>
            <a:ext cx="8229600" cy="1691640"/>
          </a:xfrm>
          <a:prstGeom prst="roundRect">
            <a:avLst>
              <a:gd name="adj" fmla="val 4324"/>
            </a:avLst>
          </a:prstGeom>
          <a:solidFill>
            <a:srgbClr val="EDF0F3"/>
          </a:solidFill>
          <a:ln w="12700">
            <a:solidFill>
              <a:srgbClr val="EDF0F3"/>
            </a:solidFill>
            <a:prstDash val="solid"/>
          </a:ln>
        </p:spPr>
      </p:sp>
      <p:sp>
        <p:nvSpPr>
          <p:cNvPr id="10" name="badge"/>
          <p:cNvSpPr/>
          <p:nvPr/>
        </p:nvSpPr>
        <p:spPr>
          <a:xfrm>
            <a:off x="685800" y="3017520"/>
            <a:ext cx="502920" cy="502920"/>
          </a:xfrm>
          <a:prstGeom prst="ellipse">
            <a:avLst/>
          </a:prstGeom>
          <a:solidFill>
            <a:schemeClr val="accent5"/>
          </a:solidFill>
          <a:ln w="12700">
            <a:solidFill>
              <a:schemeClr val="accent5"/>
            </a:solidFill>
            <a:prstDash val="solid"/>
          </a:ln>
        </p:spPr>
      </p:sp>
      <p:pic>
        <p:nvPicPr>
          <p:cNvPr id="11" name="icono" descr="preencoded.png">    </p:cNvPr>
          <p:cNvPicPr>
            <a:picLocks noChangeAspect="1"/>
          </p:cNvPicPr>
          <p:nvPr/>
        </p:nvPicPr>
        <p:blipFill>
          <a:blip r:embed="rId1"/>
          <a:stretch>
            <a:fillRect/>
          </a:stretch>
        </p:blipFill>
        <p:spPr>
          <a:xfrm>
            <a:off x="796442" y="3128162"/>
            <a:ext cx="281635" cy="281635"/>
          </a:xfrm>
          <a:prstGeom prst="rect">
            <a:avLst/>
          </a:prstGeom>
        </p:spPr>
      </p:pic>
      <p:sp>
        <p:nvSpPr>
          <p:cNvPr id="12" name="Text 9"/>
          <p:cNvSpPr txBox="1"/>
          <p:nvPr/>
        </p:nvSpPr>
        <p:spPr>
          <a:xfrm>
            <a:off x="1371600" y="3017520"/>
            <a:ext cx="7132320" cy="320040"/>
          </a:xfrm>
          <a:prstGeom prst="rect">
            <a:avLst/>
          </a:prstGeom>
          <a:noFill/>
          <a:ln/>
        </p:spPr>
        <p:txBody>
          <a:bodyPr wrap="square" lIns="0" tIns="0" rIns="0" bIns="0" rtlCol="0" anchor="t"/>
          <a:lstStyle/>
          <a:p>
            <a:pPr indent="0" marL="0">
              <a:buNone/>
            </a:pPr>
            <a:r>
              <a:rPr lang="en-US" sz="1500" b="1" dirty="0">
                <a:solidFill>
                  <a:schemeClr val="tx1"/>
                </a:solidFill>
              </a:rPr>
              <a:t>Nota del profesor</a:t>
            </a:r>
            <a:endParaRPr lang="en-US" sz="1500" dirty="0"/>
          </a:p>
        </p:txBody>
      </p:sp>
      <p:sp>
        <p:nvSpPr>
          <p:cNvPr id="13" name="Text 10"/>
          <p:cNvSpPr txBox="1"/>
          <p:nvPr/>
        </p:nvSpPr>
        <p:spPr>
          <a:xfrm>
            <a:off x="1371600" y="3383280"/>
            <a:ext cx="7132320" cy="1005840"/>
          </a:xfrm>
          <a:prstGeom prst="rect">
            <a:avLst/>
          </a:prstGeom>
          <a:noFill/>
          <a:ln/>
        </p:spPr>
        <p:txBody>
          <a:bodyPr wrap="square" lIns="0" tIns="0" rIns="0" bIns="0" rtlCol="0" anchor="t"/>
          <a:lstStyle/>
          <a:p>
            <a:pPr indent="0" marL="0">
              <a:buNone/>
            </a:pPr>
            <a:r>
              <a:rPr lang="en-US" sz="1300" dirty="0">
                <a:solidFill>
                  <a:schemeClr val="tx2"/>
                </a:solidFill>
              </a:rPr>
              <a:t>Varios resultados son teóricos: algunas plantas y luces no se resolverían con pórticos resistentes a momento en la práctica. Las plantas ausentes fallaron en el dimensionamiento del algoritmo de OpenSees. Por eso estos datos sirven para entrenar y comparar, no como diseños.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Random Forest reduce 39 % el error de deriva</a:t>
            </a:r>
            <a:endParaRPr lang="en-US" sz="2800" dirty="0"/>
          </a:p>
        </p:txBody>
      </p:sp>
      <p:graphicFrame>
        <p:nvGraphicFramePr>
          <p:cNvPr id="3" name="grafico_mae" descr=""/>
          <p:cNvGraphicFramePr/>
          <p:nvPr/>
        </p:nvGraphicFramePr>
        <p:xfrm>
          <a:off x="457200" y="1097280"/>
          <a:ext cx="5120640" cy="3474720"/>
        </p:xfrm>
        <a:graphic xmlns:a="http://schemas.openxmlformats.org/drawingml/2006/main">
          <a:graphicData uri="http://schemas.openxmlformats.org/drawingml/2006/chart">
            <c:chart xmlns:c="http://schemas.openxmlformats.org/drawingml/2006/chart" r:id="rId1"/>
          </a:graphicData>
        </a:graphic>
      </p:graphicFrame>
      <p:sp>
        <p:nvSpPr>
          <p:cNvPr id="4" name="stat"/>
          <p:cNvSpPr/>
          <p:nvPr/>
        </p:nvSpPr>
        <p:spPr>
          <a:xfrm>
            <a:off x="5852160" y="1188720"/>
            <a:ext cx="2834640" cy="1463040"/>
          </a:xfrm>
          <a:prstGeom prst="roundRect">
            <a:avLst>
              <a:gd name="adj" fmla="val 5000"/>
            </a:avLst>
          </a:prstGeom>
          <a:solidFill>
            <a:schemeClr val="bg2"/>
          </a:solidFill>
          <a:ln w="12700">
            <a:solidFill>
              <a:schemeClr val="bg2"/>
            </a:solidFill>
            <a:prstDash val="solid"/>
          </a:ln>
        </p:spPr>
      </p:sp>
      <p:sp>
        <p:nvSpPr>
          <p:cNvPr id="5" name="Text 2"/>
          <p:cNvSpPr txBox="1"/>
          <p:nvPr/>
        </p:nvSpPr>
        <p:spPr>
          <a:xfrm>
            <a:off x="6035040" y="1280160"/>
            <a:ext cx="256032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−39 %</a:t>
            </a:r>
            <a:endParaRPr lang="en-US" sz="4000" dirty="0"/>
          </a:p>
        </p:txBody>
      </p:sp>
      <p:sp>
        <p:nvSpPr>
          <p:cNvPr id="6" name="Text 3"/>
          <p:cNvSpPr txBox="1"/>
          <p:nvPr/>
        </p:nvSpPr>
        <p:spPr>
          <a:xfrm>
            <a:off x="6035040" y="2011680"/>
            <a:ext cx="2560320" cy="548640"/>
          </a:xfrm>
          <a:prstGeom prst="rect">
            <a:avLst/>
          </a:prstGeom>
          <a:noFill/>
          <a:ln/>
        </p:spPr>
        <p:txBody>
          <a:bodyPr wrap="square" lIns="0" tIns="0" rIns="0" bIns="0" rtlCol="0" anchor="t"/>
          <a:lstStyle/>
          <a:p>
            <a:pPr indent="0" marL="0">
              <a:buNone/>
            </a:pPr>
            <a:r>
              <a:rPr lang="en-US" sz="1300" dirty="0">
                <a:solidFill>
                  <a:schemeClr val="tx2"/>
                </a:solidFill>
              </a:rPr>
              <a:t>error de deriva frente a predecir la media</a:t>
            </a:r>
            <a:endParaRPr lang="en-US" sz="1300" dirty="0"/>
          </a:p>
        </p:txBody>
      </p:sp>
      <p:sp>
        <p:nvSpPr>
          <p:cNvPr id="7" name="stat"/>
          <p:cNvSpPr/>
          <p:nvPr/>
        </p:nvSpPr>
        <p:spPr>
          <a:xfrm>
            <a:off x="5852160" y="2926080"/>
            <a:ext cx="2834640" cy="1463040"/>
          </a:xfrm>
          <a:prstGeom prst="roundRect">
            <a:avLst>
              <a:gd name="adj" fmla="val 5000"/>
            </a:avLst>
          </a:prstGeom>
          <a:solidFill>
            <a:schemeClr val="bg2"/>
          </a:solidFill>
          <a:ln w="12700">
            <a:solidFill>
              <a:schemeClr val="bg2"/>
            </a:solidFill>
            <a:prstDash val="solid"/>
          </a:ln>
        </p:spPr>
      </p:sp>
      <p:sp>
        <p:nvSpPr>
          <p:cNvPr id="8" name="Text 5"/>
          <p:cNvSpPr txBox="1"/>
          <p:nvPr/>
        </p:nvSpPr>
        <p:spPr>
          <a:xfrm>
            <a:off x="6035040" y="3017520"/>
            <a:ext cx="256032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32 ms</a:t>
            </a:r>
            <a:endParaRPr lang="en-US" sz="4000" dirty="0"/>
          </a:p>
        </p:txBody>
      </p:sp>
      <p:sp>
        <p:nvSpPr>
          <p:cNvPr id="9" name="Text 6"/>
          <p:cNvSpPr txBox="1"/>
          <p:nvPr/>
        </p:nvSpPr>
        <p:spPr>
          <a:xfrm>
            <a:off x="6035040" y="3749040"/>
            <a:ext cx="2560320" cy="548640"/>
          </a:xfrm>
          <a:prstGeom prst="rect">
            <a:avLst/>
          </a:prstGeom>
          <a:noFill/>
          <a:ln/>
        </p:spPr>
        <p:txBody>
          <a:bodyPr wrap="square" lIns="0" tIns="0" rIns="0" bIns="0" rtlCol="0" anchor="t"/>
          <a:lstStyle/>
          <a:p>
            <a:pPr indent="0" marL="0">
              <a:buNone/>
            </a:pPr>
            <a:r>
              <a:rPr lang="en-US" sz="1300" dirty="0">
                <a:solidFill>
                  <a:schemeClr val="tx2"/>
                </a:solidFill>
              </a:rPr>
              <a:t>por predicción; entrenar toma 0,4 s</a:t>
            </a:r>
            <a:endParaRPr lang="en-US" sz="1300" dirty="0"/>
          </a:p>
        </p:txBody>
      </p:sp>
      <p:sp>
        <p:nvSpPr>
          <p:cNvPr id="10" name="Text 7"/>
          <p:cNvSpPr txBox="1"/>
          <p:nvPr/>
        </p:nvSpPr>
        <p:spPr>
          <a:xfrm>
            <a:off x="457200" y="4526280"/>
            <a:ext cx="5120640" cy="228600"/>
          </a:xfrm>
          <a:prstGeom prst="rect">
            <a:avLst/>
          </a:prstGeom>
          <a:noFill/>
          <a:ln/>
        </p:spPr>
        <p:txBody>
          <a:bodyPr wrap="square" lIns="0" tIns="0" rIns="0" bIns="0" rtlCol="0" anchor="t"/>
          <a:lstStyle/>
          <a:p>
            <a:pPr indent="0" marL="0">
              <a:buNone/>
            </a:pPr>
            <a:r>
              <a:rPr lang="en-US" sz="1000" i="1" dirty="0">
                <a:solidFill>
                  <a:schemeClr val="accent2"/>
                </a:solidFill>
              </a:rPr>
              <a:t>Validación dejando una planta completa fuera (9 pliegues).</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Útil para priorizar, aún no para certificar</a:t>
            </a:r>
            <a:endParaRPr lang="en-US" sz="2800" dirty="0"/>
          </a:p>
        </p:txBody>
      </p:sp>
      <p:pic>
        <p:nvPicPr>
          <p:cNvPr id="3" name="calc_pred" descr="figuras/fig_calculado_vs_predicho.png">    </p:cNvPr>
          <p:cNvPicPr>
            <a:picLocks noChangeAspect="1"/>
          </p:cNvPicPr>
          <p:nvPr/>
        </p:nvPicPr>
        <p:blipFill>
          <a:blip r:embed="rId1"/>
          <a:srcRect l="0" r="0" t="0" b="0"/>
          <a:stretch/>
        </p:blipFill>
        <p:spPr>
          <a:xfrm>
            <a:off x="457200" y="1097280"/>
            <a:ext cx="5120640" cy="2743200"/>
          </a:xfrm>
          <a:prstGeom prst="rect">
            <a:avLst/>
          </a:prstGeom>
        </p:spPr>
      </p:pic>
      <p:sp>
        <p:nvSpPr>
          <p:cNvPr id="4" name="Text 1"/>
          <p:cNvSpPr txBox="1"/>
          <p:nvPr/>
        </p:nvSpPr>
        <p:spPr>
          <a:xfrm>
            <a:off x="457200" y="3931920"/>
            <a:ext cx="5120640" cy="457200"/>
          </a:xfrm>
          <a:prstGeom prst="rect">
            <a:avLst/>
          </a:prstGeom>
          <a:noFill/>
          <a:ln/>
        </p:spPr>
        <p:txBody>
          <a:bodyPr wrap="square" lIns="0" tIns="0" rIns="0" bIns="0" rtlCol="0" anchor="t"/>
          <a:lstStyle/>
          <a:p>
            <a:pPr indent="0" marL="0">
              <a:buNone/>
            </a:pPr>
            <a:r>
              <a:rPr lang="en-US" sz="1100" i="1" dirty="0">
                <a:solidFill>
                  <a:schemeClr val="tx2"/>
                </a:solidFill>
              </a:rPr>
              <a:t>Deriva calculada (OpenSees, profesor) frente a predicha por Random Forest en plantas no vistas.</a:t>
            </a:r>
            <a:endParaRPr lang="en-US" sz="1100" dirty="0"/>
          </a:p>
        </p:txBody>
      </p:sp>
      <p:sp>
        <p:nvSpPr>
          <p:cNvPr id="5" name="Text 2"/>
          <p:cNvSpPr txBox="1"/>
          <p:nvPr/>
        </p:nvSpPr>
        <p:spPr>
          <a:xfrm>
            <a:off x="5852160" y="1188720"/>
            <a:ext cx="2834640" cy="77724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3 de 7</a:t>
            </a:r>
            <a:endParaRPr lang="en-US" sz="4800" dirty="0"/>
          </a:p>
        </p:txBody>
      </p:sp>
      <p:sp>
        <p:nvSpPr>
          <p:cNvPr id="6" name="Text 3"/>
          <p:cNvSpPr txBox="1"/>
          <p:nvPr/>
        </p:nvSpPr>
        <p:spPr>
          <a:xfrm>
            <a:off x="5852160" y="1965960"/>
            <a:ext cx="2834640" cy="548640"/>
          </a:xfrm>
          <a:prstGeom prst="rect">
            <a:avLst/>
          </a:prstGeom>
          <a:noFill/>
          <a:ln/>
        </p:spPr>
        <p:txBody>
          <a:bodyPr wrap="square" lIns="0" tIns="0" rIns="0" bIns="0" rtlCol="0" anchor="t"/>
          <a:lstStyle/>
          <a:p>
            <a:pPr indent="0" marL="0">
              <a:buNone/>
            </a:pPr>
            <a:r>
              <a:rPr lang="en-US" sz="1400" dirty="0">
                <a:solidFill>
                  <a:schemeClr val="tx2"/>
                </a:solidFill>
              </a:rPr>
              <a:t>edificios con deriva ≥ 0,90 % detectados por el modelo</a:t>
            </a:r>
            <a:endParaRPr lang="en-US" sz="1400" dirty="0"/>
          </a:p>
        </p:txBody>
      </p:sp>
      <p:sp>
        <p:nvSpPr>
          <p:cNvPr id="7" name="Text 4"/>
          <p:cNvSpPr txBox="1"/>
          <p:nvPr/>
        </p:nvSpPr>
        <p:spPr>
          <a:xfrm>
            <a:off x="5852160" y="2697480"/>
            <a:ext cx="2834640" cy="77724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0</a:t>
            </a:r>
            <a:endParaRPr lang="en-US" sz="4800" dirty="0"/>
          </a:p>
        </p:txBody>
      </p:sp>
      <p:sp>
        <p:nvSpPr>
          <p:cNvPr id="8" name="Text 5"/>
          <p:cNvSpPr txBox="1"/>
          <p:nvPr/>
        </p:nvSpPr>
        <p:spPr>
          <a:xfrm>
            <a:off x="5852160" y="3474720"/>
            <a:ext cx="2834640" cy="731520"/>
          </a:xfrm>
          <a:prstGeom prst="rect">
            <a:avLst/>
          </a:prstGeom>
          <a:noFill/>
          <a:ln/>
        </p:spPr>
        <p:txBody>
          <a:bodyPr wrap="square" lIns="0" tIns="0" rIns="0" bIns="0" rtlCol="0" anchor="t"/>
          <a:lstStyle/>
          <a:p>
            <a:pPr indent="0" marL="0">
              <a:buNone/>
            </a:pPr>
            <a:r>
              <a:rPr lang="en-US" sz="1400" dirty="0">
                <a:solidFill>
                  <a:schemeClr val="tx2"/>
                </a:solidFill>
              </a:rPr>
              <a:t>falsas alarmas; el modelo subestima los casos más cercanos al límite</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Limitaciones que condicionan los resultados</a:t>
            </a:r>
            <a:endParaRPr lang="en-US" sz="2800" dirty="0"/>
          </a:p>
        </p:txBody>
      </p:sp>
      <p:sp>
        <p:nvSpPr>
          <p:cNvPr id="3" name="badge"/>
          <p:cNvSpPr/>
          <p:nvPr/>
        </p:nvSpPr>
        <p:spPr>
          <a:xfrm>
            <a:off x="457200" y="1280160"/>
            <a:ext cx="548640" cy="548640"/>
          </a:xfrm>
          <a:prstGeom prst="ellipse">
            <a:avLst/>
          </a:prstGeom>
          <a:solidFill>
            <a:schemeClr val="accent2"/>
          </a:solidFill>
          <a:ln w="12700">
            <a:solidFill>
              <a:schemeClr val="accent2"/>
            </a:solidFill>
            <a:prstDash val="solid"/>
          </a:ln>
        </p:spPr>
      </p:sp>
      <p:pic>
        <p:nvPicPr>
          <p:cNvPr id="4" name="icono" descr="preencoded.png">    </p:cNvPr>
          <p:cNvPicPr>
            <a:picLocks noChangeAspect="1"/>
          </p:cNvPicPr>
          <p:nvPr/>
        </p:nvPicPr>
        <p:blipFill>
          <a:blip r:embed="rId1"/>
          <a:stretch>
            <a:fillRect/>
          </a:stretch>
        </p:blipFill>
        <p:spPr>
          <a:xfrm>
            <a:off x="577901" y="1400861"/>
            <a:ext cx="307238" cy="307238"/>
          </a:xfrm>
          <a:prstGeom prst="rect">
            <a:avLst/>
          </a:prstGeom>
        </p:spPr>
      </p:pic>
      <p:sp>
        <p:nvSpPr>
          <p:cNvPr id="5" name="Text 2"/>
          <p:cNvSpPr txBox="1"/>
          <p:nvPr/>
        </p:nvSpPr>
        <p:spPr>
          <a:xfrm>
            <a:off x="1188720" y="1234440"/>
            <a:ext cx="3200400" cy="365760"/>
          </a:xfrm>
          <a:prstGeom prst="rect">
            <a:avLst/>
          </a:prstGeom>
          <a:noFill/>
          <a:ln/>
        </p:spPr>
        <p:txBody>
          <a:bodyPr wrap="square" lIns="0" tIns="0" rIns="0" bIns="0" rtlCol="0" anchor="t"/>
          <a:lstStyle/>
          <a:p>
            <a:pPr indent="0" marL="0">
              <a:buNone/>
            </a:pPr>
            <a:r>
              <a:rPr lang="en-US" sz="1600" b="1" dirty="0">
                <a:solidFill>
                  <a:schemeClr val="tx1"/>
                </a:solidFill>
              </a:rPr>
              <a:t>Base NSR-10 pequeña y teórica</a:t>
            </a:r>
            <a:endParaRPr lang="en-US" sz="1600" dirty="0"/>
          </a:p>
        </p:txBody>
      </p:sp>
      <p:sp>
        <p:nvSpPr>
          <p:cNvPr id="6" name="Text 3"/>
          <p:cNvSpPr txBox="1"/>
          <p:nvPr/>
        </p:nvSpPr>
        <p:spPr>
          <a:xfrm>
            <a:off x="1188720" y="1645920"/>
            <a:ext cx="3200400" cy="822960"/>
          </a:xfrm>
          <a:prstGeom prst="rect">
            <a:avLst/>
          </a:prstGeom>
          <a:noFill/>
          <a:ln/>
        </p:spPr>
        <p:txBody>
          <a:bodyPr wrap="square" lIns="0" tIns="0" rIns="0" bIns="0" rtlCol="0" anchor="t"/>
          <a:lstStyle/>
          <a:p>
            <a:pPr indent="0" marL="0">
              <a:buNone/>
            </a:pPr>
            <a:r>
              <a:rPr lang="en-US" sz="1400" dirty="0">
                <a:solidFill>
                  <a:schemeClr val="tx2"/>
                </a:solidFill>
              </a:rPr>
              <a:t>18 edificios; varias configuraciones no serían viables en pórticos reales</a:t>
            </a:r>
            <a:endParaRPr lang="en-US" sz="1400" dirty="0"/>
          </a:p>
        </p:txBody>
      </p:sp>
      <p:sp>
        <p:nvSpPr>
          <p:cNvPr id="7" name="badge"/>
          <p:cNvSpPr/>
          <p:nvPr/>
        </p:nvSpPr>
        <p:spPr>
          <a:xfrm>
            <a:off x="4663440" y="1280160"/>
            <a:ext cx="548640" cy="548640"/>
          </a:xfrm>
          <a:prstGeom prst="ellipse">
            <a:avLst/>
          </a:prstGeom>
          <a:solidFill>
            <a:schemeClr val="accent2"/>
          </a:solidFill>
          <a:ln w="12700">
            <a:solidFill>
              <a:schemeClr val="accent2"/>
            </a:solidFill>
            <a:prstDash val="solid"/>
          </a:ln>
        </p:spPr>
      </p:sp>
      <p:pic>
        <p:nvPicPr>
          <p:cNvPr id="8" name="icono" descr="preencoded.png">    </p:cNvPr>
          <p:cNvPicPr>
            <a:picLocks noChangeAspect="1"/>
          </p:cNvPicPr>
          <p:nvPr/>
        </p:nvPicPr>
        <p:blipFill>
          <a:blip r:embed="rId2"/>
          <a:stretch>
            <a:fillRect/>
          </a:stretch>
        </p:blipFill>
        <p:spPr>
          <a:xfrm>
            <a:off x="4784141" y="1400861"/>
            <a:ext cx="307238" cy="307238"/>
          </a:xfrm>
          <a:prstGeom prst="rect">
            <a:avLst/>
          </a:prstGeom>
        </p:spPr>
      </p:pic>
      <p:sp>
        <p:nvSpPr>
          <p:cNvPr id="9" name="Text 5"/>
          <p:cNvSpPr txBox="1"/>
          <p:nvPr/>
        </p:nvSpPr>
        <p:spPr>
          <a:xfrm>
            <a:off x="5394960" y="1234440"/>
            <a:ext cx="3200400" cy="365760"/>
          </a:xfrm>
          <a:prstGeom prst="rect">
            <a:avLst/>
          </a:prstGeom>
          <a:noFill/>
          <a:ln/>
        </p:spPr>
        <p:txBody>
          <a:bodyPr wrap="square" lIns="0" tIns="0" rIns="0" bIns="0" rtlCol="0" anchor="t"/>
          <a:lstStyle/>
          <a:p>
            <a:pPr indent="0" marL="0">
              <a:buNone/>
            </a:pPr>
            <a:r>
              <a:rPr lang="en-US" sz="1600" b="1" dirty="0">
                <a:solidFill>
                  <a:schemeClr val="tx1"/>
                </a:solidFill>
              </a:rPr>
              <a:t>Ruta E.030 sin evaluar todavía</a:t>
            </a:r>
            <a:endParaRPr lang="en-US" sz="1600" dirty="0"/>
          </a:p>
        </p:txBody>
      </p:sp>
      <p:sp>
        <p:nvSpPr>
          <p:cNvPr id="10" name="Text 6"/>
          <p:cNvSpPr txBox="1"/>
          <p:nvPr/>
        </p:nvSpPr>
        <p:spPr>
          <a:xfrm>
            <a:off x="5394960" y="1645920"/>
            <a:ext cx="3200400" cy="822960"/>
          </a:xfrm>
          <a:prstGeom prst="rect">
            <a:avLst/>
          </a:prstGeom>
          <a:noFill/>
          <a:ln/>
        </p:spPr>
        <p:txBody>
          <a:bodyPr wrap="square" lIns="0" tIns="0" rIns="0" bIns="0" rtlCol="0" anchor="t"/>
          <a:lstStyle/>
          <a:p>
            <a:pPr indent="0" marL="0">
              <a:buNone/>
            </a:pPr>
            <a:r>
              <a:rPr lang="en-US" sz="1400" dirty="0">
                <a:solidFill>
                  <a:schemeClr val="tx2"/>
                </a:solidFill>
              </a:rPr>
              <a:t>Faltan las métricas del Random Forest en las familias reservadas</a:t>
            </a:r>
            <a:endParaRPr lang="en-US" sz="1400" dirty="0"/>
          </a:p>
        </p:txBody>
      </p:sp>
      <p:sp>
        <p:nvSpPr>
          <p:cNvPr id="11" name="badge"/>
          <p:cNvSpPr/>
          <p:nvPr/>
        </p:nvSpPr>
        <p:spPr>
          <a:xfrm>
            <a:off x="457200" y="2926080"/>
            <a:ext cx="548640" cy="548640"/>
          </a:xfrm>
          <a:prstGeom prst="ellipse">
            <a:avLst/>
          </a:prstGeom>
          <a:solidFill>
            <a:schemeClr val="accent2"/>
          </a:solidFill>
          <a:ln w="12700">
            <a:solidFill>
              <a:schemeClr val="accent2"/>
            </a:solidFill>
            <a:prstDash val="solid"/>
          </a:ln>
        </p:spPr>
      </p:sp>
      <p:pic>
        <p:nvPicPr>
          <p:cNvPr id="12" name="icono" descr="preencoded.png">    </p:cNvPr>
          <p:cNvPicPr>
            <a:picLocks noChangeAspect="1"/>
          </p:cNvPicPr>
          <p:nvPr/>
        </p:nvPicPr>
        <p:blipFill>
          <a:blip r:embed="rId3"/>
          <a:stretch>
            <a:fillRect/>
          </a:stretch>
        </p:blipFill>
        <p:spPr>
          <a:xfrm>
            <a:off x="577901" y="3046781"/>
            <a:ext cx="307238" cy="307238"/>
          </a:xfrm>
          <a:prstGeom prst="rect">
            <a:avLst/>
          </a:prstGeom>
        </p:spPr>
      </p:pic>
      <p:sp>
        <p:nvSpPr>
          <p:cNvPr id="13" name="Text 8"/>
          <p:cNvSpPr txBox="1"/>
          <p:nvPr/>
        </p:nvSpPr>
        <p:spPr>
          <a:xfrm>
            <a:off x="1188720" y="2880360"/>
            <a:ext cx="3200400" cy="365760"/>
          </a:xfrm>
          <a:prstGeom prst="rect">
            <a:avLst/>
          </a:prstGeom>
          <a:noFill/>
          <a:ln/>
        </p:spPr>
        <p:txBody>
          <a:bodyPr wrap="square" lIns="0" tIns="0" rIns="0" bIns="0" rtlCol="0" anchor="t"/>
          <a:lstStyle/>
          <a:p>
            <a:pPr indent="0" marL="0">
              <a:buNone/>
            </a:pPr>
            <a:r>
              <a:rPr lang="en-US" sz="1600" b="1" dirty="0">
                <a:solidFill>
                  <a:schemeClr val="tx1"/>
                </a:solidFill>
              </a:rPr>
              <a:t>Ahorro de tiempo no cronometrado</a:t>
            </a:r>
            <a:endParaRPr lang="en-US" sz="1600" dirty="0"/>
          </a:p>
        </p:txBody>
      </p:sp>
      <p:sp>
        <p:nvSpPr>
          <p:cNvPr id="14" name="Text 9"/>
          <p:cNvSpPr txBox="1"/>
          <p:nvPr/>
        </p:nvSpPr>
        <p:spPr>
          <a:xfrm>
            <a:off x="1188720" y="3291840"/>
            <a:ext cx="3200400" cy="822960"/>
          </a:xfrm>
          <a:prstGeom prst="rect">
            <a:avLst/>
          </a:prstGeom>
          <a:noFill/>
          <a:ln/>
        </p:spPr>
        <p:txBody>
          <a:bodyPr wrap="square" lIns="0" tIns="0" rIns="0" bIns="0" rtlCol="0" anchor="t"/>
          <a:lstStyle/>
          <a:p>
            <a:pPr indent="0" marL="0">
              <a:buNone/>
            </a:pPr>
            <a:r>
              <a:rPr lang="en-US" sz="1400" dirty="0">
                <a:solidFill>
                  <a:schemeClr val="tx2"/>
                </a:solidFill>
              </a:rPr>
              <a:t>Se midió el cálculo (ms), no el flujo completo en SAP2000</a:t>
            </a:r>
            <a:endParaRPr lang="en-US" sz="1400" dirty="0"/>
          </a:p>
        </p:txBody>
      </p:sp>
      <p:sp>
        <p:nvSpPr>
          <p:cNvPr id="15" name="badge"/>
          <p:cNvSpPr/>
          <p:nvPr/>
        </p:nvSpPr>
        <p:spPr>
          <a:xfrm>
            <a:off x="4663440" y="2926080"/>
            <a:ext cx="548640" cy="548640"/>
          </a:xfrm>
          <a:prstGeom prst="ellipse">
            <a:avLst/>
          </a:prstGeom>
          <a:solidFill>
            <a:schemeClr val="accent2"/>
          </a:solidFill>
          <a:ln w="12700">
            <a:solidFill>
              <a:schemeClr val="accent2"/>
            </a:solidFill>
            <a:prstDash val="solid"/>
          </a:ln>
        </p:spPr>
      </p:sp>
      <p:pic>
        <p:nvPicPr>
          <p:cNvPr id="16" name="icono" descr="preencoded.png">    </p:cNvPr>
          <p:cNvPicPr>
            <a:picLocks noChangeAspect="1"/>
          </p:cNvPicPr>
          <p:nvPr/>
        </p:nvPicPr>
        <p:blipFill>
          <a:blip r:embed="rId4"/>
          <a:stretch>
            <a:fillRect/>
          </a:stretch>
        </p:blipFill>
        <p:spPr>
          <a:xfrm>
            <a:off x="4784141" y="3046781"/>
            <a:ext cx="307238" cy="307238"/>
          </a:xfrm>
          <a:prstGeom prst="rect">
            <a:avLst/>
          </a:prstGeom>
        </p:spPr>
      </p:pic>
      <p:sp>
        <p:nvSpPr>
          <p:cNvPr id="17" name="Text 11"/>
          <p:cNvSpPr txBox="1"/>
          <p:nvPr/>
        </p:nvSpPr>
        <p:spPr>
          <a:xfrm>
            <a:off x="5394960" y="2880360"/>
            <a:ext cx="3200400" cy="365760"/>
          </a:xfrm>
          <a:prstGeom prst="rect">
            <a:avLst/>
          </a:prstGeom>
          <a:noFill/>
          <a:ln/>
        </p:spPr>
        <p:txBody>
          <a:bodyPr wrap="square" lIns="0" tIns="0" rIns="0" bIns="0" rtlCol="0" anchor="t"/>
          <a:lstStyle/>
          <a:p>
            <a:pPr indent="0" marL="0">
              <a:buNone/>
            </a:pPr>
            <a:r>
              <a:rPr lang="en-US" sz="1600" b="1" dirty="0">
                <a:solidFill>
                  <a:schemeClr val="tx1"/>
                </a:solidFill>
              </a:rPr>
              <a:t>Bot sin backend conectado</a:t>
            </a:r>
            <a:endParaRPr lang="en-US" sz="1600" dirty="0"/>
          </a:p>
        </p:txBody>
      </p:sp>
      <p:sp>
        <p:nvSpPr>
          <p:cNvPr id="18" name="Text 12"/>
          <p:cNvSpPr txBox="1"/>
          <p:nvPr/>
        </p:nvSpPr>
        <p:spPr>
          <a:xfrm>
            <a:off x="5394960" y="3291840"/>
            <a:ext cx="3200400" cy="822960"/>
          </a:xfrm>
          <a:prstGeom prst="rect">
            <a:avLst/>
          </a:prstGeom>
          <a:noFill/>
          <a:ln/>
        </p:spPr>
        <p:txBody>
          <a:bodyPr wrap="square" lIns="0" tIns="0" rIns="0" bIns="0" rtlCol="0" anchor="t"/>
          <a:lstStyle/>
          <a:p>
            <a:pPr indent="0" marL="0">
              <a:buNone/>
            </a:pPr>
            <a:r>
              <a:rPr lang="en-US" sz="1400" dirty="0">
                <a:solidFill>
                  <a:schemeClr val="tx2"/>
                </a:solidFill>
              </a:rPr>
              <a:t>Los flujos de n8n esperan el servicio Python con el predictor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Conclusiones y siguientes pasos</a:t>
            </a:r>
            <a:endParaRPr lang="en-US" sz="2800" dirty="0"/>
          </a:p>
        </p:txBody>
      </p:sp>
      <p:sp>
        <p:nvSpPr>
          <p:cNvPr id="3" name="numero"/>
          <p:cNvSpPr/>
          <p:nvPr/>
        </p:nvSpPr>
        <p:spPr>
          <a:xfrm>
            <a:off x="457200" y="118872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005840" y="1161288"/>
            <a:ext cx="3931920" cy="777240"/>
          </a:xfrm>
          <a:prstGeom prst="rect">
            <a:avLst/>
          </a:prstGeom>
          <a:noFill/>
          <a:ln/>
        </p:spPr>
        <p:txBody>
          <a:bodyPr wrap="square" lIns="0" tIns="0" rIns="0" bIns="0" rtlCol="0" anchor="t"/>
          <a:lstStyle/>
          <a:p>
            <a:pPr indent="0" marL="0">
              <a:buNone/>
            </a:pPr>
            <a:r>
              <a:rPr lang="en-US" sz="1400" dirty="0">
                <a:solidFill>
                  <a:schemeClr val="bg1"/>
                </a:solidFill>
              </a:rPr>
              <a:t>El módulo NSR-10 reproduce el cálculo de referencia y bloquea datos incompletos o erróneos antes de calcular.</a:t>
            </a:r>
            <a:endParaRPr lang="en-US" sz="1400" dirty="0"/>
          </a:p>
        </p:txBody>
      </p:sp>
      <p:sp>
        <p:nvSpPr>
          <p:cNvPr id="6" name="numero"/>
          <p:cNvSpPr/>
          <p:nvPr/>
        </p:nvSpPr>
        <p:spPr>
          <a:xfrm>
            <a:off x="457200" y="2057400"/>
            <a:ext cx="384048" cy="384048"/>
          </a:xfrm>
          <a:prstGeom prst="ellipse">
            <a:avLst/>
          </a:prstGeom>
          <a:solidFill>
            <a:schemeClr val="accent1"/>
          </a:solidFill>
          <a:ln w="12700">
            <a:solidFill>
              <a:schemeClr val="accent1"/>
            </a:solidFill>
            <a:prstDash val="solid"/>
          </a:ln>
        </p:spPr>
      </p:sp>
      <p:sp>
        <p:nvSpPr>
          <p:cNvPr id="7" name="Text 5"/>
          <p:cNvSpPr txBox="1"/>
          <p:nvPr/>
        </p:nvSpPr>
        <p:spPr>
          <a:xfrm>
            <a:off x="457200" y="2057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1005840" y="2029968"/>
            <a:ext cx="3931920" cy="777240"/>
          </a:xfrm>
          <a:prstGeom prst="rect">
            <a:avLst/>
          </a:prstGeom>
          <a:noFill/>
          <a:ln/>
        </p:spPr>
        <p:txBody>
          <a:bodyPr wrap="square" lIns="0" tIns="0" rIns="0" bIns="0" rtlCol="0" anchor="t"/>
          <a:lstStyle/>
          <a:p>
            <a:pPr indent="0" marL="0">
              <a:buNone/>
            </a:pPr>
            <a:r>
              <a:rPr lang="en-US" sz="1400" dirty="0">
                <a:solidFill>
                  <a:schemeClr val="bg1"/>
                </a:solidFill>
              </a:rPr>
              <a:t>En plantas no vistas, Random Forest estimó la deriva con 0,086 % (X) y 0,101 % (Y) de error: 39 % menos que la referencia.</a:t>
            </a:r>
            <a:endParaRPr lang="en-US" sz="1400" dirty="0"/>
          </a:p>
        </p:txBody>
      </p:sp>
      <p:sp>
        <p:nvSpPr>
          <p:cNvPr id="9" name="numero"/>
          <p:cNvSpPr/>
          <p:nvPr/>
        </p:nvSpPr>
        <p:spPr>
          <a:xfrm>
            <a:off x="457200" y="292608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57200" y="2926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005840" y="2898648"/>
            <a:ext cx="3931920" cy="777240"/>
          </a:xfrm>
          <a:prstGeom prst="rect">
            <a:avLst/>
          </a:prstGeom>
          <a:noFill/>
          <a:ln/>
        </p:spPr>
        <p:txBody>
          <a:bodyPr wrap="square" lIns="0" tIns="0" rIns="0" bIns="0" rtlCol="0" anchor="t"/>
          <a:lstStyle/>
          <a:p>
            <a:pPr indent="0" marL="0">
              <a:buNone/>
            </a:pPr>
            <a:r>
              <a:rPr lang="en-US" sz="1400" dirty="0">
                <a:solidFill>
                  <a:schemeClr val="bg1"/>
                </a:solidFill>
              </a:rPr>
              <a:t>Detecta 3 de 7 edificios cerca del límite: útil para priorizar, no para certificar.</a:t>
            </a:r>
            <a:endParaRPr lang="en-US" sz="1400" dirty="0"/>
          </a:p>
        </p:txBody>
      </p:sp>
      <p:sp>
        <p:nvSpPr>
          <p:cNvPr id="12" name="siguientes"/>
          <p:cNvSpPr/>
          <p:nvPr/>
        </p:nvSpPr>
        <p:spPr>
          <a:xfrm>
            <a:off x="5303520" y="1143000"/>
            <a:ext cx="3383280" cy="3291840"/>
          </a:xfrm>
          <a:prstGeom prst="roundRect">
            <a:avLst>
              <a:gd name="adj" fmla="val 2222"/>
            </a:avLst>
          </a:prstGeom>
          <a:solidFill>
            <a:srgbClr val="3A4A57"/>
          </a:solidFill>
          <a:ln w="12700">
            <a:solidFill>
              <a:srgbClr val="3A4A57"/>
            </a:solidFill>
            <a:prstDash val="solid"/>
          </a:ln>
        </p:spPr>
      </p:sp>
      <p:sp>
        <p:nvSpPr>
          <p:cNvPr id="13" name="Text 11"/>
          <p:cNvSpPr txBox="1"/>
          <p:nvPr/>
        </p:nvSpPr>
        <p:spPr>
          <a:xfrm>
            <a:off x="5532120" y="1280160"/>
            <a:ext cx="3017520" cy="365760"/>
          </a:xfrm>
          <a:prstGeom prst="rect">
            <a:avLst/>
          </a:prstGeom>
          <a:noFill/>
          <a:ln/>
        </p:spPr>
        <p:txBody>
          <a:bodyPr wrap="square" lIns="0" tIns="0" rIns="0" bIns="0" rtlCol="0" anchor="t"/>
          <a:lstStyle/>
          <a:p>
            <a:pPr indent="0" marL="0">
              <a:buNone/>
            </a:pPr>
            <a:r>
              <a:rPr lang="en-US" sz="1700" b="1" dirty="0">
                <a:solidFill>
                  <a:schemeClr val="accent1"/>
                </a:solidFill>
              </a:rPr>
              <a:t>Siguientes pasos</a:t>
            </a:r>
            <a:endParaRPr lang="en-US" sz="1700" dirty="0"/>
          </a:p>
        </p:txBody>
      </p:sp>
      <p:sp>
        <p:nvSpPr>
          <p:cNvPr id="14" name="Text 12"/>
          <p:cNvSpPr txBox="1"/>
          <p:nvPr/>
        </p:nvSpPr>
        <p:spPr>
          <a:xfrm>
            <a:off x="5532120" y="1737360"/>
            <a:ext cx="30175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Evaluar el modelo en las familias E.030 reservadas</a:t>
            </a:r>
            <a:endParaRPr lang="en-US" sz="1400" dirty="0"/>
          </a:p>
          <a:p>
            <a:pPr marL="342900" indent="-342900">
              <a:spcAft>
                <a:spcPts val="600"/>
              </a:spcAft>
              <a:buSzPct val="100000"/>
              <a:buChar char="•"/>
            </a:pPr>
            <a:r>
              <a:rPr lang="en-US" sz="1400" dirty="0">
                <a:solidFill>
                  <a:schemeClr val="bg1"/>
                </a:solidFill>
              </a:rPr>
              <a:t>Ampliar la base NSR-10 con casos verificados</a:t>
            </a:r>
            <a:endParaRPr lang="en-US" sz="1400" dirty="0"/>
          </a:p>
          <a:p>
            <a:pPr marL="342900" indent="-342900">
              <a:spcAft>
                <a:spcPts val="600"/>
              </a:spcAft>
              <a:buSzPct val="100000"/>
              <a:buChar char="•"/>
            </a:pPr>
            <a:r>
              <a:rPr lang="en-US" sz="1400" dirty="0">
                <a:solidFill>
                  <a:schemeClr val="bg1"/>
                </a:solidFill>
              </a:rPr>
              <a:t>Conectar módulo y predictor al bot de Telegram</a:t>
            </a:r>
            <a:endParaRPr lang="en-US" sz="1400" dirty="0"/>
          </a:p>
          <a:p>
            <a:pPr marL="342900" indent="-342900">
              <a:spcAft>
                <a:spcPts val="600"/>
              </a:spcAft>
              <a:buSzPct val="100000"/>
              <a:buChar char="•"/>
            </a:pPr>
            <a:r>
              <a:rPr lang="en-US" sz="1400" dirty="0">
                <a:solidFill>
                  <a:schemeClr val="bg1"/>
                </a:solidFill>
              </a:rPr>
              <a:t>Cronometrar el flujo completo para medir el ahorro</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Equipo y herramientas</a:t>
            </a:r>
            <a:endParaRPr lang="en-US" sz="2800" dirty="0"/>
          </a:p>
        </p:txBody>
      </p:sp>
      <p:sp>
        <p:nvSpPr>
          <p:cNvPr id="3" name="integrante"/>
          <p:cNvSpPr/>
          <p:nvPr/>
        </p:nvSpPr>
        <p:spPr>
          <a:xfrm>
            <a:off x="457200" y="1188720"/>
            <a:ext cx="1536192" cy="1737360"/>
          </a:xfrm>
          <a:prstGeom prst="roundRect">
            <a:avLst>
              <a:gd name="adj" fmla="val 4762"/>
            </a:avLst>
          </a:prstGeom>
          <a:solidFill>
            <a:schemeClr val="bg2"/>
          </a:solidFill>
          <a:ln w="12700">
            <a:solidFill>
              <a:schemeClr val="bg2"/>
            </a:solidFill>
            <a:prstDash val="solid"/>
          </a:ln>
        </p:spPr>
      </p:sp>
      <p:sp>
        <p:nvSpPr>
          <p:cNvPr id="4" name="badge"/>
          <p:cNvSpPr/>
          <p:nvPr/>
        </p:nvSpPr>
        <p:spPr>
          <a:xfrm>
            <a:off x="950976" y="1325880"/>
            <a:ext cx="548640" cy="548640"/>
          </a:xfrm>
          <a:prstGeom prst="ellipse">
            <a:avLst/>
          </a:prstGeom>
          <a:solidFill>
            <a:schemeClr val="accent2"/>
          </a:solidFill>
          <a:ln w="12700">
            <a:solidFill>
              <a:schemeClr val="accent2"/>
            </a:solidFill>
            <a:prstDash val="solid"/>
          </a:ln>
        </p:spPr>
      </p:sp>
      <p:pic>
        <p:nvPicPr>
          <p:cNvPr id="5" name="icono" descr="preencoded.png">    </p:cNvPr>
          <p:cNvPicPr>
            <a:picLocks noChangeAspect="1"/>
          </p:cNvPicPr>
          <p:nvPr/>
        </p:nvPicPr>
        <p:blipFill>
          <a:blip r:embed="rId1"/>
          <a:stretch>
            <a:fillRect/>
          </a:stretch>
        </p:blipFill>
        <p:spPr>
          <a:xfrm>
            <a:off x="1071677" y="1446581"/>
            <a:ext cx="307238" cy="307238"/>
          </a:xfrm>
          <a:prstGeom prst="rect">
            <a:avLst/>
          </a:prstGeom>
        </p:spPr>
      </p:pic>
      <p:sp>
        <p:nvSpPr>
          <p:cNvPr id="6" name="Text 3"/>
          <p:cNvSpPr txBox="1"/>
          <p:nvPr/>
        </p:nvSpPr>
        <p:spPr>
          <a:xfrm>
            <a:off x="530352" y="1965960"/>
            <a:ext cx="1389888" cy="320040"/>
          </a:xfrm>
          <a:prstGeom prst="rect">
            <a:avLst/>
          </a:prstGeom>
          <a:noFill/>
          <a:ln/>
        </p:spPr>
        <p:txBody>
          <a:bodyPr wrap="square" lIns="0" tIns="0" rIns="0" bIns="0" rtlCol="0" anchor="t"/>
          <a:lstStyle/>
          <a:p>
            <a:pPr algn="ctr" indent="0" marL="0">
              <a:buNone/>
            </a:pPr>
            <a:r>
              <a:rPr lang="en-US" sz="1400" b="1" dirty="0">
                <a:solidFill>
                  <a:schemeClr val="tx1"/>
                </a:solidFill>
              </a:rPr>
              <a:t>Lucero</a:t>
            </a:r>
            <a:endParaRPr lang="en-US" sz="1400" dirty="0"/>
          </a:p>
        </p:txBody>
      </p:sp>
      <p:sp>
        <p:nvSpPr>
          <p:cNvPr id="7" name="Text 4"/>
          <p:cNvSpPr txBox="1"/>
          <p:nvPr/>
        </p:nvSpPr>
        <p:spPr>
          <a:xfrm>
            <a:off x="530352" y="2286000"/>
            <a:ext cx="1389888" cy="594360"/>
          </a:xfrm>
          <a:prstGeom prst="rect">
            <a:avLst/>
          </a:prstGeom>
          <a:noFill/>
          <a:ln/>
        </p:spPr>
        <p:txBody>
          <a:bodyPr wrap="square" lIns="0" tIns="0" rIns="0" bIns="0" rtlCol="0" anchor="t"/>
          <a:lstStyle/>
          <a:p>
            <a:pPr algn="ctr" indent="0" marL="0">
              <a:buNone/>
            </a:pPr>
            <a:r>
              <a:rPr lang="en-US" sz="1100" dirty="0">
                <a:solidFill>
                  <a:schemeClr val="tx2"/>
                </a:solidFill>
              </a:rPr>
              <a:t>Planteamiento académico</a:t>
            </a:r>
            <a:endParaRPr lang="en-US" sz="1100" dirty="0"/>
          </a:p>
        </p:txBody>
      </p:sp>
      <p:sp>
        <p:nvSpPr>
          <p:cNvPr id="8" name="integrante"/>
          <p:cNvSpPr/>
          <p:nvPr/>
        </p:nvSpPr>
        <p:spPr>
          <a:xfrm>
            <a:off x="2139696" y="1188720"/>
            <a:ext cx="1536192" cy="1737360"/>
          </a:xfrm>
          <a:prstGeom prst="roundRect">
            <a:avLst>
              <a:gd name="adj" fmla="val 4762"/>
            </a:avLst>
          </a:prstGeom>
          <a:solidFill>
            <a:schemeClr val="bg2"/>
          </a:solidFill>
          <a:ln w="12700">
            <a:solidFill>
              <a:schemeClr val="bg2"/>
            </a:solidFill>
            <a:prstDash val="solid"/>
          </a:ln>
        </p:spPr>
      </p:sp>
      <p:sp>
        <p:nvSpPr>
          <p:cNvPr id="9" name="badge"/>
          <p:cNvSpPr/>
          <p:nvPr/>
        </p:nvSpPr>
        <p:spPr>
          <a:xfrm>
            <a:off x="2633472" y="1325880"/>
            <a:ext cx="548640" cy="548640"/>
          </a:xfrm>
          <a:prstGeom prst="ellipse">
            <a:avLst/>
          </a:prstGeom>
          <a:solidFill>
            <a:schemeClr val="accent2"/>
          </a:solidFill>
          <a:ln w="12700">
            <a:solidFill>
              <a:schemeClr val="accent2"/>
            </a:solidFill>
            <a:prstDash val="solid"/>
          </a:ln>
        </p:spPr>
      </p:sp>
      <p:pic>
        <p:nvPicPr>
          <p:cNvPr id="10" name="icono" descr="preencoded.png">    </p:cNvPr>
          <p:cNvPicPr>
            <a:picLocks noChangeAspect="1"/>
          </p:cNvPicPr>
          <p:nvPr/>
        </p:nvPicPr>
        <p:blipFill>
          <a:blip r:embed="rId2"/>
          <a:stretch>
            <a:fillRect/>
          </a:stretch>
        </p:blipFill>
        <p:spPr>
          <a:xfrm>
            <a:off x="2754173" y="1446581"/>
            <a:ext cx="307238" cy="307238"/>
          </a:xfrm>
          <a:prstGeom prst="rect">
            <a:avLst/>
          </a:prstGeom>
        </p:spPr>
      </p:pic>
      <p:sp>
        <p:nvSpPr>
          <p:cNvPr id="11" name="Text 7"/>
          <p:cNvSpPr txBox="1"/>
          <p:nvPr/>
        </p:nvSpPr>
        <p:spPr>
          <a:xfrm>
            <a:off x="2212848" y="1965960"/>
            <a:ext cx="1389888" cy="320040"/>
          </a:xfrm>
          <a:prstGeom prst="rect">
            <a:avLst/>
          </a:prstGeom>
          <a:noFill/>
          <a:ln/>
        </p:spPr>
        <p:txBody>
          <a:bodyPr wrap="square" lIns="0" tIns="0" rIns="0" bIns="0" rtlCol="0" anchor="t"/>
          <a:lstStyle/>
          <a:p>
            <a:pPr algn="ctr" indent="0" marL="0">
              <a:buNone/>
            </a:pPr>
            <a:r>
              <a:rPr lang="en-US" sz="1400" b="1" dirty="0">
                <a:solidFill>
                  <a:schemeClr val="tx1"/>
                </a:solidFill>
              </a:rPr>
              <a:t>Alexis</a:t>
            </a:r>
            <a:endParaRPr lang="en-US" sz="1400" dirty="0"/>
          </a:p>
        </p:txBody>
      </p:sp>
      <p:sp>
        <p:nvSpPr>
          <p:cNvPr id="12" name="Text 8"/>
          <p:cNvSpPr txBox="1"/>
          <p:nvPr/>
        </p:nvSpPr>
        <p:spPr>
          <a:xfrm>
            <a:off x="2212848" y="2286000"/>
            <a:ext cx="1389888" cy="594360"/>
          </a:xfrm>
          <a:prstGeom prst="rect">
            <a:avLst/>
          </a:prstGeom>
          <a:noFill/>
          <a:ln/>
        </p:spPr>
        <p:txBody>
          <a:bodyPr wrap="square" lIns="0" tIns="0" rIns="0" bIns="0" rtlCol="0" anchor="t"/>
          <a:lstStyle/>
          <a:p>
            <a:pPr algn="ctr" indent="0" marL="0">
              <a:buNone/>
            </a:pPr>
            <a:r>
              <a:rPr lang="en-US" sz="1100" dirty="0">
                <a:solidFill>
                  <a:schemeClr val="tx2"/>
                </a:solidFill>
              </a:rPr>
              <a:t>Generación paramétrica y OpenSees</a:t>
            </a:r>
            <a:endParaRPr lang="en-US" sz="1100" dirty="0"/>
          </a:p>
        </p:txBody>
      </p:sp>
      <p:sp>
        <p:nvSpPr>
          <p:cNvPr id="13" name="integrante"/>
          <p:cNvSpPr/>
          <p:nvPr/>
        </p:nvSpPr>
        <p:spPr>
          <a:xfrm>
            <a:off x="3822192" y="1188720"/>
            <a:ext cx="1536192" cy="1737360"/>
          </a:xfrm>
          <a:prstGeom prst="roundRect">
            <a:avLst>
              <a:gd name="adj" fmla="val 4762"/>
            </a:avLst>
          </a:prstGeom>
          <a:solidFill>
            <a:schemeClr val="bg2"/>
          </a:solidFill>
          <a:ln w="12700">
            <a:solidFill>
              <a:schemeClr val="bg2"/>
            </a:solidFill>
            <a:prstDash val="solid"/>
          </a:ln>
        </p:spPr>
      </p:sp>
      <p:sp>
        <p:nvSpPr>
          <p:cNvPr id="14" name="badge"/>
          <p:cNvSpPr/>
          <p:nvPr/>
        </p:nvSpPr>
        <p:spPr>
          <a:xfrm>
            <a:off x="4315968" y="1325880"/>
            <a:ext cx="548640" cy="548640"/>
          </a:xfrm>
          <a:prstGeom prst="ellipse">
            <a:avLst/>
          </a:prstGeom>
          <a:solidFill>
            <a:schemeClr val="accent2"/>
          </a:solidFill>
          <a:ln w="12700">
            <a:solidFill>
              <a:schemeClr val="accent2"/>
            </a:solidFill>
            <a:prstDash val="solid"/>
          </a:ln>
        </p:spPr>
      </p:sp>
      <p:pic>
        <p:nvPicPr>
          <p:cNvPr id="15" name="icono" descr="preencoded.png">    </p:cNvPr>
          <p:cNvPicPr>
            <a:picLocks noChangeAspect="1"/>
          </p:cNvPicPr>
          <p:nvPr/>
        </p:nvPicPr>
        <p:blipFill>
          <a:blip r:embed="rId3"/>
          <a:stretch>
            <a:fillRect/>
          </a:stretch>
        </p:blipFill>
        <p:spPr>
          <a:xfrm>
            <a:off x="4436669" y="1446581"/>
            <a:ext cx="307238" cy="307238"/>
          </a:xfrm>
          <a:prstGeom prst="rect">
            <a:avLst/>
          </a:prstGeom>
        </p:spPr>
      </p:pic>
      <p:sp>
        <p:nvSpPr>
          <p:cNvPr id="16" name="Text 11"/>
          <p:cNvSpPr txBox="1"/>
          <p:nvPr/>
        </p:nvSpPr>
        <p:spPr>
          <a:xfrm>
            <a:off x="3895344" y="1965960"/>
            <a:ext cx="1389888" cy="320040"/>
          </a:xfrm>
          <a:prstGeom prst="rect">
            <a:avLst/>
          </a:prstGeom>
          <a:noFill/>
          <a:ln/>
        </p:spPr>
        <p:txBody>
          <a:bodyPr wrap="square" lIns="0" tIns="0" rIns="0" bIns="0" rtlCol="0" anchor="t"/>
          <a:lstStyle/>
          <a:p>
            <a:pPr algn="ctr" indent="0" marL="0">
              <a:buNone/>
            </a:pPr>
            <a:r>
              <a:rPr lang="en-US" sz="1400" b="1" dirty="0">
                <a:solidFill>
                  <a:schemeClr val="tx1"/>
                </a:solidFill>
              </a:rPr>
              <a:t>Nicolás Infante</a:t>
            </a:r>
            <a:endParaRPr lang="en-US" sz="1400" dirty="0"/>
          </a:p>
        </p:txBody>
      </p:sp>
      <p:sp>
        <p:nvSpPr>
          <p:cNvPr id="17" name="Text 12"/>
          <p:cNvSpPr txBox="1"/>
          <p:nvPr/>
        </p:nvSpPr>
        <p:spPr>
          <a:xfrm>
            <a:off x="3895344" y="2286000"/>
            <a:ext cx="1389888" cy="594360"/>
          </a:xfrm>
          <a:prstGeom prst="rect">
            <a:avLst/>
          </a:prstGeom>
          <a:noFill/>
          <a:ln/>
        </p:spPr>
        <p:txBody>
          <a:bodyPr wrap="square" lIns="0" tIns="0" rIns="0" bIns="0" rtlCol="0" anchor="t"/>
          <a:lstStyle/>
          <a:p>
            <a:pPr algn="ctr" indent="0" marL="0">
              <a:buNone/>
            </a:pPr>
            <a:r>
              <a:rPr lang="en-US" sz="1100" dirty="0">
                <a:solidFill>
                  <a:schemeClr val="tx2"/>
                </a:solidFill>
              </a:rPr>
              <a:t>Módulo NSR-10 y SAP2000</a:t>
            </a:r>
            <a:endParaRPr lang="en-US" sz="1100" dirty="0"/>
          </a:p>
        </p:txBody>
      </p:sp>
      <p:sp>
        <p:nvSpPr>
          <p:cNvPr id="18" name="integrante"/>
          <p:cNvSpPr/>
          <p:nvPr/>
        </p:nvSpPr>
        <p:spPr>
          <a:xfrm>
            <a:off x="5504688" y="1188720"/>
            <a:ext cx="1536192" cy="1737360"/>
          </a:xfrm>
          <a:prstGeom prst="roundRect">
            <a:avLst>
              <a:gd name="adj" fmla="val 4762"/>
            </a:avLst>
          </a:prstGeom>
          <a:solidFill>
            <a:schemeClr val="bg2"/>
          </a:solidFill>
          <a:ln w="12700">
            <a:solidFill>
              <a:schemeClr val="bg2"/>
            </a:solidFill>
            <a:prstDash val="solid"/>
          </a:ln>
        </p:spPr>
      </p:sp>
      <p:sp>
        <p:nvSpPr>
          <p:cNvPr id="19" name="badge"/>
          <p:cNvSpPr/>
          <p:nvPr/>
        </p:nvSpPr>
        <p:spPr>
          <a:xfrm>
            <a:off x="5998464" y="1325880"/>
            <a:ext cx="548640" cy="548640"/>
          </a:xfrm>
          <a:prstGeom prst="ellipse">
            <a:avLst/>
          </a:prstGeom>
          <a:solidFill>
            <a:schemeClr val="accent2"/>
          </a:solidFill>
          <a:ln w="12700">
            <a:solidFill>
              <a:schemeClr val="accent2"/>
            </a:solidFill>
            <a:prstDash val="solid"/>
          </a:ln>
        </p:spPr>
      </p:sp>
      <p:pic>
        <p:nvPicPr>
          <p:cNvPr id="20" name="icono" descr="preencoded.png">    </p:cNvPr>
          <p:cNvPicPr>
            <a:picLocks noChangeAspect="1"/>
          </p:cNvPicPr>
          <p:nvPr/>
        </p:nvPicPr>
        <p:blipFill>
          <a:blip r:embed="rId4"/>
          <a:stretch>
            <a:fillRect/>
          </a:stretch>
        </p:blipFill>
        <p:spPr>
          <a:xfrm>
            <a:off x="6119165" y="1446581"/>
            <a:ext cx="307238" cy="307238"/>
          </a:xfrm>
          <a:prstGeom prst="rect">
            <a:avLst/>
          </a:prstGeom>
        </p:spPr>
      </p:pic>
      <p:sp>
        <p:nvSpPr>
          <p:cNvPr id="21" name="Text 15"/>
          <p:cNvSpPr txBox="1"/>
          <p:nvPr/>
        </p:nvSpPr>
        <p:spPr>
          <a:xfrm>
            <a:off x="5577840" y="1965960"/>
            <a:ext cx="1389888" cy="320040"/>
          </a:xfrm>
          <a:prstGeom prst="rect">
            <a:avLst/>
          </a:prstGeom>
          <a:noFill/>
          <a:ln/>
        </p:spPr>
        <p:txBody>
          <a:bodyPr wrap="square" lIns="0" tIns="0" rIns="0" bIns="0" rtlCol="0" anchor="t"/>
          <a:lstStyle/>
          <a:p>
            <a:pPr algn="ctr" indent="0" marL="0">
              <a:buNone/>
            </a:pPr>
            <a:r>
              <a:rPr lang="en-US" sz="1400" b="1" dirty="0">
                <a:solidFill>
                  <a:schemeClr val="tx1"/>
                </a:solidFill>
              </a:rPr>
              <a:t>Jean Piere</a:t>
            </a:r>
            <a:endParaRPr lang="en-US" sz="1400" dirty="0"/>
          </a:p>
        </p:txBody>
      </p:sp>
      <p:sp>
        <p:nvSpPr>
          <p:cNvPr id="22" name="Text 16"/>
          <p:cNvSpPr txBox="1"/>
          <p:nvPr/>
        </p:nvSpPr>
        <p:spPr>
          <a:xfrm>
            <a:off x="5577840" y="2286000"/>
            <a:ext cx="1389888" cy="594360"/>
          </a:xfrm>
          <a:prstGeom prst="rect">
            <a:avLst/>
          </a:prstGeom>
          <a:noFill/>
          <a:ln/>
        </p:spPr>
        <p:txBody>
          <a:bodyPr wrap="square" lIns="0" tIns="0" rIns="0" bIns="0" rtlCol="0" anchor="t"/>
          <a:lstStyle/>
          <a:p>
            <a:pPr algn="ctr" indent="0" marL="0">
              <a:buNone/>
            </a:pPr>
            <a:r>
              <a:rPr lang="en-US" sz="1100" dirty="0">
                <a:solidFill>
                  <a:schemeClr val="tx2"/>
                </a:solidFill>
              </a:rPr>
              <a:t>Datos, Random Forest y bot n8n</a:t>
            </a:r>
            <a:endParaRPr lang="en-US" sz="1100" dirty="0"/>
          </a:p>
        </p:txBody>
      </p:sp>
      <p:sp>
        <p:nvSpPr>
          <p:cNvPr id="23" name="integrante"/>
          <p:cNvSpPr/>
          <p:nvPr/>
        </p:nvSpPr>
        <p:spPr>
          <a:xfrm>
            <a:off x="7187184" y="1188720"/>
            <a:ext cx="1536192" cy="1737360"/>
          </a:xfrm>
          <a:prstGeom prst="roundRect">
            <a:avLst>
              <a:gd name="adj" fmla="val 4762"/>
            </a:avLst>
          </a:prstGeom>
          <a:solidFill>
            <a:schemeClr val="bg2"/>
          </a:solidFill>
          <a:ln w="12700">
            <a:solidFill>
              <a:schemeClr val="bg2"/>
            </a:solidFill>
            <a:prstDash val="solid"/>
          </a:ln>
        </p:spPr>
      </p:sp>
      <p:sp>
        <p:nvSpPr>
          <p:cNvPr id="24" name="badge"/>
          <p:cNvSpPr/>
          <p:nvPr/>
        </p:nvSpPr>
        <p:spPr>
          <a:xfrm>
            <a:off x="7680960" y="1325880"/>
            <a:ext cx="548640" cy="548640"/>
          </a:xfrm>
          <a:prstGeom prst="ellipse">
            <a:avLst/>
          </a:prstGeom>
          <a:solidFill>
            <a:schemeClr val="accent2"/>
          </a:solidFill>
          <a:ln w="12700">
            <a:solidFill>
              <a:schemeClr val="accent2"/>
            </a:solidFill>
            <a:prstDash val="solid"/>
          </a:ln>
        </p:spPr>
      </p:sp>
      <p:pic>
        <p:nvPicPr>
          <p:cNvPr id="25" name="icono" descr="preencoded.png">    </p:cNvPr>
          <p:cNvPicPr>
            <a:picLocks noChangeAspect="1"/>
          </p:cNvPicPr>
          <p:nvPr/>
        </p:nvPicPr>
        <p:blipFill>
          <a:blip r:embed="rId5"/>
          <a:stretch>
            <a:fillRect/>
          </a:stretch>
        </p:blipFill>
        <p:spPr>
          <a:xfrm>
            <a:off x="7801661" y="1446581"/>
            <a:ext cx="307238" cy="307238"/>
          </a:xfrm>
          <a:prstGeom prst="rect">
            <a:avLst/>
          </a:prstGeom>
        </p:spPr>
      </p:pic>
      <p:sp>
        <p:nvSpPr>
          <p:cNvPr id="26" name="Text 19"/>
          <p:cNvSpPr txBox="1"/>
          <p:nvPr/>
        </p:nvSpPr>
        <p:spPr>
          <a:xfrm>
            <a:off x="7260336" y="1965960"/>
            <a:ext cx="1389888" cy="320040"/>
          </a:xfrm>
          <a:prstGeom prst="rect">
            <a:avLst/>
          </a:prstGeom>
          <a:noFill/>
          <a:ln/>
        </p:spPr>
        <p:txBody>
          <a:bodyPr wrap="square" lIns="0" tIns="0" rIns="0" bIns="0" rtlCol="0" anchor="t"/>
          <a:lstStyle/>
          <a:p>
            <a:pPr algn="ctr" indent="0" marL="0">
              <a:buNone/>
            </a:pPr>
            <a:r>
              <a:rPr lang="en-US" sz="1400" b="1" dirty="0">
                <a:solidFill>
                  <a:schemeClr val="tx1"/>
                </a:solidFill>
              </a:rPr>
              <a:t>Joseph</a:t>
            </a:r>
            <a:endParaRPr lang="en-US" sz="1400" dirty="0"/>
          </a:p>
        </p:txBody>
      </p:sp>
      <p:sp>
        <p:nvSpPr>
          <p:cNvPr id="27" name="Text 20"/>
          <p:cNvSpPr txBox="1"/>
          <p:nvPr/>
        </p:nvSpPr>
        <p:spPr>
          <a:xfrm>
            <a:off x="7260336" y="2286000"/>
            <a:ext cx="1389888" cy="594360"/>
          </a:xfrm>
          <a:prstGeom prst="rect">
            <a:avLst/>
          </a:prstGeom>
          <a:noFill/>
          <a:ln/>
        </p:spPr>
        <p:txBody>
          <a:bodyPr wrap="square" lIns="0" tIns="0" rIns="0" bIns="0" rtlCol="0" anchor="t"/>
          <a:lstStyle/>
          <a:p>
            <a:pPr algn="ctr" indent="0" marL="0">
              <a:buNone/>
            </a:pPr>
            <a:r>
              <a:rPr lang="en-US" sz="1100" dirty="0">
                <a:solidFill>
                  <a:schemeClr val="tx2"/>
                </a:solidFill>
              </a:rPr>
              <a:t>Validación y coordinación</a:t>
            </a:r>
            <a:endParaRPr lang="en-US" sz="1100" dirty="0"/>
          </a:p>
        </p:txBody>
      </p:sp>
      <p:sp>
        <p:nvSpPr>
          <p:cNvPr id="28" name="Text 21"/>
          <p:cNvSpPr txBox="1"/>
          <p:nvPr/>
        </p:nvSpPr>
        <p:spPr>
          <a:xfrm>
            <a:off x="457200" y="3200400"/>
            <a:ext cx="8229600" cy="320040"/>
          </a:xfrm>
          <a:prstGeom prst="rect">
            <a:avLst/>
          </a:prstGeom>
          <a:noFill/>
          <a:ln/>
        </p:spPr>
        <p:txBody>
          <a:bodyPr wrap="square" lIns="0" tIns="0" rIns="0" bIns="0" rtlCol="0" anchor="t"/>
          <a:lstStyle/>
          <a:p>
            <a:pPr indent="0" marL="0">
              <a:buNone/>
            </a:pPr>
            <a:r>
              <a:rPr lang="en-US" sz="1500" b="1" dirty="0">
                <a:solidFill>
                  <a:schemeClr val="tx1"/>
                </a:solidFill>
              </a:rPr>
              <a:t>Herramientas</a:t>
            </a:r>
            <a:endParaRPr lang="en-US" sz="1500" dirty="0"/>
          </a:p>
        </p:txBody>
      </p:sp>
      <p:sp>
        <p:nvSpPr>
          <p:cNvPr id="29" name="Text 22"/>
          <p:cNvSpPr txBox="1"/>
          <p:nvPr/>
        </p:nvSpPr>
        <p:spPr>
          <a:xfrm>
            <a:off x="457200" y="3566160"/>
            <a:ext cx="8229600" cy="548640"/>
          </a:xfrm>
          <a:prstGeom prst="rect">
            <a:avLst/>
          </a:prstGeom>
          <a:noFill/>
          <a:ln/>
        </p:spPr>
        <p:txBody>
          <a:bodyPr wrap="square" lIns="0" tIns="0" rIns="0" bIns="0" rtlCol="0" anchor="t"/>
          <a:lstStyle/>
          <a:p>
            <a:pPr indent="0" marL="0">
              <a:buNone/>
            </a:pPr>
            <a:r>
              <a:rPr lang="en-US" sz="1400" dirty="0">
                <a:solidFill>
                  <a:schemeClr val="tx2"/>
                </a:solidFill>
              </a:rPr>
              <a:t>Python · OpenSeesPy · SAP2000 · scikit-learn · n8n · Telegram · asistentes de IA generativa para programación · Obsidian · GitHub · Discord · Miro</a:t>
            </a:r>
            <a:endParaRPr lang="en-US" sz="1400" dirty="0"/>
          </a:p>
        </p:txBody>
      </p:sp>
      <p:sp>
        <p:nvSpPr>
          <p:cNvPr id="30" name="Text 23"/>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200" i="1" dirty="0">
                <a:solidFill>
                  <a:schemeClr val="accent2"/>
                </a:solidFill>
              </a:rPr>
              <a:t>Profesor de apoyo: Thomas Federico Rojas Vallejo (Universidad Nacional de Colombia), algoritmo de diseño NSR-10 en OpenSees.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exo Sismico">
  <a:themeElements>
    <a:clrScheme name="Nexo Sismico">
      <a:dk1>
        <a:srgbClr val="1E2A33"/>
      </a:dk1>
      <a:lt1>
        <a:srgbClr val="FFFFFF"/>
      </a:lt1>
      <a:dk2>
        <a:srgbClr val="3A4A57"/>
      </a:dk2>
      <a:lt2>
        <a:srgbClr val="EDF0F3"/>
      </a:lt2>
      <a:accent1>
        <a:srgbClr val="E4572E"/>
      </a:accent1>
      <a:accent2>
        <a:srgbClr val="5B7083"/>
      </a:accent2>
      <a:accent3>
        <a:srgbClr val="2E8B57"/>
      </a:accent3>
      <a:accent4>
        <a:srgbClr val="C0392B"/>
      </a:accent4>
      <a:accent5>
        <a:srgbClr val="F2A541"/>
      </a:accent5>
      <a:accent6>
        <a:srgbClr val="8FA3B5"/>
      </a:accent6>
      <a:hlink>
        <a:srgbClr val="E4572E"/>
      </a:hlink>
      <a:folHlink>
        <a:srgbClr val="5B7083"/>
      </a:folHlink>
    </a:clrScheme>
    <a:fontScheme name="Nexo Sismic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Nexo Sísmico — Estimación preliminar de derivas</dc:title>
  <dc:subject>PptxGenJS Presentation</dc:subject>
  <dc:creator>Equipo Nexo Sísmico</dc:creator>
  <cp:lastModifiedBy>Equipo Nexo Sísmico</cp:lastModifiedBy>
  <cp:revision>1</cp:revision>
  <dcterms:created xsi:type="dcterms:W3CDTF">2026-10-24T17:05:26Z</dcterms:created>
  <dcterms:modified xsi:type="dcterms:W3CDTF">2026-10-24T17:05:26Z</dcterms:modified>
</cp:coreProperties>
</file>