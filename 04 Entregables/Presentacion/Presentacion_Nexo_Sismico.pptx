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39e17a4-174b-be7e-6245-bc236eaa436a}">
          <p14:sldIdLst>
            <p14:sldId id="256"/>
          </p14:sldIdLst>
        </p14:section>
        <p14:section name="Problema y pregunta" id="{965b17fe-4a8f-cb17-ac34-ba2439b139f8}">
          <p14:sldIdLst>
            <p14:sldId id="257"/>
            <p14:sldId id="258"/>
          </p14:sldIdLst>
        </p14:section>
        <p14:section name="Solución" id="{c2a8df56-fefc-9bd5-da54-78b9ec223bec}">
          <p14:sldIdLst>
            <p14:sldId id="259"/>
            <p14:sldId id="260"/>
          </p14:sldIdLst>
        </p14:section>
        <p14:section name="Prototipo" id="{4d273800-01bd-e3c8-69ba-0010788d9167}">
          <p14:sldIdLst>
            <p14:sldId id="261"/>
            <p14:sldId id="262"/>
            <p14:sldId id="263"/>
          </p14:sldIdLst>
        </p14:section>
        <p14:section name="Resultados" id="{37c8bf5d-4991-535d-4089-e3c9028de20c}">
          <p14:sldIdLst>
            <p14:sldId id="264"/>
            <p14:sldId id="265"/>
            <p14:sldId id="266"/>
            <p14:sldId id="267"/>
          </p14:sldIdLst>
        </p14:section>
        <p14:section name="Cierre" id="{d0bac045-934d-263e-7996-20402bdb3b49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A4A5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A4A57"/>
                </a:solidFill>
                <a:latin typeface="+mn-lt"/>
              </a:rPr>
              <a:t>Error absoluto medio (puntos de % de hpi)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Deriva X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A5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 Forest</c:v>
                  </c:pt>
                  <c:pt idx="1">
                    <c:v>Regresión lineal</c:v>
                  </c:pt>
                  <c:pt idx="2">
                    <c:v>Media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0.086</c:v>
                </c:pt>
                <c:pt idx="1">
                  <c:v>0.094</c:v>
                </c:pt>
                <c:pt idx="2">
                  <c:v>0.142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Deriva Y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A5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 Forest</c:v>
                  </c:pt>
                  <c:pt idx="1">
                    <c:v>Regresión lineal</c:v>
                  </c:pt>
                  <c:pt idx="2">
                    <c:v>Media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0.101</c:v>
                </c:pt>
                <c:pt idx="1">
                  <c:v>0.13</c:v>
                </c:pt>
                <c:pt idx="2">
                  <c:v>0.166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3A4A5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A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A4A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Nexo Sísmico. Nuestro proyecto es una investigación aplicada: estimar de forma preliminar las derivas sísmicas de edificios aporticados de concreto, para comparar alternativas de predimensionamiento sin rehacer un modelo completo cada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problema: en el predimensionamiento cada alternativa obliga a repetir espectro, pesos, fuerzas, modelo y revisión de derivas. En nuestra base paramétrica de 1 500 edificios, el 45 % supera el límite de deriva: es trabajo que se pudo descartar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Nuestra pregunta es: ¿con qué precisión puede Random Forest estimar las derivas de edificios que no vio en el entrenamiento, y qué ventaja ofrece? Para responderla generamos familias paramétricas, automatizamos la verificación NSR-10 y evaluamos el modelo solo con edificios que no vio al entrenar.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integra los cuatro ejes de la beca: inteligencia artificial con Random Forest, automatización con el módulo NSR-10 y el bot, simulación con OpenSees y SAP2000, y datos con dos bases trazables.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 tiene dos rutas de evidencia que no se mezclan, porque las normas difieren: la ruta E.030 con 1 500 edificios paramétricos en OpenSees y la ruta NSR-10 con el módulo de verificación y los edificios del profesor Rojas Vallejo. Ambas alimentan el mismo método de Random Forest y la interfaz propuesta en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prototipo es el módulo NSR-10 en Python. Recibe un JSON con el sitio, la geometría, los pesos y los resultados de SAP2000. Primero valida; luego calcula espectro, fuerza horizontal equivalente, derivas de doce combinaciones con torsión accidental, estabilidad P-Delta, irregularidad torsional y R. Al final escribe un reporte y una fila para la base de datos. Todo en menos de un milisegundo.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probamos con tres casos. Con datos completos, el edificio del curso en Piedemonte A da un cortante de 23 250 kilonewtons y una deriva máxima de 0,99 %: cumple. Si falta un dato, como Fv, se detiene y dice cuál falta. Si un dato está mal, como una altura escrita en centímetros, lo rechaza y explica el rango válido.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Validamos contra el cálculo de referencia del curso, hecho con Excel y SAP2000. El prototipo reproduce cortante, fuerzas, derivas, Q, relación torsional y R. La relación torsional de 1,19 queda muy cerca del límite de 1,2: un hallazgo útil para el diseñador.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respuesta principal a la pregunta. En la ruta peruana generamos y analizamos 1 500 edificios en OpenSees. Entrenamos Random Forest con 1 200 y lo probamos una sola vez con 300 familias que nunca vio. Su error medio en la deriva fue de 0,04 puntos porcentuales, con R² de 0,99, y detectó 137 de los 146 edificios que exceden el límite. Los que se le escapan están justo en el límite, entre 0,70 y 0,76 %. Como comparación, Gradient Boosting mejora un poco: R² de 0,995 y 139 detectados. La diferencia entre algoritmos es pequeña; lo que manda son los datos y las variables físicas.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la ruta NSR-10 armamos una base con 18 edificios que diseñó el profesor Rojas Vallejo con su algoritmo en OpenSees, más el caso del curso. El profesor nos advirtió que varios son teóricos y que las plantas que faltan fallaron en el dimensionamiento. Los usamos para entrenar y comparar, no como diseños.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Evaluamos Random Forest dejando cada planta completa por fuera. Con plantas que nunca vio, su error en la deriva fue de 0,086 puntos en X y 0,101 en Y: un 39 % menos que predecir la media y mejor que la regresión lineal. Cada predicción toma unos 32 milisegundos.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Pero hay que ser honestos: de siete edificios cerca del límite, el modelo detectó tres y subestimó cuatro. No dio falsas alarmas. Con 18 datos sirve para ordenar alternativas; con 1 500, como en la ruta E.030, la precisión sube de forma drástica. La lección es que ampliar la base colombiana con casos verificados es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limitaciones: la base NSR-10 es pequeña y teórica; el modelo E.030 solo vale de 2 a 5 pisos y con sus hipótesis de rigidez; no cronometramos el flujo completo en SAP2000, así que no afirmamos un porcentaje de ahorro; y el bot todavía no está conectado al predictor.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conclusión: el módulo NSR-10 reproduce el cálculo de referencia y filtra datos malos; con 1 500 edificios Random Forest estima la deriva de familias nuevas con R² de 0,99 y detecta casi todas las excedencias; con 18 edificios colombianos solo sirve para priorizar. Los siguientes pasos son ampliar la base NSR-10 con casos verificados, conectar todo al bot y medir el ahorro de tiempo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cinco: Lucero en el planteamiento, Alexis en la generación y OpenSees, Nicolás en el módulo NSR-10, Jean Piere en datos, modelos E.030 y el bot, y Joseph en validación y coordinación. Agradecemos al profesor Thomas Rojas Vallejo por sus datos.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2402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Nexo Sísmico · Beca AI Talent (AECODE)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INVESTIGACIÓN ACADÉMICA APLICADA · BECA AI TALENT (AECODE)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Nexo Sísmico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240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Estimación preliminar de derivas sísmicas en edificios aporticados de concreto armado: verificación NSR-10 automatizada y aprendizaje automático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Lucero · Alexis · Nicolás Infante · Jean Piere · Joseph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Demo Day · 24 de octubre de 2026</a:t>
            </a:r>
            <a:endParaRPr lang="en-US" sz="1200" dirty="0"/>
          </a:p>
        </p:txBody>
      </p:sp>
      <p:sp>
        <p:nvSpPr>
          <p:cNvPr id="7" name="badge"/>
          <p:cNvSpPr/>
          <p:nvPr/>
        </p:nvSpPr>
        <p:spPr>
          <a:xfrm>
            <a:off x="7863840" y="3931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4774" y="4092854"/>
            <a:ext cx="409651" cy="4096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alternativa cuesta un modelo completo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Para saber si una configuración de pórticos cumple la deriva, el ingeniero repite el ciclo completo: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espectro, pesos, fuerzas, modelo en SAP2000, derivas y revisión normativa.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Muchas alternativas no cumplen y se descartan después de todo ese trabajo.</a:t>
            </a:r>
            <a:endParaRPr lang="en-US" sz="1600" dirty="0"/>
          </a:p>
        </p:txBody>
      </p:sp>
      <p:sp>
        <p:nvSpPr>
          <p:cNvPr id="4" name="stat"/>
          <p:cNvSpPr/>
          <p:nvPr/>
        </p:nvSpPr>
        <p:spPr>
          <a:xfrm>
            <a:off x="4846320" y="1188720"/>
            <a:ext cx="38404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0" y="129844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12984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estructuras E.030 generadas y analizadas en OpenSees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4846320" y="2331720"/>
            <a:ext cx="38404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0" y="244144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414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superan el límite de deriva (668 de 1 500)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4846320" y="3474720"/>
            <a:ext cx="384048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358444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1,0 %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5844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 hpi: límite de deriva NSR-10 (A.6.4)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de investigación</a:t>
            </a:r>
            <a:endParaRPr lang="en-US" sz="2800" dirty="0"/>
          </a:p>
        </p:txBody>
      </p:sp>
      <p:sp>
        <p:nvSpPr>
          <p:cNvPr id="3" name="pregunta"/>
          <p:cNvSpPr/>
          <p:nvPr/>
        </p:nvSpPr>
        <p:spPr>
          <a:xfrm>
            <a:off x="457200" y="1143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¿Con qué precisión puede Random Forest estimar las derivas máximas de familias de edificios aporticados no utilizadas en el entrenamiento, y qué ventaja ofrece al comparar alternativas de predimensionamiento?</a:t>
            </a:r>
            <a:endParaRPr lang="en-US" sz="1700" dirty="0"/>
          </a:p>
        </p:txBody>
      </p:sp>
      <p:sp>
        <p:nvSpPr>
          <p:cNvPr id="5" name="objetivo"/>
          <p:cNvSpPr/>
          <p:nvPr/>
        </p:nvSpPr>
        <p:spPr>
          <a:xfrm>
            <a:off x="457200" y="2606040"/>
            <a:ext cx="256032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dge"/>
          <p:cNvSpPr/>
          <p:nvPr/>
        </p:nvSpPr>
        <p:spPr>
          <a:xfrm>
            <a:off x="685800" y="2788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2899562"/>
            <a:ext cx="281635" cy="28163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8346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familias paramétricas y analizarlas en OpenSees (E.030)</a:t>
            </a:r>
            <a:endParaRPr lang="en-US" sz="1400" dirty="0"/>
          </a:p>
        </p:txBody>
      </p:sp>
      <p:sp>
        <p:nvSpPr>
          <p:cNvPr id="10" name="objetivo"/>
          <p:cNvSpPr/>
          <p:nvPr/>
        </p:nvSpPr>
        <p:spPr>
          <a:xfrm>
            <a:off x="3291840" y="2606040"/>
            <a:ext cx="256032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3520440" y="2788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082" y="2899562"/>
            <a:ext cx="281635" cy="28163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60520" y="28346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Automatizar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474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verificación NSR-10 con datos de SAP2000</a:t>
            </a:r>
            <a:endParaRPr lang="en-US" sz="1400" dirty="0"/>
          </a:p>
        </p:txBody>
      </p:sp>
      <p:sp>
        <p:nvSpPr>
          <p:cNvPr id="15" name="objetivo"/>
          <p:cNvSpPr/>
          <p:nvPr/>
        </p:nvSpPr>
        <p:spPr>
          <a:xfrm>
            <a:off x="6126480" y="2606040"/>
            <a:ext cx="256032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355080" y="2788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722" y="2899562"/>
            <a:ext cx="281635" cy="28163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95160" y="28346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3474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Random Forest en familias y plantas no vistas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ejes de la beca en un mismo flujo</a:t>
            </a:r>
            <a:endParaRPr lang="en-US" sz="2800" dirty="0"/>
          </a:p>
        </p:txBody>
      </p:sp>
      <p:sp>
        <p:nvSpPr>
          <p:cNvPr id="3" name="eje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68580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5937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389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Inteligencia artificial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Random Forest en familias no vistas; Gradient Boosting y referencias como comparación</a:t>
            </a:r>
            <a:endParaRPr lang="en-US" sz="1300" dirty="0"/>
          </a:p>
        </p:txBody>
      </p:sp>
      <p:sp>
        <p:nvSpPr>
          <p:cNvPr id="8" name="eje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"/>
          <p:cNvSpPr/>
          <p:nvPr/>
        </p:nvSpPr>
        <p:spPr>
          <a:xfrm>
            <a:off x="489204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5937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89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Automatización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715000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Módulo NSR-10 en Python; bot de Telegram en n8n como interfaz propuesta</a:t>
            </a:r>
            <a:endParaRPr lang="en-US" sz="1300" dirty="0"/>
          </a:p>
        </p:txBody>
      </p:sp>
      <p:sp>
        <p:nvSpPr>
          <p:cNvPr id="13" name="eje"/>
          <p:cNvSpPr/>
          <p:nvPr/>
        </p:nvSpPr>
        <p:spPr>
          <a:xfrm>
            <a:off x="457200" y="28803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"/>
          <p:cNvSpPr/>
          <p:nvPr/>
        </p:nvSpPr>
        <p:spPr>
          <a:xfrm>
            <a:off x="685800" y="3154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32854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081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Simulación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3474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OpenSees para la base E.030; SAP2000 y algoritmo OpenSees del profesor para NSR-10</a:t>
            </a:r>
            <a:endParaRPr lang="en-US" sz="1300" dirty="0"/>
          </a:p>
        </p:txBody>
      </p:sp>
      <p:sp>
        <p:nvSpPr>
          <p:cNvPr id="18" name="eje"/>
          <p:cNvSpPr/>
          <p:nvPr/>
        </p:nvSpPr>
        <p:spPr>
          <a:xfrm>
            <a:off x="4663440" y="28803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4892040" y="3154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2799" y="32854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15000" y="3081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Datos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0" y="3474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 E.030 (1 500 estructuras) y base NSR-10 (18 + 1 casos) con trazabilidad del origen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una pregunta, dos rutas de evidencia</a:t>
            </a:r>
            <a:endParaRPr lang="en-US" sz="2800" dirty="0"/>
          </a:p>
        </p:txBody>
      </p:sp>
      <p:pic>
        <p:nvPicPr>
          <p:cNvPr id="3" name="flujo" descr="C:\Users\nicoi\Documents\AECODE Nexo Sismico\07 Outputs\Prototipo NSR-10\figuras\fig_flujo_integr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1821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793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Las rutas no se mezclan: E.030 (Perú) y NSR-10 (Colombia) difieren en espectro, límite de deriva e hipótesis. Comparten el método de aprendizaje y evaluación.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NSR-10: del JSON al dictamen</a:t>
            </a:r>
            <a:endParaRPr lang="en-US" sz="2800" dirty="0"/>
          </a:p>
        </p:txBody>
      </p:sp>
      <p:sp>
        <p:nvSpPr>
          <p:cNvPr id="3" name="paso"/>
          <p:cNvSpPr/>
          <p:nvPr/>
        </p:nvSpPr>
        <p:spPr>
          <a:xfrm>
            <a:off x="457200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896112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campos, rangos y 12 combinaciones</a:t>
            </a:r>
            <a:endParaRPr lang="en-US" sz="1200" dirty="0"/>
          </a:p>
        </p:txBody>
      </p:sp>
      <p:sp>
        <p:nvSpPr>
          <p:cNvPr id="8" name="paso"/>
          <p:cNvSpPr/>
          <p:nvPr/>
        </p:nvSpPr>
        <p:spPr>
          <a:xfrm>
            <a:off x="1856232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ero"/>
          <p:cNvSpPr/>
          <p:nvPr/>
        </p:nvSpPr>
        <p:spPr>
          <a:xfrm>
            <a:off x="2295144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95144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Espectro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47672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Sa(T), Ta, Cu·Ta (A.2, A.4.2)</a:t>
            </a:r>
            <a:endParaRPr lang="en-US" sz="1200" dirty="0"/>
          </a:p>
        </p:txBody>
      </p:sp>
      <p:sp>
        <p:nvSpPr>
          <p:cNvPr id="13" name="paso"/>
          <p:cNvSpPr/>
          <p:nvPr/>
        </p:nvSpPr>
        <p:spPr>
          <a:xfrm>
            <a:off x="3255264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"/>
          <p:cNvSpPr/>
          <p:nvPr/>
        </p:nvSpPr>
        <p:spPr>
          <a:xfrm>
            <a:off x="3694176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94176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FHE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46704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Vs, k, fuerzas por piso (A.4.3)</a:t>
            </a:r>
            <a:endParaRPr lang="en-US" sz="1200" dirty="0"/>
          </a:p>
        </p:txBody>
      </p:sp>
      <p:sp>
        <p:nvSpPr>
          <p:cNvPr id="18" name="paso"/>
          <p:cNvSpPr/>
          <p:nvPr/>
        </p:nvSpPr>
        <p:spPr>
          <a:xfrm>
            <a:off x="4654296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ero"/>
          <p:cNvSpPr/>
          <p:nvPr/>
        </p:nvSpPr>
        <p:spPr>
          <a:xfrm>
            <a:off x="5093208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93208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Derivas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745736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combinaciones + torsión accidental 5 %</a:t>
            </a:r>
            <a:endParaRPr lang="en-US" sz="1200" dirty="0"/>
          </a:p>
        </p:txBody>
      </p:sp>
      <p:sp>
        <p:nvSpPr>
          <p:cNvPr id="23" name="paso"/>
          <p:cNvSpPr/>
          <p:nvPr/>
        </p:nvSpPr>
        <p:spPr>
          <a:xfrm>
            <a:off x="6053328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ero"/>
          <p:cNvSpPr/>
          <p:nvPr/>
        </p:nvSpPr>
        <p:spPr>
          <a:xfrm>
            <a:off x="6492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Estabilidad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144768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 (P-Δ), torsión 1aP, R (A.3.3)</a:t>
            </a:r>
            <a:endParaRPr lang="en-US" sz="1200" dirty="0"/>
          </a:p>
        </p:txBody>
      </p:sp>
      <p:sp>
        <p:nvSpPr>
          <p:cNvPr id="28" name="paso"/>
          <p:cNvSpPr/>
          <p:nvPr/>
        </p:nvSpPr>
        <p:spPr>
          <a:xfrm>
            <a:off x="7452360" y="1417320"/>
            <a:ext cx="1261872" cy="210312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ero"/>
          <p:cNvSpPr/>
          <p:nvPr/>
        </p:nvSpPr>
        <p:spPr>
          <a:xfrm>
            <a:off x="7891272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91272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543800" y="2514600"/>
            <a:ext cx="1078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reporte y fila para la base de datos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Entrada: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sitio (Aa, Av, Fa, Fv, TL), grupo de uso, R0, geometría, pesos por piso, periodos de SAP2000 y desplazamientos en dos esquinas opuestas. Tiempo de cálculo: menos de 1 ms por caso.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pruebas: completa, incompleta y errónea</a:t>
            </a:r>
            <a:endParaRPr lang="en-US" sz="2800" dirty="0"/>
          </a:p>
        </p:txBody>
      </p:sp>
      <p:sp>
        <p:nvSpPr>
          <p:cNvPr id="3" name="caso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4923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 · Datos completos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4688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Edificio del curso, grupo 1, Piedemonte A (Bogotá)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546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Vs = 23 250 kN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Deriva máx. 0,991 % ≤ 1,0 %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CUMPLE · 0,6 ms</a:t>
            </a:r>
            <a:endParaRPr lang="en-US" sz="1400" dirty="0"/>
          </a:p>
        </p:txBody>
      </p:sp>
      <p:sp>
        <p:nvSpPr>
          <p:cNvPr id="9" name="caso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"/>
          <p:cNvSpPr/>
          <p:nvPr/>
        </p:nvSpPr>
        <p:spPr>
          <a:xfrm>
            <a:off x="3520440" y="137160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1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4923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 · Falta un dato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4688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 eliminó el coeficiente Fv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1546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 detiene antes de calcular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«FALTA: sitio.Fv»</a:t>
            </a:r>
            <a:endParaRPr lang="en-US" sz="1400" dirty="0"/>
          </a:p>
        </p:txBody>
      </p:sp>
      <p:sp>
        <p:nvSpPr>
          <p:cNvPr id="15" name="caso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355080" y="13716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781" y="149230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 · Dato erróneo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4688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Altura libre del piso 1 = 350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1546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Rechazado: fuera de [1,8; 6,0]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«¿está en centímetros?»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 el cálculo de referencia del curso</a:t>
            </a:r>
            <a:endParaRPr lang="en-US" sz="2800" dirty="0"/>
          </a:p>
        </p:txBody>
      </p:sp>
      <p:graphicFrame>
        <p:nvGraphicFramePr>
          <p:cNvPr id="9" name="tabla_validac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2976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Magnitud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+ SAP2000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Cortante basal Vs (kN)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Fuerza en cubierta Fx (kN)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 máx. X / Y (% hpi)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0,985 / 0,991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0,985 / 0,991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de estabilidad 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torsional (1aP)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derivas" descr="C:\Users\nicoi\Documents\AECODE Nexo Sismico\07 Outputs\Prototipo NSR-10\figuras\fig_derivas_caso_cur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1097280"/>
            <a:ext cx="3703320" cy="2743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983480" y="39319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Envolvente de 12 combinaciones en las esquinas E5 y A1. La relación torsional (1,193) queda cerca del umbral 1,2 de irregularidad.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E.030: Random Forest acierta la deriva con R² 0,99</a:t>
            </a:r>
            <a:endParaRPr lang="en-US" sz="2800" dirty="0"/>
          </a:p>
        </p:txBody>
      </p:sp>
      <p:pic>
        <p:nvPicPr>
          <p:cNvPr id="3" name="e030_calc_pred" descr="C:\Users\nicoi\Documents\AECODE Nexo Sismico\07 Outputs\E030\fig_e030_calculado_vs_predi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120640" cy="22768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Prueba única en 300 familias nunca vistas (1 200 para entrenar). Gradient Boosting, como comparación: R² 0,995, MAE 0,026 %, 139 de 146 excedencias.</a:t>
            </a:r>
            <a:endParaRPr lang="en-US" sz="1100" dirty="0"/>
          </a:p>
        </p:txBody>
      </p:sp>
      <p:sp>
        <p:nvSpPr>
          <p:cNvPr id="5" name="stat"/>
          <p:cNvSpPr/>
          <p:nvPr/>
        </p:nvSpPr>
        <p:spPr>
          <a:xfrm>
            <a:off x="5852160" y="1097280"/>
            <a:ext cx="2834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0,040 %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920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error medio de deriva (X e Y), en % de la altura de piso</a:t>
            </a:r>
            <a:endParaRPr lang="en-US" sz="1300" dirty="0"/>
          </a:p>
        </p:txBody>
      </p:sp>
      <p:sp>
        <p:nvSpPr>
          <p:cNvPr id="8" name="stat"/>
          <p:cNvSpPr/>
          <p:nvPr/>
        </p:nvSpPr>
        <p:spPr>
          <a:xfrm>
            <a:off x="5852160" y="2743200"/>
            <a:ext cx="2834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 de 146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5661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edificios que exceden 0,7 % detectados; 2 falsas alarmas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Los no detectados tienen derivas reales de 0,70 % a 0,76 %: justo en el límite.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NSR-10: 18 edificios teóricos + 1 verificado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edificios del Prof. T. F. Rojas Vallejo (OpenSees)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plantas, 4 a 10 pisos, Bogotá, DES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caso del curso verificado con SAP2000</a:t>
            </a:r>
            <a:endParaRPr lang="en-US" sz="1400" dirty="0"/>
          </a:p>
        </p:txBody>
      </p:sp>
      <p:sp>
        <p:nvSpPr>
          <p:cNvPr id="9" name="nota_profesor"/>
          <p:cNvSpPr/>
          <p:nvPr/>
        </p:nvSpPr>
        <p:spPr>
          <a:xfrm>
            <a:off x="457200" y="27889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0" name="badge"/>
          <p:cNvSpPr/>
          <p:nvPr/>
        </p:nvSpPr>
        <p:spPr>
          <a:xfrm>
            <a:off x="685800" y="301752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1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3128162"/>
            <a:ext cx="281635" cy="28163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71600" y="30175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Nota del profesor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3832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Varios resultados son teóricos: algunas plantas y luces no se resolverían con pórticos resistentes a momento en la práctica. Las plantas ausentes fallaron en el dimensionamiento del algoritmo de OpenSees. Por eso estos datos sirven para entrenar y comparar, no como diseños.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NSR-10: con 18 edificios, −39 % de error de deriva</a:t>
            </a:r>
            <a:endParaRPr lang="en-US" sz="2800" dirty="0"/>
          </a:p>
        </p:txBody>
      </p:sp>
      <p:graphicFrame>
        <p:nvGraphicFramePr>
          <p:cNvPr id="3" name="grafico_mae" descr=""/>
          <p:cNvGraphicFramePr/>
          <p:nvPr/>
        </p:nvGraphicFramePr>
        <p:xfrm>
          <a:off x="45720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"/>
          <p:cNvSpPr/>
          <p:nvPr/>
        </p:nvSpPr>
        <p:spPr>
          <a:xfrm>
            <a:off x="585216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−39 %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011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error de deriva frente a predecir la media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5852160" y="2926080"/>
            <a:ext cx="2834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ms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por predicción; entrenar toma 0,4 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5262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Validación dejando una planta completa fuera (9 pliegues).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NSR-10: con pocos datos, útil solo para priorizar</a:t>
            </a:r>
            <a:endParaRPr lang="en-US" sz="2800" dirty="0"/>
          </a:p>
        </p:txBody>
      </p:sp>
      <p:pic>
        <p:nvPicPr>
          <p:cNvPr id="3" name="calc_pred" descr="C:\Users\nicoi\Documents\AECODE Nexo Sismico\07 Outputs\Prototipo NSR-10\figuras\fig_calculado_vs_predich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512064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Deriva calculada (OpenSees, profesor) frente a predicha por Random Forest en plantas no vistas.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188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7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9659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edificios con deriva ≥ 0,90 % detectados por el modelo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697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747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falsas alarmas; el modelo subestima los casos más cercanos al límite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que condicionan los resultados</a:t>
            </a:r>
            <a:endParaRPr lang="en-US" sz="2800" dirty="0"/>
          </a:p>
        </p:txBody>
      </p:sp>
      <p:sp>
        <p:nvSpPr>
          <p:cNvPr id="3" name="badge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40086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Base NSR-10 pequeña y teórica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645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18 edificios; varias configuraciones no serían viables en pórticos reales</a:t>
            </a:r>
            <a:endParaRPr lang="en-US" sz="1400" dirty="0"/>
          </a:p>
        </p:txBody>
      </p:sp>
      <p:sp>
        <p:nvSpPr>
          <p:cNvPr id="7" name="badge"/>
          <p:cNvSpPr/>
          <p:nvPr/>
        </p:nvSpPr>
        <p:spPr>
          <a:xfrm>
            <a:off x="4663440" y="12801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40086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Dominio E.030 acotado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645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 a 5 pisos, secciones brutas, sin P-Delta; el modelo no extrapola fuera de ese rango</a:t>
            </a:r>
            <a:endParaRPr lang="en-US" sz="1400" dirty="0"/>
          </a:p>
        </p:txBody>
      </p:sp>
      <p:sp>
        <p:nvSpPr>
          <p:cNvPr id="11" name="badge"/>
          <p:cNvSpPr/>
          <p:nvPr/>
        </p:nvSpPr>
        <p:spPr>
          <a:xfrm>
            <a:off x="457200" y="2926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04678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Ahorro de tiempo no cronometrado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midió el cálculo (ms), no el flujo completo en SAP2000</a:t>
            </a:r>
            <a:endParaRPr lang="en-US" sz="1400" dirty="0"/>
          </a:p>
        </p:txBody>
      </p:sp>
      <p:sp>
        <p:nvSpPr>
          <p:cNvPr id="15" name="badge"/>
          <p:cNvSpPr/>
          <p:nvPr/>
        </p:nvSpPr>
        <p:spPr>
          <a:xfrm>
            <a:off x="4663440" y="2926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141" y="30467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Bot sin backend conectado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Los flujos de n8n esperan el servicio Python con el predictor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siguientes pasos</a:t>
            </a:r>
            <a:endParaRPr lang="en-US" sz="2800" dirty="0"/>
          </a:p>
        </p:txBody>
      </p:sp>
      <p:sp>
        <p:nvSpPr>
          <p:cNvPr id="3" name="numero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6128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El módulo NSR-10 reproduce el cálculo de referencia y bloquea datos incompletos o erróneos antes de calcular.</a:t>
            </a:r>
            <a:endParaRPr lang="en-US" sz="1400" dirty="0"/>
          </a:p>
        </p:txBody>
      </p:sp>
      <p:sp>
        <p:nvSpPr>
          <p:cNvPr id="6" name="numero"/>
          <p:cNvSpPr/>
          <p:nvPr/>
        </p:nvSpPr>
        <p:spPr>
          <a:xfrm>
            <a:off x="457200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02996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 300 familias E.030 no vistas, Random Forest estimó la deriva con R² 0,99 y detectó 137 de 146 excedencias.</a:t>
            </a:r>
            <a:endParaRPr lang="en-US" sz="1400" dirty="0"/>
          </a:p>
        </p:txBody>
      </p:sp>
      <p:sp>
        <p:nvSpPr>
          <p:cNvPr id="9" name="numero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8986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18 edificios NSR-10 el error baja 39 %, pero solo detecta 3 de 7 casos al límite: los datos mandan más que el algoritmo.</a:t>
            </a:r>
            <a:endParaRPr lang="en-US" sz="1400" dirty="0"/>
          </a:p>
        </p:txBody>
      </p:sp>
      <p:sp>
        <p:nvSpPr>
          <p:cNvPr id="12" name="siguientes"/>
          <p:cNvSpPr/>
          <p:nvPr/>
        </p:nvSpPr>
        <p:spPr>
          <a:xfrm>
            <a:off x="5303520" y="1143000"/>
            <a:ext cx="3383280" cy="3291840"/>
          </a:xfrm>
          <a:prstGeom prst="roundRect">
            <a:avLst>
              <a:gd name="adj" fmla="val 2222"/>
            </a:avLst>
          </a:prstGeom>
          <a:solidFill>
            <a:srgbClr val="3A4A57"/>
          </a:solidFill>
          <a:ln w="12700">
            <a:solidFill>
              <a:srgbClr val="3A4A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280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Siguientes pasos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7373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Ampliar la base NSR-10 con casos verificados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Conectar módulo y predictor al bot de Telegram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Cronometrar el flujo completo para medir el ahorro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y herramientas</a:t>
            </a:r>
            <a:endParaRPr lang="en-US" sz="2800" dirty="0"/>
          </a:p>
        </p:txBody>
      </p:sp>
      <p:sp>
        <p:nvSpPr>
          <p:cNvPr id="3" name="integrante"/>
          <p:cNvSpPr/>
          <p:nvPr/>
        </p:nvSpPr>
        <p:spPr>
          <a:xfrm>
            <a:off x="457200" y="1188720"/>
            <a:ext cx="1536192" cy="1737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950976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14465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0352" y="196596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Lucero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228600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Planteamiento académico</a:t>
            </a:r>
            <a:endParaRPr lang="en-US" sz="1100" dirty="0"/>
          </a:p>
        </p:txBody>
      </p:sp>
      <p:sp>
        <p:nvSpPr>
          <p:cNvPr id="8" name="integrante"/>
          <p:cNvSpPr/>
          <p:nvPr/>
        </p:nvSpPr>
        <p:spPr>
          <a:xfrm>
            <a:off x="2139696" y="1188720"/>
            <a:ext cx="1536192" cy="1737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"/>
          <p:cNvSpPr/>
          <p:nvPr/>
        </p:nvSpPr>
        <p:spPr>
          <a:xfrm>
            <a:off x="2633472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173" y="14465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12848" y="196596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Alexis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212848" y="228600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Generación paramétrica y OpenSees</a:t>
            </a:r>
            <a:endParaRPr lang="en-US" sz="1100" dirty="0"/>
          </a:p>
        </p:txBody>
      </p:sp>
      <p:sp>
        <p:nvSpPr>
          <p:cNvPr id="13" name="integrante"/>
          <p:cNvSpPr/>
          <p:nvPr/>
        </p:nvSpPr>
        <p:spPr>
          <a:xfrm>
            <a:off x="3822192" y="1188720"/>
            <a:ext cx="1536192" cy="1737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"/>
          <p:cNvSpPr/>
          <p:nvPr/>
        </p:nvSpPr>
        <p:spPr>
          <a:xfrm>
            <a:off x="4315968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669" y="144658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95344" y="196596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Nicolás Infante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895344" y="228600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Módulo NSR-10 y SAP2000</a:t>
            </a:r>
            <a:endParaRPr lang="en-US" sz="1100" dirty="0"/>
          </a:p>
        </p:txBody>
      </p:sp>
      <p:sp>
        <p:nvSpPr>
          <p:cNvPr id="18" name="integrante"/>
          <p:cNvSpPr/>
          <p:nvPr/>
        </p:nvSpPr>
        <p:spPr>
          <a:xfrm>
            <a:off x="5504688" y="1188720"/>
            <a:ext cx="1536192" cy="1737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5998464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165" y="144658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196596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Jean Piere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577840" y="228600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Datos, modelos E.030 y bot n8n</a:t>
            </a:r>
            <a:endParaRPr lang="en-US" sz="1100" dirty="0"/>
          </a:p>
        </p:txBody>
      </p:sp>
      <p:sp>
        <p:nvSpPr>
          <p:cNvPr id="23" name="integrante"/>
          <p:cNvSpPr/>
          <p:nvPr/>
        </p:nvSpPr>
        <p:spPr>
          <a:xfrm>
            <a:off x="7187184" y="1188720"/>
            <a:ext cx="1536192" cy="1737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"/>
          <p:cNvSpPr/>
          <p:nvPr/>
        </p:nvSpPr>
        <p:spPr>
          <a:xfrm>
            <a:off x="7680960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1661" y="1446581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0336" y="196596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Joseph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60336" y="2286000"/>
            <a:ext cx="13898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Validación y coordinación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Herramientas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Python · OpenSeesPy · SAP2000 · scikit-learn · n8n · Telegram · asistentes de IA generativa para programación · Obsidian · GitHub · Discord · Miro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Profesor de apoyo: Thomas Federico Rojas Vallejo (Universidad Nacional de Colombia), algoritmo de diseño NSR-10 en OpenSees.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xo Sismico">
      <a:dk1>
        <a:srgbClr val="1E2A33"/>
      </a:dk1>
      <a:lt1>
        <a:srgbClr val="FFFFFF"/>
      </a:lt1>
      <a:dk2>
        <a:srgbClr val="3A4A57"/>
      </a:dk2>
      <a:lt2>
        <a:srgbClr val="EDF0F3"/>
      </a:lt2>
      <a:accent1>
        <a:srgbClr val="E4572E"/>
      </a:accent1>
      <a:accent2>
        <a:srgbClr val="5B7083"/>
      </a:accent2>
      <a:accent3>
        <a:srgbClr val="2E8B57"/>
      </a:accent3>
      <a:accent4>
        <a:srgbClr val="C0392B"/>
      </a:accent4>
      <a:accent5>
        <a:srgbClr val="F2A541"/>
      </a:accent5>
      <a:accent6>
        <a:srgbClr val="8FA3B5"/>
      </a:accent6>
      <a:hlink>
        <a:srgbClr val="E4572E"/>
      </a:hlink>
      <a:folHlink>
        <a:srgbClr val="5B7083"/>
      </a:folHlink>
    </a:clrScheme>
    <a:fontScheme name="Nexo Sismic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Nexo Sísmico — Estimación preliminar de derivas</dc:title>
  <dc:subject>PptxGenJS Presentation</dc:subject>
  <dc:creator>Equipo Nexo Sísmico</dc:creator>
  <cp:lastModifiedBy>Equipo Nexo Sísmico</cp:lastModifiedBy>
  <cp:revision>1</cp:revision>
  <dcterms:created xsi:type="dcterms:W3CDTF">2026-10-24T18:09:21Z</dcterms:created>
  <dcterms:modified xsi:type="dcterms:W3CDTF">2026-10-24T18:09:21Z</dcterms:modified>
</cp:coreProperties>
</file>